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embeddedFontLst>
    <p:embeddedFont>
      <p:font typeface="Jost" panose="020B0604020202020204" charset="0"/>
      <p:regular r:id="rId31"/>
      <p:bold r:id="rId32"/>
      <p:italic r:id="rId33"/>
      <p:boldItalic r:id="rId34"/>
    </p:embeddedFont>
    <p:embeddedFont>
      <p:font typeface="Mulish" panose="020B0604020202020204" charset="0"/>
      <p:regular r:id="rId35"/>
      <p:bold r:id="rId36"/>
      <p:italic r:id="rId37"/>
      <p:boldItalic r:id="rId38"/>
    </p:embeddedFont>
    <p:embeddedFont>
      <p:font typeface="Nunito Black" pitchFamily="2" charset="0"/>
      <p:bold r:id="rId39"/>
      <p:boldItalic r:id="rId40"/>
    </p:embeddedFont>
    <p:embeddedFont>
      <p:font typeface="Poppins" panose="00000500000000000000" pitchFamily="2" charset="0"/>
      <p:regular r:id="rId41"/>
      <p:bold r:id="rId42"/>
      <p:italic r:id="rId43"/>
      <p:boldItalic r:id="rId44"/>
    </p:embeddedFont>
    <p:embeddedFont>
      <p:font typeface="Poppins Medium" panose="00000600000000000000" pitchFamily="2" charset="0"/>
      <p:regular r:id="rId45"/>
      <p:bold r:id="rId46"/>
      <p:italic r:id="rId47"/>
      <p:boldItalic r:id="rId48"/>
    </p:embeddedFont>
    <p:embeddedFont>
      <p:font typeface="Poppins SemiBold" panose="000007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gnnQVoJ8W81m4rf/IKOCzYxSi3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A05231B-F42B-4B98-854E-FDD2FC99DAC3}">
  <a:tblStyle styleId="{EA05231B-F42B-4B98-854E-FDD2FC99DAC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2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11.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 Id="rId6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6ca9143f6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6ca9143f6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6ca9143f6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6ca9143f62_0_7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6ca9143f62_0_7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6ca9143f62_0_7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6ca9143f62_0_7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6ca9143f62_0_7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6ca9143f62_0_7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6ca9143f62_0_80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6ca9143f62_0_8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6ca9143f62_0_8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6ca9143f62_0_8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6ca9143f62_0_8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6ca9143f62_0_8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ca9143f62_0_8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ca9143f62_0_8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ca9143f62_0_8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6ca9143f62_0_8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6ca9143f62_0_8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6ca9143f62_0_8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ca9143f62_0_8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ca9143f62_0_8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ca9143f62_0_8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6ca9143f62_0_8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6ca9143f62_0_8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6ca9143f62_0_8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853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Consonant Digraph 'th' (voiced)</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418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6 -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26</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3 - Phonics</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8.xml"/><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5.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Consonant Digraph 'th' (voiced)</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26</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{EA05231B-F42B-4B98-854E-FDD2FC99DAC3}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th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t="99" b="109"/>
          <a:stretch/>
        </p:blipFill>
        <p:spPr>
          <a:xfrm rot="149782">
            <a:off x="3939991" y="4513811"/>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consonant digraph </a:t>
            </a:r>
            <a:r>
              <a:rPr lang="en-US">
                <a:solidFill>
                  <a:srgbClr val="8DC63F"/>
                </a:solidFill>
              </a:rPr>
              <a:t>th</a:t>
            </a:r>
            <a:r>
              <a:rPr lang="en-US"/>
              <a:t> (voiced).</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1000"/>
              </a:spcAft>
              <a:buSzPts val="1600"/>
              <a:buChar char="•"/>
            </a:pPr>
            <a:r>
              <a:rPr lang="en-US"/>
              <a:t>Review Alphabet Song.</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99"/>
          <a:stretch/>
        </p:blipFill>
        <p:spPr>
          <a:xfrm>
            <a:off x="6083646" y="4363493"/>
            <a:ext cx="786850" cy="590421"/>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5" name="Google Shape;715;g2bee4f4af4b_0_204">
            <a:hlinkClick r:id="rId8" action="ppaction://hlinksldjump"/>
          </p:cNvPr>
          <p:cNvSpPr/>
          <p:nvPr/>
        </p:nvSpPr>
        <p:spPr>
          <a:xfrm>
            <a:off x="2423225"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3524246" y="37598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4859461" y="382706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5978921" y="375189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946800"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1294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6" name="Google Shape;756;g26b7edf6e71_0_26"/>
          <p:cNvPicPr preferRelativeResize="0"/>
          <p:nvPr/>
        </p:nvPicPr>
        <p:blipFill rotWithShape="1">
          <a:blip r:embed="rId3">
            <a:alphaModFix/>
          </a:blip>
          <a:srcRect l="79" r="79"/>
          <a:stretch/>
        </p:blipFill>
        <p:spPr>
          <a:xfrm>
            <a:off x="1438862" y="2129450"/>
            <a:ext cx="1141732" cy="1616070"/>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4">
            <a:alphaModFix/>
          </a:blip>
          <a:srcRect l="79" r="79"/>
          <a:stretch/>
        </p:blipFill>
        <p:spPr>
          <a:xfrm>
            <a:off x="5282269" y="2129450"/>
            <a:ext cx="1141734" cy="1616070"/>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5">
            <a:alphaModFix/>
          </a:blip>
          <a:srcRect l="79" r="79"/>
          <a:stretch/>
        </p:blipFill>
        <p:spPr>
          <a:xfrm>
            <a:off x="2719997" y="2129450"/>
            <a:ext cx="1141734" cy="1616070"/>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6">
            <a:alphaModFix/>
          </a:blip>
          <a:srcRect l="19" r="29"/>
          <a:stretch/>
        </p:blipFill>
        <p:spPr>
          <a:xfrm>
            <a:off x="4001134" y="2129450"/>
            <a:ext cx="1141734" cy="1616072"/>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7">
            <a:alphaModFix/>
          </a:blip>
          <a:srcRect l="19" r="29"/>
          <a:stretch/>
        </p:blipFill>
        <p:spPr>
          <a:xfrm>
            <a:off x="6563404" y="2129450"/>
            <a:ext cx="1141734" cy="1616072"/>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8">
            <a:alphaModFix/>
          </a:blip>
          <a:srcRect l="79" r="79"/>
          <a:stretch/>
        </p:blipFill>
        <p:spPr>
          <a:xfrm>
            <a:off x="4001132" y="3897178"/>
            <a:ext cx="1141732" cy="1616070"/>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9">
            <a:alphaModFix/>
          </a:blip>
          <a:srcRect l="79" r="79"/>
          <a:stretch/>
        </p:blipFill>
        <p:spPr>
          <a:xfrm>
            <a:off x="1438862" y="3897178"/>
            <a:ext cx="1141732" cy="1616070"/>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10">
            <a:alphaModFix/>
          </a:blip>
          <a:srcRect l="79" r="79"/>
          <a:stretch/>
        </p:blipFill>
        <p:spPr>
          <a:xfrm>
            <a:off x="2719997" y="3897178"/>
            <a:ext cx="1141732" cy="1616070"/>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1">
            <a:alphaModFix/>
          </a:blip>
          <a:srcRect l="19" r="29"/>
          <a:stretch/>
        </p:blipFill>
        <p:spPr>
          <a:xfrm>
            <a:off x="5282262" y="3897178"/>
            <a:ext cx="1141732" cy="1616072"/>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12">
            <a:alphaModFix/>
          </a:blip>
          <a:srcRect l="79" r="79"/>
          <a:stretch/>
        </p:blipFill>
        <p:spPr>
          <a:xfrm>
            <a:off x="6563385" y="3897178"/>
            <a:ext cx="1141732" cy="1616070"/>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6ca9143f62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72" name="Google Shape;772;g26ca9143f62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3" name="Google Shape;773;g26ca9143f62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0" name="Google Shape;78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1" name="Google Shape;781;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2" name="Google Shape;78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9" name="Google Shape;78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0" name="Google Shape;790;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1" name="Google Shape;79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8" name="Google Shape;79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9" name="Google Shape;799;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0" name="Google Shape;80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7" name="Google Shape;80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08" name="Google Shape;808;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9" name="Google Shape;80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6" name="Google Shape;81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7" name="Google Shape;81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4" name="Google Shape;824;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5" name="Google Shape;825;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0" name="Google Shape;830;g2c4fd7a3c22_2_0"/>
          <p:cNvGrpSpPr/>
          <p:nvPr/>
        </p:nvGrpSpPr>
        <p:grpSpPr>
          <a:xfrm>
            <a:off x="304250" y="6984600"/>
            <a:ext cx="8330829" cy="808600"/>
            <a:chOff x="-152950" y="7365600"/>
            <a:chExt cx="8330829" cy="808600"/>
          </a:xfrm>
        </p:grpSpPr>
        <p:sp>
          <p:nvSpPr>
            <p:cNvPr id="831" name="Google Shape;831;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2" name="Google Shape;832;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3" name="Google Shape;833;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4" name="Google Shape;834;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5" name="Google Shape;835;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9" name="Google Shape;839;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c4fd7a3c22_2_0"/>
          <p:cNvSpPr/>
          <p:nvPr/>
        </p:nvSpPr>
        <p:spPr>
          <a:xfrm>
            <a:off x="4680025"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2" name="Google Shape;842;g2c4fd7a3c22_2_0"/>
          <p:cNvSpPr/>
          <p:nvPr/>
        </p:nvSpPr>
        <p:spPr>
          <a:xfrm>
            <a:off x="546482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3" name="Google Shape;843;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4" name="Google Shape;844;g2c4fd7a3c22_2_0"/>
          <p:cNvSpPr txBox="1">
            <a:spLocks noGrp="1"/>
          </p:cNvSpPr>
          <p:nvPr>
            <p:ph type="subTitle" idx="4294967295"/>
          </p:nvPr>
        </p:nvSpPr>
        <p:spPr>
          <a:xfrm>
            <a:off x="4895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45" name="Google Shape;845;g2c4fd7a3c22_2_0"/>
          <p:cNvSpPr txBox="1">
            <a:spLocks noGrp="1"/>
          </p:cNvSpPr>
          <p:nvPr>
            <p:ph type="subTitle" idx="4294967295"/>
          </p:nvPr>
        </p:nvSpPr>
        <p:spPr>
          <a:xfrm>
            <a:off x="2719425" y="1308025"/>
            <a:ext cx="197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846" name="Google Shape;846;g2c4fd7a3c22_2_0"/>
          <p:cNvSpPr txBox="1">
            <a:spLocks noGrp="1"/>
          </p:cNvSpPr>
          <p:nvPr>
            <p:ph type="subTitle" idx="4294967295"/>
          </p:nvPr>
        </p:nvSpPr>
        <p:spPr>
          <a:xfrm>
            <a:off x="4110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847" name="Google Shape;847;g2c4fd7a3c22_2_0"/>
          <p:cNvSpPr/>
          <p:nvPr/>
        </p:nvSpPr>
        <p:spPr>
          <a:xfrm>
            <a:off x="2998901" y="4056375"/>
            <a:ext cx="1420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6ca9143f62_0_76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4" name="Google Shape;854;g26ca9143f62_0_76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5" name="Google Shape;855;g26ca9143f62_0_76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6ca9143f62_0_76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6ca9143f62_0_76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6ca9143f62_0_76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6ca9143f62_0_76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0" name="Google Shape;860;g26ca9143f62_0_768"/>
          <p:cNvGrpSpPr/>
          <p:nvPr/>
        </p:nvGrpSpPr>
        <p:grpSpPr>
          <a:xfrm>
            <a:off x="304250" y="6984600"/>
            <a:ext cx="8330829" cy="808600"/>
            <a:chOff x="-152950" y="7365600"/>
            <a:chExt cx="8330829" cy="808600"/>
          </a:xfrm>
        </p:grpSpPr>
        <p:sp>
          <p:nvSpPr>
            <p:cNvPr id="861" name="Google Shape;861;g26ca9143f62_0_76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2" name="Google Shape;862;g26ca9143f62_0_76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3" name="Google Shape;863;g26ca9143f62_0_76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4" name="Google Shape;864;g26ca9143f62_0_76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5" name="Google Shape;865;g26ca9143f62_0_76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6" name="Google Shape;866;g26ca9143f62_0_76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7" name="Google Shape;867;g26ca9143f62_0_76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8" name="Google Shape;868;g26ca9143f62_0_76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9" name="Google Shape;869;g26ca9143f62_0_76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6ca9143f62_0_76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6ca9143f62_0_768"/>
          <p:cNvSpPr/>
          <p:nvPr/>
        </p:nvSpPr>
        <p:spPr>
          <a:xfrm>
            <a:off x="4565725"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6ca9143f62_0_768"/>
          <p:cNvSpPr/>
          <p:nvPr/>
        </p:nvSpPr>
        <p:spPr>
          <a:xfrm>
            <a:off x="573152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3" name="Google Shape;873;g26ca9143f62_0_76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4" name="Google Shape;874;g26ca9143f62_0_768"/>
          <p:cNvSpPr txBox="1">
            <a:spLocks noGrp="1"/>
          </p:cNvSpPr>
          <p:nvPr>
            <p:ph type="subTitle" idx="4294967295"/>
          </p:nvPr>
        </p:nvSpPr>
        <p:spPr>
          <a:xfrm>
            <a:off x="5161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75" name="Google Shape;875;g26ca9143f62_0_768"/>
          <p:cNvSpPr txBox="1">
            <a:spLocks noGrp="1"/>
          </p:cNvSpPr>
          <p:nvPr>
            <p:ph type="subTitle" idx="4294967295"/>
          </p:nvPr>
        </p:nvSpPr>
        <p:spPr>
          <a:xfrm>
            <a:off x="2452725" y="1308025"/>
            <a:ext cx="197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876" name="Google Shape;876;g26ca9143f62_0_768"/>
          <p:cNvSpPr/>
          <p:nvPr/>
        </p:nvSpPr>
        <p:spPr>
          <a:xfrm>
            <a:off x="2732201" y="4056375"/>
            <a:ext cx="1420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7" name="Google Shape;877;g26ca9143f62_0_768"/>
          <p:cNvSpPr txBox="1"/>
          <p:nvPr/>
        </p:nvSpPr>
        <p:spPr>
          <a:xfrm>
            <a:off x="387302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4" name="Google Shape;88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5" name="Google Shape;88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2" name="Google Shape;89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3" name="Google Shape;893;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4" name="Google Shape;89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1" name="Google Shape;90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2" name="Google Shape;902;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3" name="Google Shape;90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0" name="Google Shape;9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1" name="Google Shape;91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2" name="Google Shape;9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9" name="Google Shape;91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0" name="Google Shape;92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1" name="Google Shape;92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28" name="Google Shape;928;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29" name="Google Shape;929;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30" name="Google Shape;93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7" name="Google Shape;937;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8" name="Google Shape;938;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39" name="Google Shape;93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6ca9143f62_0_79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6" name="Google Shape;946;g26ca9143f62_0_79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7" name="Google Shape;947;g26ca9143f62_0_799"/>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8" name="Google Shape;948;g26ca9143f62_0_79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6ca9143f62_0_80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5" name="Google Shape;955;g26ca9143f62_0_80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56" name="Google Shape;956;g26ca9143f62_0_807"/>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57" name="Google Shape;957;g26ca9143f62_0_80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6ca9143f62_0_8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4" name="Google Shape;964;g26ca9143f62_0_8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5" name="Google Shape;965;g26ca9143f62_0_8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6" name="Google Shape;966;g26ca9143f62_0_8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ca9143f62_0_8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3" name="Google Shape;973;g26ca9143f62_0_82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74" name="Google Shape;974;g26ca9143f62_0_823"/>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5" name="Google Shape;975;g26ca9143f62_0_82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6ca9143f62_0_8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2" name="Google Shape;982;g26ca9143f62_0_8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83" name="Google Shape;983;g26ca9143f62_0_831"/>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84" name="Google Shape;984;g26ca9143f62_0_83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ca9143f62_0_83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91" name="Google Shape;991;g26ca9143f62_0_8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92" name="Google Shape;992;g26ca9143f62_0_839"/>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93" name="Google Shape;993;g26ca9143f62_0_83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0" name="Google Shape;100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1" name="Google Shape;1001;g1f3daf8a844_0_64"/>
          <p:cNvGrpSpPr/>
          <p:nvPr/>
        </p:nvGrpSpPr>
        <p:grpSpPr>
          <a:xfrm>
            <a:off x="3024000" y="209875"/>
            <a:ext cx="3096000" cy="454800"/>
            <a:chOff x="3024000" y="209875"/>
            <a:chExt cx="3096000" cy="454800"/>
          </a:xfrm>
        </p:grpSpPr>
        <p:sp>
          <p:nvSpPr>
            <p:cNvPr id="1002" name="Google Shape;100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4" name="Google Shape;100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5" name="Google Shape;100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6" name="Google Shape;100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7" name="Google Shape;100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8" name="Google Shape;100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9" name="Google Shape;100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10" name="Google Shape;101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11" name="Google Shape;1011;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2" name="Google Shape;1012;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13" name="Google Shape;1013;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14" name="Google Shape;1014;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15" name="Google Shape;1015;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016" name="Google Shape;1016;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1017" name="Google Shape;101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6ca9143f62_0_8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4" name="Google Shape;1024;g26ca9143f62_0_8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5" name="Google Shape;1025;g26ca9143f62_0_848"/>
          <p:cNvGrpSpPr/>
          <p:nvPr/>
        </p:nvGrpSpPr>
        <p:grpSpPr>
          <a:xfrm>
            <a:off x="3024000" y="209875"/>
            <a:ext cx="3096000" cy="454800"/>
            <a:chOff x="3024000" y="209875"/>
            <a:chExt cx="3096000" cy="454800"/>
          </a:xfrm>
        </p:grpSpPr>
        <p:sp>
          <p:nvSpPr>
            <p:cNvPr id="1026" name="Google Shape;1026;g26ca9143f62_0_84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6ca9143f62_0_84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8" name="Google Shape;1028;g26ca9143f62_0_848"/>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9" name="Google Shape;1029;g26ca9143f62_0_848"/>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0" name="Google Shape;1030;g26ca9143f62_0_84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1" name="Google Shape;1031;g26ca9143f62_0_84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2" name="Google Shape;1032;g26ca9143f62_0_84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3" name="Google Shape;1033;g26ca9143f62_0_84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4" name="Google Shape;1034;g26ca9143f62_0_848"/>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this them then</a:t>
            </a:r>
            <a:endParaRPr sz="1800" b="0" i="0" u="none" strike="noStrike" cap="none">
              <a:solidFill>
                <a:srgbClr val="B7B7B7"/>
              </a:solidFill>
              <a:latin typeface="Jost"/>
              <a:ea typeface="Jost"/>
              <a:cs typeface="Jost"/>
              <a:sym typeface="Jost"/>
            </a:endParaRPr>
          </a:p>
        </p:txBody>
      </p:sp>
      <p:sp>
        <p:nvSpPr>
          <p:cNvPr id="1035" name="Google Shape;1035;g26ca9143f62_0_848"/>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6" name="Google Shape;1036;g26ca9143f62_0_84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7" name="Google Shape;1037;g26ca9143f62_0_848"/>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8" name="Google Shape;1038;g26ca9143f62_0_848"/>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039" name="Google Shape;1039;g26ca9143f62_0_848"/>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40" name="Google Shape;1040;g26ca9143f62_0_848"/>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41" name="Google Shape;1041;g26ca9143f62_0_848"/>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42" name="Google Shape;1042;g26ca9143f62_0_848"/>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043" name="Google Shape;1043;g26ca9143f62_0_848"/>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‘The Wheels on the Bus'.</a:t>
            </a:r>
            <a:endParaRPr/>
          </a:p>
          <a:p>
            <a:pPr marL="457200" lvl="0" indent="-330200" algn="l" rtl="0">
              <a:lnSpc>
                <a:spcPct val="115000"/>
              </a:lnSpc>
              <a:spcBef>
                <a:spcPts val="1000"/>
              </a:spcBef>
              <a:spcAft>
                <a:spcPts val="0"/>
              </a:spcAft>
              <a:buSzPts val="1600"/>
              <a:buChar char="•"/>
            </a:pPr>
            <a:r>
              <a:rPr lang="en-US"/>
              <a:t>Sort objects/pictures that start with ‘</a:t>
            </a:r>
            <a:r>
              <a:rPr lang="en-US">
                <a:solidFill>
                  <a:srgbClr val="8DC63F"/>
                </a:solidFill>
              </a:rPr>
              <a:t>th</a:t>
            </a:r>
            <a:r>
              <a:rPr lang="en-US"/>
              <a:t>’ voiced and unvoiced, and distinguish between the two different sounds they make.</a:t>
            </a:r>
            <a:endParaRPr/>
          </a:p>
          <a:p>
            <a:pPr marL="457200" lvl="0" indent="-330200" algn="l" rtl="0">
              <a:lnSpc>
                <a:spcPct val="115000"/>
              </a:lnSpc>
              <a:spcBef>
                <a:spcPts val="1000"/>
              </a:spcBef>
              <a:spcAft>
                <a:spcPts val="1000"/>
              </a:spcAft>
              <a:buSzPts val="1600"/>
              <a:buChar char="•"/>
            </a:pPr>
            <a:r>
              <a:rPr lang="en-US"/>
              <a:t>Explain ‘</a:t>
            </a:r>
            <a:r>
              <a:rPr lang="en-US">
                <a:solidFill>
                  <a:srgbClr val="8DC63F"/>
                </a:solidFill>
              </a:rPr>
              <a:t>th</a:t>
            </a:r>
            <a:r>
              <a:rPr lang="en-US"/>
              <a:t>’ unvoiced will be covered in the next lesson.</a:t>
            </a:r>
            <a:endParaRPr/>
          </a:p>
        </p:txBody>
      </p:sp>
      <p:pic>
        <p:nvPicPr>
          <p:cNvPr id="1050" name="Google Shape;1050;g2c186218c5a_0_118"/>
          <p:cNvPicPr preferRelativeResize="0">
            <a:picLocks noGrp="1"/>
          </p:cNvPicPr>
          <p:nvPr>
            <p:ph type="pic" idx="2"/>
          </p:nvPr>
        </p:nvPicPr>
        <p:blipFill rotWithShape="1">
          <a:blip r:embed="rId3">
            <a:alphaModFix/>
          </a:blip>
          <a:srcRect t="3617" b="3616"/>
          <a:stretch/>
        </p:blipFill>
        <p:spPr>
          <a:xfrm rot="-193703">
            <a:off x="960251" y="1993161"/>
            <a:ext cx="2945875" cy="1949794"/>
          </a:xfrm>
          <a:prstGeom prst="roundRect">
            <a:avLst>
              <a:gd name="adj" fmla="val 8103"/>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455</Words>
  <Application>Microsoft Office PowerPoint</Application>
  <PresentationFormat>On-screen Show (4:3)</PresentationFormat>
  <Paragraphs>178</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Jost</vt:lpstr>
      <vt:lpstr>Nunito Black</vt:lpstr>
      <vt:lpstr>Mulish</vt:lpstr>
      <vt:lpstr>Calibri</vt:lpstr>
      <vt:lpstr>Poppins SemiBold</vt:lpstr>
      <vt:lpstr>Poppins</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High Frequency Words</vt:lpstr>
      <vt:lpstr>Practise High Frequency Words</vt:lpstr>
      <vt:lpstr>Practise High Frequency Words</vt:lpstr>
      <vt:lpstr>Practise High Frequency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2026-04-28T05:54:01Z</dcterms:modified>
</cp:coreProperties>
</file>