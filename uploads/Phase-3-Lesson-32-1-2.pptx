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6858000" type="screen4x3"/>
  <p:notesSz cx="6858000" cy="9144000"/>
  <p:embeddedFontLst>
    <p:embeddedFont>
      <p:font typeface="Jost" panose="020B0604020202020204" charset="0"/>
      <p:regular r:id="rId35"/>
      <p:bold r:id="rId36"/>
      <p:italic r:id="rId37"/>
      <p:boldItalic r:id="rId38"/>
    </p:embeddedFont>
    <p:embeddedFont>
      <p:font typeface="Mulish" panose="020B0604020202020204" charset="0"/>
      <p:regular r:id="rId39"/>
      <p:bold r:id="rId40"/>
      <p:italic r:id="rId41"/>
      <p:boldItalic r:id="rId42"/>
    </p:embeddedFont>
    <p:embeddedFont>
      <p:font typeface="Nunito Black" pitchFamily="2" charset="0"/>
      <p:bold r:id="rId43"/>
      <p:boldItalic r:id="rId44"/>
    </p:embeddedFont>
    <p:embeddedFont>
      <p:font typeface="Poppins" panose="00000500000000000000" pitchFamily="2" charset="0"/>
      <p:regular r:id="rId45"/>
      <p:bold r:id="rId46"/>
      <p:italic r:id="rId47"/>
      <p:boldItalic r:id="rId48"/>
    </p:embeddedFont>
    <p:embeddedFont>
      <p:font typeface="Poppins Medium" panose="00000600000000000000" pitchFamily="2" charset="0"/>
      <p:regular r:id="rId49"/>
      <p:bold r:id="rId50"/>
      <p:italic r:id="rId51"/>
      <p:boldItalic r:id="rId52"/>
    </p:embeddedFont>
    <p:embeddedFont>
      <p:font typeface="Poppins SemiBold" panose="00000700000000000000"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gDpXwZlrMl1w+Z4sKAQEPxvtxGD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358304A-CB77-48C2-A998-B826F3C8EA1B}">
  <a:tblStyle styleId="{4358304A-CB77-48C2-A998-B826F3C8EA1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font" Target="fonts/font21.fntdata"/><Relationship Id="rId63"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font" Target="fonts/font19.fntdata"/><Relationship Id="rId66"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font" Target="fonts/font22.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font" Target="fonts/font18.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7" name="Google Shape;72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8" name="Google Shape;72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2c2428a9f98_0_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g2c2428a9f98_0_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8" name="Google Shape;758;g2c2428a9f98_0_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c2428a9f98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c2428a9f98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c2428a9f98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c4fad227a1_0_7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c4fad227a1_0_7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c4fad227a1_0_7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4fad227a1_0_14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4fad227a1_0_14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4fad227a1_0_14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3" name="Google Shape;90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c2428aa494_0_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c2428aa494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c2428aa494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c2428aa494_0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c2428aa494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c2428aa494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2c2428aa494_0_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2c2428aa494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3" name="Google Shape;983;g2c2428aa494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c2428aa494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c2428aa494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c2428aa494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c2428aa494_0_5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c2428aa494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c2428aa494_0_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c2428aa494_0_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c2428aa494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c2428aa494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c2428aa494_0_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c2428aa494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c2428aa494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c2428aa494_0_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c2428aa494_0_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c2428aa494_0_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c60bb479c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c60bb479c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3" name="Google Shape;1083;g2c60bb479c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2" name="Google Shape;1112;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3" name="Google Shape;1113;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45"/>
            <a:ext cx="46944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3"/>
            <a:ext cx="46944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'ee'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7 - Tuesday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32</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slide" Target="slide18.xml"/><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5.xml"/><Relationship Id="rId5" Type="http://schemas.openxmlformats.org/officeDocument/2006/relationships/image" Target="../media/image5.png"/><Relationship Id="rId10" Type="http://schemas.openxmlformats.org/officeDocument/2006/relationships/slide" Target="slide8.xml"/><Relationship Id="rId4" Type="http://schemas.openxmlformats.org/officeDocument/2006/relationships/image" Target="../media/image9.png"/><Relationship Id="rId9" Type="http://schemas.openxmlformats.org/officeDocument/2006/relationships/slide" Target="slide6.xml"/><Relationship Id="rId14" Type="http://schemas.openxmlformats.org/officeDocument/2006/relationships/slide" Target="slide28.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notesSlide" Target="../notesSlides/notesSlide4.xml"/><Relationship Id="rId16"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5.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7.png"/><Relationship Id="rId2" Type="http://schemas.openxmlformats.org/officeDocument/2006/relationships/notesSlide" Target="../notesSlides/notesSlide5.xml"/><Relationship Id="rId16"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Vowel Digraph 'ee'</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32</a:t>
            </a:r>
            <a:endParaRPr/>
          </a:p>
        </p:txBody>
      </p:sp>
      <p:sp>
        <p:nvSpPr>
          <p:cNvPr id="686" name="Google Shape;686;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7" name="Google Shape;687;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0784"/>
              </a:srgbClr>
            </a:outerShdw>
          </a:effectLst>
        </p:spPr>
      </p:pic>
      <p:pic>
        <p:nvPicPr>
          <p:cNvPr id="688" name="Google Shape;688;p1"/>
          <p:cNvPicPr preferRelativeResize="0"/>
          <p:nvPr/>
        </p:nvPicPr>
        <p:blipFill rotWithShape="1">
          <a:blip r:embed="rId4">
            <a:alphaModFix/>
          </a:blip>
          <a:srcRect l="139" r="14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89" name="Google Shape;689;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91" name="Google Shape;691;p1"/>
          <p:cNvGraphicFramePr/>
          <p:nvPr/>
        </p:nvGraphicFramePr>
        <p:xfrm>
          <a:off x="4844200" y="1891197"/>
          <a:ext cx="3784950" cy="1678950"/>
        </p:xfrm>
        <a:graphic>
          <a:graphicData uri="http://schemas.openxmlformats.org/drawingml/2006/table">
            <a:tbl>
              <a:tblPr firstRow="1" bandRow="1">
                <a:noFill/>
                <a:tableStyleId>{4358304A-CB77-48C2-A998-B826F3C8EA1B}</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ee</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692" name="Google Shape;692;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45"/>
            <a:ext cx="46944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vowel digraph </a:t>
            </a:r>
            <a:r>
              <a:rPr lang="en-US">
                <a:solidFill>
                  <a:srgbClr val="8DC63F"/>
                </a:solidFill>
              </a:rPr>
              <a:t>ee</a:t>
            </a:r>
            <a:r>
              <a:rPr lang="en-US"/>
              <a:t>.</a:t>
            </a:r>
            <a:endParaRPr/>
          </a:p>
        </p:txBody>
      </p:sp>
      <p:sp>
        <p:nvSpPr>
          <p:cNvPr id="699" name="Google Shape;699;g2bee4f4af4b_0_204"/>
          <p:cNvSpPr txBox="1">
            <a:spLocks noGrp="1"/>
          </p:cNvSpPr>
          <p:nvPr>
            <p:ph type="body" idx="2"/>
          </p:nvPr>
        </p:nvSpPr>
        <p:spPr>
          <a:xfrm>
            <a:off x="3298550" y="1787475"/>
            <a:ext cx="4836900" cy="1517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a:t>
            </a:r>
            <a:br>
              <a:rPr lang="en-US">
                <a:solidFill>
                  <a:srgbClr val="2356AF"/>
                </a:solidFill>
              </a:rPr>
            </a:br>
            <a:r>
              <a:rPr lang="en-US">
                <a:solidFill>
                  <a:srgbClr val="2356AF"/>
                </a:solidFill>
              </a:rPr>
              <a:t>pull full.</a:t>
            </a:r>
            <a:endParaRPr/>
          </a:p>
        </p:txBody>
      </p:sp>
      <p:sp>
        <p:nvSpPr>
          <p:cNvPr id="700" name="Google Shape;700;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7">
            <a:alphaModFix/>
          </a:blip>
          <a:srcRect t="89" b="9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16" name="Google Shape;716;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7" name="Google Shape;717;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8" name="Google Shape;718;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9" name="Google Shape;719;g2bee4f4af4b_0_204">
            <a:hlinkClick r:id="rId9" action="ppaction://hlinksldjump"/>
          </p:cNvPr>
          <p:cNvSpPr/>
          <p:nvPr/>
        </p:nvSpPr>
        <p:spPr>
          <a:xfrm>
            <a:off x="966639" y="391392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0" action="ppaction://hlinksldjump"/>
          </p:cNvPr>
          <p:cNvSpPr/>
          <p:nvPr/>
        </p:nvSpPr>
        <p:spPr>
          <a:xfrm>
            <a:off x="2458688"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g2bee4f4af4b_0_204">
            <a:hlinkClick r:id="rId11" action="ppaction://hlinksldjump"/>
          </p:cNvPr>
          <p:cNvSpPr/>
          <p:nvPr/>
        </p:nvSpPr>
        <p:spPr>
          <a:xfrm>
            <a:off x="3570799" y="379089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g2bee4f4af4b_0_204">
            <a:hlinkClick r:id="rId12" action="ppaction://hlinksldjump"/>
          </p:cNvPr>
          <p:cNvSpPr/>
          <p:nvPr/>
        </p:nvSpPr>
        <p:spPr>
          <a:xfrm>
            <a:off x="4859445" y="37545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3" name="Google Shape;723;g2bee4f4af4b_0_204">
            <a:hlinkClick r:id="rId13" action="ppaction://hlinksldjump"/>
          </p:cNvPr>
          <p:cNvSpPr/>
          <p:nvPr/>
        </p:nvSpPr>
        <p:spPr>
          <a:xfrm>
            <a:off x="5944696"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4" name="Google Shape;724;g2bee4f4af4b_0_204">
            <a:hlinkClick r:id="rId14" action="ppaction://hlinksldjump"/>
          </p:cNvPr>
          <p:cNvSpPr/>
          <p:nvPr/>
        </p:nvSpPr>
        <p:spPr>
          <a:xfrm>
            <a:off x="7350521"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1" name="Google Shape;731;g26b641b03cd_0_165"/>
          <p:cNvGrpSpPr/>
          <p:nvPr/>
        </p:nvGrpSpPr>
        <p:grpSpPr>
          <a:xfrm>
            <a:off x="930400" y="2129444"/>
            <a:ext cx="7283200" cy="3724851"/>
            <a:chOff x="930400" y="2129444"/>
            <a:chExt cx="7283200" cy="3724851"/>
          </a:xfrm>
        </p:grpSpPr>
        <p:pic>
          <p:nvPicPr>
            <p:cNvPr id="732" name="Google Shape;73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g2c2428a9f98_0_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pic>
        <p:nvPicPr>
          <p:cNvPr id="761" name="Google Shape;761;g2c2428a9f98_0_76"/>
          <p:cNvPicPr preferRelativeResize="0"/>
          <p:nvPr/>
        </p:nvPicPr>
        <p:blipFill rotWithShape="1">
          <a:blip r:embed="rId3">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6078"/>
              </a:srgbClr>
            </a:outerShdw>
          </a:effectLst>
        </p:spPr>
      </p:pic>
      <p:pic>
        <p:nvPicPr>
          <p:cNvPr id="762" name="Google Shape;762;g2c2428a9f98_0_76"/>
          <p:cNvPicPr preferRelativeResize="0"/>
          <p:nvPr/>
        </p:nvPicPr>
        <p:blipFill rotWithShape="1">
          <a:blip r:embed="rId4">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c2428a9f98_0_76"/>
          <p:cNvPicPr preferRelativeResize="0"/>
          <p:nvPr/>
        </p:nvPicPr>
        <p:blipFill rotWithShape="1">
          <a:blip r:embed="rId5">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428a9f98_0_76"/>
          <p:cNvPicPr preferRelativeResize="0"/>
          <p:nvPr/>
        </p:nvPicPr>
        <p:blipFill rotWithShape="1">
          <a:blip r:embed="rId6">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c2428a9f98_0_76"/>
          <p:cNvPicPr preferRelativeResize="0"/>
          <p:nvPr/>
        </p:nvPicPr>
        <p:blipFill rotWithShape="1">
          <a:blip r:embed="rId7">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6" name="Google Shape;766;g2c2428a9f98_0_76"/>
          <p:cNvPicPr preferRelativeResize="0"/>
          <p:nvPr/>
        </p:nvPicPr>
        <p:blipFill rotWithShape="1">
          <a:blip r:embed="rId8">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7" name="Google Shape;767;g2c2428a9f98_0_76"/>
          <p:cNvPicPr preferRelativeResize="0"/>
          <p:nvPr/>
        </p:nvPicPr>
        <p:blipFill rotWithShape="1">
          <a:blip r:embed="rId9">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c2428a9f98_0_76"/>
          <p:cNvPicPr preferRelativeResize="0"/>
          <p:nvPr/>
        </p:nvPicPr>
        <p:blipFill rotWithShape="1">
          <a:blip r:embed="rId10">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c2428a9f98_0_76"/>
          <p:cNvPicPr preferRelativeResize="0"/>
          <p:nvPr/>
        </p:nvPicPr>
        <p:blipFill rotWithShape="1">
          <a:blip r:embed="rId11">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c2428a9f98_0_76"/>
          <p:cNvPicPr preferRelativeResize="0"/>
          <p:nvPr/>
        </p:nvPicPr>
        <p:blipFill rotWithShape="1">
          <a:blip r:embed="rId12">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428a9f98_0_76"/>
          <p:cNvPicPr preferRelativeResize="0"/>
          <p:nvPr/>
        </p:nvPicPr>
        <p:blipFill rotWithShape="1">
          <a:blip r:embed="rId13">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428a9f98_0_76"/>
          <p:cNvPicPr preferRelativeResize="0"/>
          <p:nvPr/>
        </p:nvPicPr>
        <p:blipFill rotWithShape="1">
          <a:blip r:embed="rId14">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c2428a9f98_0_76"/>
          <p:cNvPicPr preferRelativeResize="0"/>
          <p:nvPr/>
        </p:nvPicPr>
        <p:blipFill rotWithShape="1">
          <a:blip r:embed="rId15">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428a9f98_0_76"/>
          <p:cNvPicPr preferRelativeResize="0"/>
          <p:nvPr/>
        </p:nvPicPr>
        <p:blipFill rotWithShape="1">
          <a:blip r:embed="rId16">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c2428a9f98_0_4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1100"/>
              <a:buNone/>
            </a:pPr>
            <a:r>
              <a:rPr lang="en-US">
                <a:solidFill>
                  <a:schemeClr val="dk1"/>
                </a:solidFill>
              </a:rPr>
              <a:t>Review Phase 2 Common Exception Words </a:t>
            </a:r>
            <a:br>
              <a:rPr lang="en-US">
                <a:solidFill>
                  <a:schemeClr val="dk1"/>
                </a:solidFill>
              </a:rPr>
            </a:br>
            <a:r>
              <a:rPr lang="en-US">
                <a:solidFill>
                  <a:srgbClr val="2356AF"/>
                </a:solidFill>
              </a:rPr>
              <a:t>as I is no go to into the put his has of pull full.</a:t>
            </a:r>
            <a:endParaRPr/>
          </a:p>
        </p:txBody>
      </p:sp>
      <p:grpSp>
        <p:nvGrpSpPr>
          <p:cNvPr id="781" name="Google Shape;781;g2c2428a9f98_0_48"/>
          <p:cNvGrpSpPr/>
          <p:nvPr/>
        </p:nvGrpSpPr>
        <p:grpSpPr>
          <a:xfrm>
            <a:off x="867357" y="2129450"/>
            <a:ext cx="7282807" cy="2686611"/>
            <a:chOff x="867357" y="2129450"/>
            <a:chExt cx="7282807" cy="2686611"/>
          </a:xfrm>
        </p:grpSpPr>
        <p:pic>
          <p:nvPicPr>
            <p:cNvPr id="782" name="Google Shape;782;g2c2428a9f98_0_48"/>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3" name="Google Shape;783;g2c2428a9f98_0_48"/>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4" name="Google Shape;784;g2c2428a9f98_0_48"/>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c2428a9f98_0_48"/>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c2428a9f98_0_48"/>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c2428a9f98_0_48"/>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c2428a9f98_0_48"/>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9" name="Google Shape;789;g2c2428a9f98_0_48"/>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0" name="Google Shape;790;g2c2428a9f98_0_48"/>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1" name="Google Shape;791;g2c2428a9f98_0_48"/>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2" name="Google Shape;792;g2c2428a9f98_0_48"/>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3" name="Google Shape;793;g2c2428a9f98_0_48"/>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4" name="Google Shape;794;g2c2428a9f98_0_48"/>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5" name="Google Shape;795;g2c2428a9f98_0_48"/>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02" name="Google Shape;80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03" name="Google Shape;803;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04" name="Google Shape;80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1" name="Google Shape;81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12" name="Google Shape;812;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13" name="Google Shape;81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0" name="Google Shape;82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21" name="Google Shape;821;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22" name="Google Shape;82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9" name="Google Shape;82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30" name="Google Shape;830;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31" name="Google Shape;831;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38" name="Google Shape;838;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39" name="Google Shape;839;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c4fad227a1_0_7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46" name="Google Shape;846;g2c4fad227a1_0_7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47" name="Google Shape;847;g2c4fad227a1_0_74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8" name="Google Shape;848;g2c4fad227a1_0_74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9" name="Google Shape;849;g2c4fad227a1_0_74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0" name="Google Shape;850;g2c4fad227a1_0_74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4fad227a1_0_74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52" name="Google Shape;852;g2c4fad227a1_0_744"/>
          <p:cNvGrpSpPr/>
          <p:nvPr/>
        </p:nvGrpSpPr>
        <p:grpSpPr>
          <a:xfrm>
            <a:off x="304250" y="6984600"/>
            <a:ext cx="8330829" cy="808600"/>
            <a:chOff x="-152950" y="7365600"/>
            <a:chExt cx="8330829" cy="808600"/>
          </a:xfrm>
        </p:grpSpPr>
        <p:sp>
          <p:nvSpPr>
            <p:cNvPr id="853" name="Google Shape;853;g2c4fad227a1_0_74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54" name="Google Shape;854;g2c4fad227a1_0_74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55" name="Google Shape;855;g2c4fad227a1_0_74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56" name="Google Shape;856;g2c4fad227a1_0_74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57" name="Google Shape;857;g2c4fad227a1_0_74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58" name="Google Shape;858;g2c4fad227a1_0_74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59" name="Google Shape;859;g2c4fad227a1_0_74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0" name="Google Shape;860;g2c4fad227a1_0_74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1" name="Google Shape;861;g2c4fad227a1_0_74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2" name="Google Shape;862;g2c4fad227a1_0_74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4fad227a1_0_744"/>
          <p:cNvSpPr/>
          <p:nvPr/>
        </p:nvSpPr>
        <p:spPr>
          <a:xfrm>
            <a:off x="2848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2c4fad227a1_0_744"/>
          <p:cNvSpPr/>
          <p:nvPr/>
        </p:nvSpPr>
        <p:spPr>
          <a:xfrm>
            <a:off x="5905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65" name="Google Shape;865;g2c4fad227a1_0_74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4fad227a1_0_744"/>
          <p:cNvSpPr txBox="1">
            <a:spLocks noGrp="1"/>
          </p:cNvSpPr>
          <p:nvPr>
            <p:ph type="subTitle" idx="4294967295"/>
          </p:nvPr>
        </p:nvSpPr>
        <p:spPr>
          <a:xfrm>
            <a:off x="5336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867" name="Google Shape;867;g2c4fad227a1_0_744"/>
          <p:cNvSpPr txBox="1">
            <a:spLocks noGrp="1"/>
          </p:cNvSpPr>
          <p:nvPr>
            <p:ph type="subTitle" idx="4294967295"/>
          </p:nvPr>
        </p:nvSpPr>
        <p:spPr>
          <a:xfrm>
            <a:off x="2278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868" name="Google Shape;868;g2c4fad227a1_0_744"/>
          <p:cNvSpPr txBox="1">
            <a:spLocks noGrp="1"/>
          </p:cNvSpPr>
          <p:nvPr>
            <p:ph type="subTitle" idx="4294967295"/>
          </p:nvPr>
        </p:nvSpPr>
        <p:spPr>
          <a:xfrm>
            <a:off x="3433225" y="1308025"/>
            <a:ext cx="216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869" name="Google Shape;869;g2c4fad227a1_0_744"/>
          <p:cNvSpPr/>
          <p:nvPr/>
        </p:nvSpPr>
        <p:spPr>
          <a:xfrm>
            <a:off x="3663633" y="4011888"/>
            <a:ext cx="1708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4fad227a1_0_14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6" name="Google Shape;876;g2c4fad227a1_0_149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7" name="Google Shape;877;g2c4fad227a1_0_149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8" name="Google Shape;878;g2c4fad227a1_0_149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9" name="Google Shape;879;g2c4fad227a1_0_149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0" name="Google Shape;880;g2c4fad227a1_0_149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1" name="Google Shape;881;g2c4fad227a1_0_149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2" name="Google Shape;882;g2c4fad227a1_0_1493"/>
          <p:cNvGrpSpPr/>
          <p:nvPr/>
        </p:nvGrpSpPr>
        <p:grpSpPr>
          <a:xfrm>
            <a:off x="304250" y="6984600"/>
            <a:ext cx="8330829" cy="808600"/>
            <a:chOff x="-152950" y="7365600"/>
            <a:chExt cx="8330829" cy="808600"/>
          </a:xfrm>
        </p:grpSpPr>
        <p:sp>
          <p:nvSpPr>
            <p:cNvPr id="883" name="Google Shape;883;g2c4fad227a1_0_149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4" name="Google Shape;884;g2c4fad227a1_0_149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5" name="Google Shape;885;g2c4fad227a1_0_149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6" name="Google Shape;886;g2c4fad227a1_0_149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7" name="Google Shape;887;g2c4fad227a1_0_149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8" name="Google Shape;888;g2c4fad227a1_0_149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9" name="Google Shape;889;g2c4fad227a1_0_149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0" name="Google Shape;890;g2c4fad227a1_0_149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1" name="Google Shape;891;g2c4fad227a1_0_149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2" name="Google Shape;892;g2c4fad227a1_0_149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3" name="Google Shape;893;g2c4fad227a1_0_1493"/>
          <p:cNvSpPr/>
          <p:nvPr/>
        </p:nvSpPr>
        <p:spPr>
          <a:xfrm>
            <a:off x="2792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2c4fad227a1_0_1493"/>
          <p:cNvSpPr/>
          <p:nvPr/>
        </p:nvSpPr>
        <p:spPr>
          <a:xfrm>
            <a:off x="5961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5" name="Google Shape;895;g2c4fad227a1_0_149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6" name="Google Shape;896;g2c4fad227a1_0_1493"/>
          <p:cNvSpPr txBox="1">
            <a:spLocks noGrp="1"/>
          </p:cNvSpPr>
          <p:nvPr>
            <p:ph type="subTitle" idx="4294967295"/>
          </p:nvPr>
        </p:nvSpPr>
        <p:spPr>
          <a:xfrm>
            <a:off x="5392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97" name="Google Shape;897;g2c4fad227a1_0_1493"/>
          <p:cNvSpPr txBox="1">
            <a:spLocks noGrp="1"/>
          </p:cNvSpPr>
          <p:nvPr>
            <p:ph type="subTitle" idx="4294967295"/>
          </p:nvPr>
        </p:nvSpPr>
        <p:spPr>
          <a:xfrm>
            <a:off x="2222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98" name="Google Shape;898;g2c4fad227a1_0_1493"/>
          <p:cNvSpPr txBox="1">
            <a:spLocks noGrp="1"/>
          </p:cNvSpPr>
          <p:nvPr>
            <p:ph type="subTitle" idx="4294967295"/>
          </p:nvPr>
        </p:nvSpPr>
        <p:spPr>
          <a:xfrm>
            <a:off x="3677725" y="1308025"/>
            <a:ext cx="216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899" name="Google Shape;899;g2c4fad227a1_0_1493"/>
          <p:cNvSpPr/>
          <p:nvPr/>
        </p:nvSpPr>
        <p:spPr>
          <a:xfrm>
            <a:off x="3908133" y="4011888"/>
            <a:ext cx="1708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06" name="Google Shape;90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07" name="Google Shape;90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14" name="Google Shape;91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15" name="Google Shape;915;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16" name="Google Shape;91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23" name="Google Shape;92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24" name="Google Shape;924;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25" name="Google Shape;92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32" name="Google Shape;93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33" name="Google Shape;933;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34" name="Google Shape;93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41" name="Google Shape;94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2" name="Google Shape;94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3" name="Google Shape;94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50" name="Google Shape;950;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51" name="Google Shape;951;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2" name="Google Shape;952;g26b641b03cd_0_301"/>
          <p:cNvSpPr txBox="1"/>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59" name="Google Shape;959;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60" name="Google Shape;96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61" name="Google Shape;961;g26b641b03cd_0_308"/>
          <p:cNvSpPr txBox="1"/>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c2428aa494_0_2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68" name="Google Shape;968;g2c2428aa494_0_20"/>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69" name="Google Shape;969;g2c2428aa494_0_2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70" name="Google Shape;970;g2c2428aa494_0_20"/>
          <p:cNvSpPr txBox="1"/>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c2428aa494_0_2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77" name="Google Shape;977;g2c2428aa494_0_2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78" name="Google Shape;978;g2c2428aa494_0_2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79" name="Google Shape;979;g2c2428aa494_0_28"/>
          <p:cNvSpPr txBox="1"/>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g2c2428aa494_0_3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86" name="Google Shape;986;g2c2428aa494_0_36"/>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87" name="Google Shape;987;g2c2428aa494_0_3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88" name="Google Shape;988;g2c2428aa494_0_36"/>
          <p:cNvSpPr txBox="1"/>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c2428aa494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95" name="Google Shape;995;g2c2428aa494_0_44"/>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96" name="Google Shape;996;g2c2428aa494_0_4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97" name="Google Shape;997;g2c2428aa494_0_44"/>
          <p:cNvSpPr txBox="1"/>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c2428aa494_0_5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04" name="Google Shape;1004;g2c2428aa494_0_52"/>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05" name="Google Shape;1005;g2c2428aa494_0_5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06" name="Google Shape;1006;g2c2428aa494_0_52"/>
          <p:cNvSpPr txBox="1"/>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c2428aa494_0_6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13" name="Google Shape;1013;g2c2428aa494_0_60"/>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14" name="Google Shape;1014;g2c2428aa494_0_6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15" name="Google Shape;1015;g2c2428aa494_0_60"/>
          <p:cNvSpPr txBox="1"/>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c2428aa494_0_6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22" name="Google Shape;1022;g2c2428aa494_0_6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23" name="Google Shape;1023;g2c2428aa494_0_6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24" name="Google Shape;1024;g2c2428aa494_0_68"/>
          <p:cNvSpPr txBox="1"/>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c2428aa494_0_7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31" name="Google Shape;1031;g2c2428aa494_0_76"/>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32" name="Google Shape;1032;g2c2428aa494_0_7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33" name="Google Shape;1033;g2c2428aa494_0_76"/>
          <p:cNvSpPr txBox="1"/>
          <p:nvPr/>
        </p:nvSpPr>
        <p:spPr>
          <a:xfrm>
            <a:off x="730025" y="5568500"/>
            <a:ext cx="7683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sz="3200">
                <a:solidFill>
                  <a:srgbClr val="2F286F"/>
                </a:solidFill>
                <a:latin typeface="Poppins Medium"/>
                <a:ea typeface="Poppins Medium"/>
                <a:cs typeface="Poppins Medium"/>
                <a:sym typeface="Poppins Medium"/>
              </a:rPr>
              <a:t>Practise Common Exception Words</a:t>
            </a:r>
            <a:endParaRPr sz="3200">
              <a:solidFill>
                <a:srgbClr val="2F286F"/>
              </a:solidFill>
              <a:latin typeface="Poppins Medium"/>
              <a:ea typeface="Poppins Medium"/>
              <a:cs typeface="Poppins Medium"/>
              <a:sym typeface="Poppins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6b641b03cd_0_315"/>
          <p:cNvSpPr txBox="1">
            <a:spLocks noGrp="1"/>
          </p:cNvSpPr>
          <p:nvPr>
            <p:ph type="title"/>
          </p:nvPr>
        </p:nvSpPr>
        <p:spPr>
          <a:xfrm>
            <a:off x="893300" y="5568500"/>
            <a:ext cx="7357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1040" name="Google Shape;1040;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41" name="Google Shape;1041;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42" name="Google Shape;1042;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1049" name="Google Shape;1049;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050" name="Google Shape;1050;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51" name="Google Shape;1051;g26b641b03cd_1_0"/>
          <p:cNvSpPr txBox="1">
            <a:spLocks noGrp="1"/>
          </p:cNvSpPr>
          <p:nvPr>
            <p:ph type="title"/>
          </p:nvPr>
        </p:nvSpPr>
        <p:spPr>
          <a:xfrm>
            <a:off x="893300" y="5568500"/>
            <a:ext cx="7357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MAGNETIC LETTERS AND A WHITEBOARD</a:t>
            </a:r>
            <a:endParaRPr/>
          </a:p>
        </p:txBody>
      </p:sp>
      <p:sp>
        <p:nvSpPr>
          <p:cNvPr id="1058" name="Google Shape;105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grpSp>
        <p:nvGrpSpPr>
          <p:cNvPr id="1059" name="Google Shape;1059;g1f3daf8a844_0_64"/>
          <p:cNvGrpSpPr/>
          <p:nvPr/>
        </p:nvGrpSpPr>
        <p:grpSpPr>
          <a:xfrm>
            <a:off x="3024000" y="209875"/>
            <a:ext cx="3096000" cy="454800"/>
            <a:chOff x="3024000" y="209875"/>
            <a:chExt cx="3096000" cy="454800"/>
          </a:xfrm>
        </p:grpSpPr>
        <p:sp>
          <p:nvSpPr>
            <p:cNvPr id="1060" name="Google Shape;106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1" name="Google Shape;106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2" name="Google Shape;106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3" name="Google Shape;106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4" name="Google Shape;106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5" name="Google Shape;106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6" name="Google Shape;106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7" name="Google Shape;1067;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68" name="Google Shape;1068;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69" name="Google Shape;1069;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70" name="Google Shape;107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71" name="Google Shape;1071;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2" name="Google Shape;107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73" name="Google Shape;1073;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74" name="Google Shape;1074;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075" name="Google Shape;1075;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76" name="Google Shape;1076;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77" name="Google Shape;1077;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078" name="Google Shape;1078;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D"/>
                </a:solidFill>
                <a:latin typeface="Jost"/>
                <a:ea typeface="Jost"/>
                <a:cs typeface="Jost"/>
                <a:sym typeface="Jost"/>
              </a:rPr>
              <a:t>ee</a:t>
            </a:r>
            <a:endParaRPr sz="5500" b="0" i="0" u="none" strike="noStrike" cap="none">
              <a:solidFill>
                <a:srgbClr val="00904D"/>
              </a:solidFill>
              <a:latin typeface="Jost"/>
              <a:ea typeface="Jost"/>
              <a:cs typeface="Jost"/>
              <a:sym typeface="Jost"/>
            </a:endParaRPr>
          </a:p>
        </p:txBody>
      </p:sp>
      <p:cxnSp>
        <p:nvCxnSpPr>
          <p:cNvPr id="1079" name="Google Shape;107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c60bb479c0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MAGNETIC LETTERS AND A WHITEBOARD</a:t>
            </a:r>
            <a:endParaRPr/>
          </a:p>
        </p:txBody>
      </p:sp>
      <p:sp>
        <p:nvSpPr>
          <p:cNvPr id="1086" name="Google Shape;1086;g2c60bb479c0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sz="3000"/>
              <a:t>Practise Building Words</a:t>
            </a:r>
            <a:endParaRPr/>
          </a:p>
        </p:txBody>
      </p:sp>
      <p:cxnSp>
        <p:nvCxnSpPr>
          <p:cNvPr id="1087" name="Google Shape;1087;g2c60bb479c0_0_0"/>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88" name="Google Shape;1088;g2c60bb479c0_0_0"/>
          <p:cNvGrpSpPr/>
          <p:nvPr/>
        </p:nvGrpSpPr>
        <p:grpSpPr>
          <a:xfrm>
            <a:off x="3024000" y="209875"/>
            <a:ext cx="3096000" cy="454800"/>
            <a:chOff x="3024000" y="209875"/>
            <a:chExt cx="3096000" cy="454800"/>
          </a:xfrm>
        </p:grpSpPr>
        <p:sp>
          <p:nvSpPr>
            <p:cNvPr id="1089" name="Google Shape;1089;g2c60bb479c0_0_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0" name="Google Shape;1090;g2c60bb479c0_0_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1" name="Google Shape;1091;g2c60bb479c0_0_0"/>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2" name="Google Shape;1092;g2c60bb479c0_0_0"/>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3" name="Google Shape;1093;g2c60bb479c0_0_0"/>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4" name="Google Shape;1094;g2c60bb479c0_0_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5" name="Google Shape;1095;g2c60bb479c0_0_0"/>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6" name="Google Shape;1096;g2c60bb479c0_0_0"/>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seep feet weep jeep meet deep week keep sheep</a:t>
            </a:r>
            <a:endParaRPr sz="1800" b="0" i="0" u="none" strike="noStrike" cap="none">
              <a:solidFill>
                <a:srgbClr val="B7B7B7"/>
              </a:solidFill>
              <a:latin typeface="Jost"/>
              <a:ea typeface="Jost"/>
              <a:cs typeface="Jost"/>
              <a:sym typeface="Jost"/>
            </a:endParaRPr>
          </a:p>
        </p:txBody>
      </p:sp>
      <p:sp>
        <p:nvSpPr>
          <p:cNvPr id="1097" name="Google Shape;1097;g2c60bb479c0_0_0"/>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8" name="Google Shape;1098;g2c60bb479c0_0_0"/>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99" name="Google Shape;1099;g2c60bb479c0_0_0"/>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0" name="Google Shape;1100;g2c60bb479c0_0_0"/>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1" name="Google Shape;1101;g2c60bb479c0_0_0"/>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02" name="Google Shape;1102;g2c60bb479c0_0_0"/>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3" name="Google Shape;1103;g2c60bb479c0_0_0"/>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4" name="Google Shape;1104;g2c60bb479c0_0_0"/>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05" name="Google Shape;1105;g2c60bb479c0_0_0"/>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sh</a:t>
            </a:r>
            <a:endParaRPr sz="5500" b="0" i="0" u="none" strike="noStrike" cap="none">
              <a:solidFill>
                <a:srgbClr val="FFD403"/>
              </a:solidFill>
              <a:latin typeface="Jost"/>
              <a:ea typeface="Jost"/>
              <a:cs typeface="Jost"/>
              <a:sym typeface="Jost"/>
            </a:endParaRPr>
          </a:p>
        </p:txBody>
      </p:sp>
      <p:sp>
        <p:nvSpPr>
          <p:cNvPr id="1106" name="Google Shape;1106;g2c60bb479c0_0_0"/>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07" name="Google Shape;1107;g2c60bb479c0_0_0"/>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08" name="Google Shape;1108;g2c60bb479c0_0_0"/>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109" name="Google Shape;1109;g2c60bb479c0_0_0"/>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D"/>
                </a:solidFill>
                <a:latin typeface="Jost"/>
                <a:ea typeface="Jost"/>
                <a:cs typeface="Jost"/>
                <a:sym typeface="Jost"/>
              </a:rPr>
              <a:t>ee</a:t>
            </a:r>
            <a:endParaRPr sz="5500" b="0" i="0" u="none" strike="noStrike" cap="none">
              <a:solidFill>
                <a:srgbClr val="00904D"/>
              </a:solidFill>
              <a:latin typeface="Jost"/>
              <a:ea typeface="Jost"/>
              <a:cs typeface="Jost"/>
              <a:sym typeface="Jos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sp>
        <p:nvSpPr>
          <p:cNvPr id="1115" name="Google Shape;1115;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'Baa, Baa, Black Sheep'.</a:t>
            </a:r>
            <a:endParaRPr/>
          </a:p>
          <a:p>
            <a:pPr marL="457200" lvl="0" indent="-330200" algn="l" rtl="0">
              <a:lnSpc>
                <a:spcPct val="115000"/>
              </a:lnSpc>
              <a:spcBef>
                <a:spcPts val="1000"/>
              </a:spcBef>
              <a:spcAft>
                <a:spcPts val="0"/>
              </a:spcAft>
              <a:buSzPts val="1600"/>
              <a:buChar char="•"/>
            </a:pPr>
            <a:r>
              <a:rPr lang="en-US"/>
              <a:t>Sort objects/pictures that contain either an ‘</a:t>
            </a:r>
            <a:r>
              <a:rPr lang="en-US">
                <a:solidFill>
                  <a:srgbClr val="8DC63F"/>
                </a:solidFill>
              </a:rPr>
              <a:t>ai</a:t>
            </a:r>
            <a:r>
              <a:rPr lang="en-US"/>
              <a:t>’ or ‘</a:t>
            </a:r>
            <a:r>
              <a:rPr lang="en-US">
                <a:solidFill>
                  <a:srgbClr val="8DC63F"/>
                </a:solidFill>
              </a:rPr>
              <a:t>ee</a:t>
            </a:r>
            <a:r>
              <a:rPr lang="en-US"/>
              <a:t>’ grapheme.</a:t>
            </a:r>
            <a:endParaRPr/>
          </a:p>
        </p:txBody>
      </p:sp>
      <p:sp>
        <p:nvSpPr>
          <p:cNvPr id="1116" name="Google Shape;1116;g2c186218c5a_0_118"/>
          <p:cNvSpPr/>
          <p:nvPr/>
        </p:nvSpPr>
        <p:spPr>
          <a:xfrm>
            <a:off x="1130686" y="3600775"/>
            <a:ext cx="902400" cy="902400"/>
          </a:xfrm>
          <a:prstGeom prst="roundRect">
            <a:avLst>
              <a:gd name="adj" fmla="val 16667"/>
            </a:avLst>
          </a:prstGeom>
          <a:solidFill>
            <a:srgbClr val="39B54A"/>
          </a:solidFill>
          <a:ln w="19050" cap="flat" cmpd="sng">
            <a:solidFill>
              <a:srgbClr val="00904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7" name="Google Shape;1117;g2c186218c5a_0_118"/>
          <p:cNvSpPr txBox="1"/>
          <p:nvPr/>
        </p:nvSpPr>
        <p:spPr>
          <a:xfrm>
            <a:off x="1130687" y="3599425"/>
            <a:ext cx="902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000000"/>
                </a:solidFill>
                <a:latin typeface="Jost"/>
                <a:ea typeface="Jost"/>
                <a:cs typeface="Jost"/>
                <a:sym typeface="Jost"/>
              </a:rPr>
              <a:t>ee</a:t>
            </a:r>
            <a:endParaRPr sz="5000" b="0" i="0" u="none" strike="noStrike" cap="none">
              <a:solidFill>
                <a:srgbClr val="000000"/>
              </a:solidFill>
              <a:latin typeface="Jost"/>
              <a:ea typeface="Jost"/>
              <a:cs typeface="Jost"/>
              <a:sym typeface="Jost"/>
            </a:endParaRPr>
          </a:p>
        </p:txBody>
      </p:sp>
      <p:sp>
        <p:nvSpPr>
          <p:cNvPr id="1118" name="Google Shape;1118;g2c186218c5a_0_118"/>
          <p:cNvSpPr/>
          <p:nvPr/>
        </p:nvSpPr>
        <p:spPr>
          <a:xfrm>
            <a:off x="2536164" y="3600775"/>
            <a:ext cx="902400" cy="902400"/>
          </a:xfrm>
          <a:prstGeom prst="roundRect">
            <a:avLst>
              <a:gd name="adj" fmla="val 16667"/>
            </a:avLst>
          </a:prstGeom>
          <a:solidFill>
            <a:srgbClr val="39B54A"/>
          </a:solidFill>
          <a:ln w="19050" cap="flat" cmpd="sng">
            <a:solidFill>
              <a:srgbClr val="00904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9" name="Google Shape;1119;g2c186218c5a_0_118"/>
          <p:cNvSpPr txBox="1"/>
          <p:nvPr/>
        </p:nvSpPr>
        <p:spPr>
          <a:xfrm>
            <a:off x="2536164" y="3599425"/>
            <a:ext cx="902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300" b="0" i="0" u="none" strike="noStrike" cap="none">
                <a:solidFill>
                  <a:srgbClr val="000000"/>
                </a:solidFill>
                <a:latin typeface="Poppins Medium"/>
                <a:ea typeface="Poppins Medium"/>
                <a:cs typeface="Poppins Medium"/>
                <a:sym typeface="Poppins Medium"/>
              </a:rPr>
              <a:t>a</a:t>
            </a:r>
            <a:r>
              <a:rPr lang="en-US" sz="5000" b="0" i="0" u="none" strike="noStrike" cap="none">
                <a:solidFill>
                  <a:srgbClr val="000000"/>
                </a:solidFill>
                <a:latin typeface="Jost"/>
                <a:ea typeface="Jost"/>
                <a:cs typeface="Jost"/>
                <a:sym typeface="Jost"/>
              </a:rPr>
              <a:t>i</a:t>
            </a:r>
            <a:endParaRPr sz="5000" b="0" i="0" u="none" strike="noStrike" cap="none">
              <a:solidFill>
                <a:srgbClr val="000000"/>
              </a:solidFill>
              <a:latin typeface="Jost"/>
              <a:ea typeface="Jost"/>
              <a:cs typeface="Jost"/>
              <a:sym typeface="Jost"/>
            </a:endParaRPr>
          </a:p>
        </p:txBody>
      </p:sp>
      <p:sp>
        <p:nvSpPr>
          <p:cNvPr id="1120" name="Google Shape;1120;g2c186218c5a_0_118"/>
          <p:cNvSpPr txBox="1"/>
          <p:nvPr/>
        </p:nvSpPr>
        <p:spPr>
          <a:xfrm>
            <a:off x="2066375" y="3827425"/>
            <a:ext cx="4365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or</a:t>
            </a:r>
            <a:endParaRPr sz="2000" b="0" i="0" u="none" strike="noStrike" cap="none">
              <a:solidFill>
                <a:srgbClr val="000000"/>
              </a:solidFill>
              <a:latin typeface="Jost"/>
              <a:ea typeface="Jost"/>
              <a:cs typeface="Jost"/>
              <a:sym typeface="Jost"/>
            </a:endParaRPr>
          </a:p>
        </p:txBody>
      </p:sp>
      <p:pic>
        <p:nvPicPr>
          <p:cNvPr id="1121" name="Google Shape;1121;g2c186218c5a_0_118"/>
          <p:cNvPicPr preferRelativeResize="0"/>
          <p:nvPr/>
        </p:nvPicPr>
        <p:blipFill rotWithShape="1">
          <a:blip r:embed="rId3">
            <a:alphaModFix/>
          </a:blip>
          <a:srcRect/>
          <a:stretch/>
        </p:blipFill>
        <p:spPr>
          <a:xfrm rot="-1674120">
            <a:off x="1290212" y="2796125"/>
            <a:ext cx="625325" cy="554525"/>
          </a:xfrm>
          <a:prstGeom prst="rect">
            <a:avLst/>
          </a:prstGeom>
          <a:noFill/>
          <a:ln>
            <a:noFill/>
          </a:ln>
        </p:spPr>
      </p:pic>
      <p:pic>
        <p:nvPicPr>
          <p:cNvPr id="1122" name="Google Shape;1122;g2c186218c5a_0_118"/>
          <p:cNvPicPr preferRelativeResize="0"/>
          <p:nvPr/>
        </p:nvPicPr>
        <p:blipFill rotWithShape="1">
          <a:blip r:embed="rId4">
            <a:alphaModFix/>
          </a:blip>
          <a:srcRect/>
          <a:stretch/>
        </p:blipFill>
        <p:spPr>
          <a:xfrm rot="488741">
            <a:off x="1869206" y="1940606"/>
            <a:ext cx="1175488" cy="1412236"/>
          </a:xfrm>
          <a:prstGeom prst="rect">
            <a:avLst/>
          </a:prstGeom>
          <a:noFill/>
          <a:ln>
            <a:noFill/>
          </a:ln>
          <a:effectLst>
            <a:outerShdw blurRad="57150" dist="9525" dir="2400000" algn="bl" rotWithShape="0">
              <a:srgbClr val="000000">
                <a:alpha val="9803"/>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443</Words>
  <Application>Microsoft Office PowerPoint</Application>
  <PresentationFormat>On-screen Show (4:3)</PresentationFormat>
  <Paragraphs>201</Paragraphs>
  <Slides>32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Nunito Black</vt:lpstr>
      <vt:lpstr>Jost</vt:lpstr>
      <vt:lpstr>Calibri</vt:lpstr>
      <vt:lpstr>Mulish</vt:lpstr>
      <vt:lpstr>Poppins SemiBold</vt:lpstr>
      <vt:lpstr>Poppins Medium</vt:lpstr>
      <vt:lpstr>Poppins</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2026-04-29T03:34:45Z</dcterms:modified>
</cp:coreProperties>
</file>