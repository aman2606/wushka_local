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Finger Paint" panose="020B0604020202020204" charset="0"/>
      <p:regular r:id="rId24"/>
    </p:embeddedFon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BiNpGXSPAkyhZ/bpBBFN0YGq3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6144EC-F613-4232-8FE1-A7AA6CD7133B}">
  <a:tblStyle styleId="{296144EC-F613-4232-8FE1-A7AA6CD7133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font" Target="fonts/font1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Note: Letter sound ‘x’ technically makes 2 sounds; /k/ /s/. For the sake of Kindergarten level comprehension at this early stage, only 1 sound button is used to represent the dual sound /ks/.</a:t>
            </a:r>
            <a:endParaRPr/>
          </a:p>
        </p:txBody>
      </p:sp>
      <p:sp>
        <p:nvSpPr>
          <p:cNvPr id="823" name="Google Shape;823;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6c76bf4c1a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6c76bf4c1a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Note: Letter sound ‘x’ technically makes 2 sounds; /k/ /s/. For the sake of Kindergarten level comprehension at this early stage, only 1 sound button is used to represent the dual sound /ks/.</a:t>
            </a:r>
            <a:endParaRPr/>
          </a:p>
        </p:txBody>
      </p:sp>
      <p:sp>
        <p:nvSpPr>
          <p:cNvPr id="853" name="Google Shape;853;g26c76bf4c1a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6c76bf4c1a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6c76bf4c1a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a:t>Note: Letter sound ‘x’ technically makes 2 sounds; /k/ /s/. For the sake of Kindergarten level comprehension at this early stage, only 1 sound button is used to represent the dual sound /ks/.</a:t>
            </a:r>
            <a:endParaRPr/>
          </a:p>
        </p:txBody>
      </p:sp>
      <p:sp>
        <p:nvSpPr>
          <p:cNvPr id="883" name="Google Shape;883;g26c76bf4c1a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6c76bf4c1a_0_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6c76bf4c1a_0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6c76bf4c1a_0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'x'</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5.xml"/><Relationship Id="rId16"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'x'</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{296144EC-F613-4232-8FE1-A7AA6CD7133B}</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x</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l="39" r="49"/>
          <a:stretch/>
        </p:blipFill>
        <p:spPr>
          <a:xfrm rot="135067">
            <a:off x="4009466" y="447408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x</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r>
              <a:rPr lang="en-US"/>
              <a:t>.</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66639" y="3980901"/>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519626"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605233" y="378307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85489"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1853115" y="2053250"/>
            <a:ext cx="1747056" cy="2472849"/>
          </a:xfrm>
          <a:prstGeom prst="rect">
            <a:avLst/>
          </a:prstGeom>
          <a:noFill/>
          <a:ln>
            <a:noFill/>
          </a:ln>
          <a:effectLst>
            <a:outerShdw blurRad="71438" dist="28575" dir="5400000" algn="bl" rotWithShape="0">
              <a:srgbClr val="000000">
                <a:alpha val="15686"/>
              </a:srgbClr>
            </a:outerShdw>
          </a:effectLst>
        </p:spPr>
      </p:pic>
      <p:pic>
        <p:nvPicPr>
          <p:cNvPr id="753" name="Google Shape;753;g26b7edf6e71_0_26"/>
          <p:cNvPicPr preferRelativeResize="0"/>
          <p:nvPr/>
        </p:nvPicPr>
        <p:blipFill rotWithShape="1">
          <a:blip r:embed="rId4">
            <a:alphaModFix/>
          </a:blip>
          <a:srcRect l="79" r="79"/>
          <a:stretch/>
        </p:blipFill>
        <p:spPr>
          <a:xfrm>
            <a:off x="3698469" y="2053250"/>
            <a:ext cx="1747056" cy="2472849"/>
          </a:xfrm>
          <a:prstGeom prst="rect">
            <a:avLst/>
          </a:prstGeom>
          <a:noFill/>
          <a:ln>
            <a:noFill/>
          </a:ln>
          <a:effectLst>
            <a:outerShdw blurRad="71438" dist="28575" dir="5400000" algn="bl" rotWithShape="0">
              <a:srgbClr val="000000">
                <a:alpha val="15686"/>
              </a:srgbClr>
            </a:outerShdw>
          </a:effectLst>
        </p:spPr>
      </p:pic>
      <p:pic>
        <p:nvPicPr>
          <p:cNvPr id="754" name="Google Shape;754;g26b7edf6e71_0_26"/>
          <p:cNvPicPr preferRelativeResize="0"/>
          <p:nvPr/>
        </p:nvPicPr>
        <p:blipFill rotWithShape="1">
          <a:blip r:embed="rId5">
            <a:alphaModFix/>
          </a:blip>
          <a:srcRect l="19" r="29"/>
          <a:stretch/>
        </p:blipFill>
        <p:spPr>
          <a:xfrm>
            <a:off x="5543822" y="2053250"/>
            <a:ext cx="1747056" cy="24728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61" name="Google Shape;761;g26b7edf6e71_0_109"/>
          <p:cNvGrpSpPr/>
          <p:nvPr/>
        </p:nvGrpSpPr>
        <p:grpSpPr>
          <a:xfrm>
            <a:off x="867357" y="2129450"/>
            <a:ext cx="7282807" cy="2686611"/>
            <a:chOff x="867357" y="2129450"/>
            <a:chExt cx="7282807" cy="2686611"/>
          </a:xfrm>
        </p:grpSpPr>
        <p:pic>
          <p:nvPicPr>
            <p:cNvPr id="762" name="Google Shape;76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3" name="Google Shape;76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4" name="Google Shape;76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5" name="Google Shape;76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2" name="Google Shape;78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3" name="Google Shape;783;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4" name="Google Shape;78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1" name="Google Shape;79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2" name="Google Shape;79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3" name="Google Shape;79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0" name="Google Shape;80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1" name="Google Shape;801;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2" name="Google Shape;80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9" name="Google Shape;80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10" name="Google Shape;810;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11" name="Google Shape;81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8" name="Google Shape;81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9" name="Google Shape;81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6" name="Google Shape;826;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7" name="Google Shape;827;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2" name="Google Shape;832;g2c4fd7a3c22_2_0"/>
          <p:cNvGrpSpPr/>
          <p:nvPr/>
        </p:nvGrpSpPr>
        <p:grpSpPr>
          <a:xfrm>
            <a:off x="304250" y="6984600"/>
            <a:ext cx="8330829" cy="808600"/>
            <a:chOff x="-152950" y="7365600"/>
            <a:chExt cx="8330829" cy="808600"/>
          </a:xfrm>
        </p:grpSpPr>
        <p:sp>
          <p:nvSpPr>
            <p:cNvPr id="833" name="Google Shape;833;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4" name="Google Shape;834;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1" name="Google Shape;841;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4fd7a3c22_2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4fd7a3c22_2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fd7a3c22_2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6" name="Google Shape;846;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7" name="Google Shape;847;g2c4fd7a3c22_2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x</a:t>
            </a:r>
            <a:endParaRPr sz="15000" b="0" i="0" u="none" strike="noStrike" cap="none">
              <a:solidFill>
                <a:srgbClr val="2356AF"/>
              </a:solidFill>
              <a:latin typeface="Jost"/>
              <a:ea typeface="Jost"/>
              <a:cs typeface="Jost"/>
              <a:sym typeface="Jost"/>
            </a:endParaRPr>
          </a:p>
        </p:txBody>
      </p:sp>
      <p:sp>
        <p:nvSpPr>
          <p:cNvPr id="848" name="Google Shape;848;g2c4fd7a3c22_2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49" name="Google Shape;849;g2c4fd7a3c22_2_0"/>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6c76bf4c1a_0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6" name="Google Shape;856;g26c76bf4c1a_0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7" name="Google Shape;857;g26c76bf4c1a_0_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6c76bf4c1a_0_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6c76bf4c1a_0_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6c76bf4c1a_0_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6c76bf4c1a_0_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2" name="Google Shape;862;g26c76bf4c1a_0_3"/>
          <p:cNvGrpSpPr/>
          <p:nvPr/>
        </p:nvGrpSpPr>
        <p:grpSpPr>
          <a:xfrm>
            <a:off x="304250" y="6984600"/>
            <a:ext cx="8330829" cy="808600"/>
            <a:chOff x="-152950" y="7365600"/>
            <a:chExt cx="8330829" cy="808600"/>
          </a:xfrm>
        </p:grpSpPr>
        <p:sp>
          <p:nvSpPr>
            <p:cNvPr id="863" name="Google Shape;863;g26c76bf4c1a_0_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4" name="Google Shape;864;g26c76bf4c1a_0_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5" name="Google Shape;865;g26c76bf4c1a_0_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6" name="Google Shape;866;g26c76bf4c1a_0_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7" name="Google Shape;867;g26c76bf4c1a_0_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8" name="Google Shape;868;g26c76bf4c1a_0_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9" name="Google Shape;869;g26c76bf4c1a_0_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0" name="Google Shape;870;g26c76bf4c1a_0_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1" name="Google Shape;871;g26c76bf4c1a_0_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6c76bf4c1a_0_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6c76bf4c1a_0_3"/>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6c76bf4c1a_0_3"/>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6c76bf4c1a_0_3"/>
          <p:cNvSpPr/>
          <p:nvPr/>
        </p:nvSpPr>
        <p:spPr>
          <a:xfrm>
            <a:off x="5466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6" name="Google Shape;876;g26c76bf4c1a_0_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7" name="Google Shape;877;g26c76bf4c1a_0_3"/>
          <p:cNvSpPr txBox="1">
            <a:spLocks noGrp="1"/>
          </p:cNvSpPr>
          <p:nvPr>
            <p:ph type="subTitle" idx="4294967295"/>
          </p:nvPr>
        </p:nvSpPr>
        <p:spPr>
          <a:xfrm>
            <a:off x="489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x</a:t>
            </a:r>
            <a:endParaRPr sz="15000" b="0" i="0" u="none" strike="noStrike" cap="none">
              <a:solidFill>
                <a:srgbClr val="2356AF"/>
              </a:solidFill>
              <a:latin typeface="Jost"/>
              <a:ea typeface="Jost"/>
              <a:cs typeface="Jost"/>
              <a:sym typeface="Jost"/>
            </a:endParaRPr>
          </a:p>
        </p:txBody>
      </p:sp>
      <p:sp>
        <p:nvSpPr>
          <p:cNvPr id="878" name="Google Shape;878;g26c76bf4c1a_0_3"/>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79" name="Google Shape;879;g26c76bf4c1a_0_3"/>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6c76bf4c1a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6" name="Google Shape;886;g26c76bf4c1a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7" name="Google Shape;887;g26c76bf4c1a_0_3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6c76bf4c1a_0_3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6c76bf4c1a_0_3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6c76bf4c1a_0_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6c76bf4c1a_0_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2" name="Google Shape;892;g26c76bf4c1a_0_32"/>
          <p:cNvGrpSpPr/>
          <p:nvPr/>
        </p:nvGrpSpPr>
        <p:grpSpPr>
          <a:xfrm>
            <a:off x="304250" y="6984600"/>
            <a:ext cx="8330829" cy="808600"/>
            <a:chOff x="-152950" y="7365600"/>
            <a:chExt cx="8330829" cy="808600"/>
          </a:xfrm>
        </p:grpSpPr>
        <p:sp>
          <p:nvSpPr>
            <p:cNvPr id="893" name="Google Shape;893;g26c76bf4c1a_0_3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4" name="Google Shape;894;g26c76bf4c1a_0_3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5" name="Google Shape;895;g26c76bf4c1a_0_3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6" name="Google Shape;896;g26c76bf4c1a_0_3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7" name="Google Shape;897;g26c76bf4c1a_0_3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8" name="Google Shape;898;g26c76bf4c1a_0_3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9" name="Google Shape;899;g26c76bf4c1a_0_3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0" name="Google Shape;900;g26c76bf4c1a_0_3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1" name="Google Shape;901;g26c76bf4c1a_0_3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26c76bf4c1a_0_3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6c76bf4c1a_0_32"/>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6c76bf4c1a_0_32"/>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6c76bf4c1a_0_32"/>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6" name="Google Shape;906;g26c76bf4c1a_0_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7" name="Google Shape;907;g26c76bf4c1a_0_32"/>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x</a:t>
            </a:r>
            <a:endParaRPr sz="15000" b="0" i="0" u="none" strike="noStrike" cap="none">
              <a:solidFill>
                <a:srgbClr val="2356AF"/>
              </a:solidFill>
              <a:latin typeface="Jost"/>
              <a:ea typeface="Jost"/>
              <a:cs typeface="Jost"/>
              <a:sym typeface="Jost"/>
            </a:endParaRPr>
          </a:p>
        </p:txBody>
      </p:sp>
      <p:sp>
        <p:nvSpPr>
          <p:cNvPr id="908" name="Google Shape;908;g26c76bf4c1a_0_32"/>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09" name="Google Shape;909;g26c76bf4c1a_0_32"/>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2700" b="0" i="0" u="none" strike="noStrike" cap="none">
                <a:solidFill>
                  <a:srgbClr val="ED1C24"/>
                </a:solidFill>
                <a:latin typeface="Poppins"/>
                <a:ea typeface="Poppins"/>
                <a:cs typeface="Poppins"/>
                <a:sym typeface="Poppins"/>
              </a:rPr>
              <a:t>a</a:t>
            </a:r>
            <a:endParaRPr sz="127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16" name="Google Shape;91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17" name="Google Shape;91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4" name="Google Shape;92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5" name="Google Shape;925;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26" name="Google Shape;92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33" name="Google Shape;93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4" name="Google Shape;934;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35" name="Google Shape;93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2" name="Google Shape;94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3" name="Google Shape;94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4" name="Google Shape;94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51" name="Google Shape;95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2" name="Google Shape;95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3" name="Google Shape;9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0" name="Google Shape;96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61" name="Google Shape;961;g1f3daf8a844_0_64"/>
          <p:cNvGrpSpPr/>
          <p:nvPr/>
        </p:nvGrpSpPr>
        <p:grpSpPr>
          <a:xfrm>
            <a:off x="3024000" y="209875"/>
            <a:ext cx="3096000" cy="454800"/>
            <a:chOff x="3024000" y="209875"/>
            <a:chExt cx="3096000" cy="454800"/>
          </a:xfrm>
        </p:grpSpPr>
        <p:sp>
          <p:nvSpPr>
            <p:cNvPr id="962" name="Google Shape;96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4" name="Google Shape;96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5" name="Google Shape;96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6" name="Google Shape;96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7" name="Google Shape;96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8" name="Google Shape;96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9" name="Google Shape;96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70" name="Google Shape;97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71" name="Google Shape;97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72" name="Google Shape;97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73" name="Google Shape;97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74" name="Google Shape;974;g1f3daf8a844_0_6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975" name="Google Shape;975;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76" name="Google Shape;976;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x</a:t>
            </a:r>
            <a:endParaRPr sz="5500" b="0" i="0" u="none" strike="noStrike" cap="none">
              <a:solidFill>
                <a:srgbClr val="2356AF"/>
              </a:solidFill>
              <a:latin typeface="Jost"/>
              <a:ea typeface="Jost"/>
              <a:cs typeface="Jost"/>
              <a:sym typeface="Jost"/>
            </a:endParaRPr>
          </a:p>
        </p:txBody>
      </p:sp>
      <p:sp>
        <p:nvSpPr>
          <p:cNvPr id="977" name="Google Shape;977;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78" name="Google Shape;97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6c76bf4c1a_0_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5" name="Google Shape;985;g26c76bf4c1a_0_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6" name="Google Shape;986;g26c76bf4c1a_0_63"/>
          <p:cNvGrpSpPr/>
          <p:nvPr/>
        </p:nvGrpSpPr>
        <p:grpSpPr>
          <a:xfrm>
            <a:off x="3024000" y="209875"/>
            <a:ext cx="3096000" cy="454800"/>
            <a:chOff x="3024000" y="209875"/>
            <a:chExt cx="3096000" cy="454800"/>
          </a:xfrm>
        </p:grpSpPr>
        <p:sp>
          <p:nvSpPr>
            <p:cNvPr id="987" name="Google Shape;987;g26c76bf4c1a_0_6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6c76bf4c1a_0_6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9" name="Google Shape;989;g26c76bf4c1a_0_6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0" name="Google Shape;990;g26c76bf4c1a_0_6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91" name="Google Shape;991;g26c76bf4c1a_0_6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2" name="Google Shape;992;g26c76bf4c1a_0_6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3" name="Google Shape;993;g26c76bf4c1a_0_6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4" name="Google Shape;994;g26c76bf4c1a_0_6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5" name="Google Shape;995;g26c76bf4c1a_0_6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mix fix box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x six</a:t>
            </a:r>
            <a:endParaRPr sz="1800" b="0" i="0" u="none" strike="noStrike" cap="none">
              <a:solidFill>
                <a:srgbClr val="B7B7B7"/>
              </a:solidFill>
              <a:latin typeface="Jost"/>
              <a:ea typeface="Jost"/>
              <a:cs typeface="Jost"/>
              <a:sym typeface="Jost"/>
            </a:endParaRPr>
          </a:p>
        </p:txBody>
      </p:sp>
      <p:sp>
        <p:nvSpPr>
          <p:cNvPr id="996" name="Google Shape;996;g26c76bf4c1a_0_6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7" name="Google Shape;997;g26c76bf4c1a_0_6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8" name="Google Shape;998;g26c76bf4c1a_0_6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9" name="Google Shape;999;g26c76bf4c1a_0_6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000" name="Google Shape;1000;g26c76bf4c1a_0_6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1" name="Google Shape;1001;g26c76bf4c1a_0_6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02" name="Google Shape;1002;g26c76bf4c1a_0_63"/>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FFD403"/>
              </a:solidFill>
              <a:latin typeface="Jost"/>
              <a:ea typeface="Jost"/>
              <a:cs typeface="Jost"/>
              <a:sym typeface="Jost"/>
            </a:endParaRPr>
          </a:p>
        </p:txBody>
      </p:sp>
      <p:sp>
        <p:nvSpPr>
          <p:cNvPr id="1003" name="Google Shape;1003;g26c76bf4c1a_0_63"/>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04" name="Google Shape;1004;g26c76bf4c1a_0_63"/>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x</a:t>
            </a:r>
            <a:endParaRPr sz="5500" b="0" i="0" u="none" strike="noStrike" cap="none">
              <a:solidFill>
                <a:srgbClr val="2356AF"/>
              </a:solidFill>
              <a:latin typeface="Jost"/>
              <a:ea typeface="Jost"/>
              <a:cs typeface="Jost"/>
              <a:sym typeface="Jost"/>
            </a:endParaRPr>
          </a:p>
        </p:txBody>
      </p:sp>
      <p:sp>
        <p:nvSpPr>
          <p:cNvPr id="1005" name="Google Shape;1005;g26c76bf4c1a_0_63"/>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x</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Make '</a:t>
            </a:r>
            <a:r>
              <a:rPr lang="en-US">
                <a:solidFill>
                  <a:srgbClr val="8DC63F"/>
                </a:solidFill>
              </a:rPr>
              <a:t>x</a:t>
            </a:r>
            <a:r>
              <a:rPr lang="en-US"/>
              <a:t>' letter with straws.</a:t>
            </a:r>
            <a:endParaRPr/>
          </a:p>
        </p:txBody>
      </p:sp>
      <p:sp>
        <p:nvSpPr>
          <p:cNvPr id="1012" name="Google Shape;1012;g2c186218c5a_0_118"/>
          <p:cNvSpPr txBox="1"/>
          <p:nvPr/>
        </p:nvSpPr>
        <p:spPr>
          <a:xfrm rot="362194">
            <a:off x="2400002" y="20096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x</a:t>
            </a:r>
            <a:endParaRPr sz="10000" b="0" i="0" u="none" strike="noStrike" cap="none">
              <a:solidFill>
                <a:srgbClr val="2356AF"/>
              </a:solidFill>
              <a:latin typeface="Finger Paint"/>
              <a:ea typeface="Finger Paint"/>
              <a:cs typeface="Finger Paint"/>
              <a:sym typeface="Finger Paint"/>
            </a:endParaRPr>
          </a:p>
        </p:txBody>
      </p:sp>
      <p:pic>
        <p:nvPicPr>
          <p:cNvPr id="1013" name="Google Shape;1013;g2c186218c5a_0_118"/>
          <p:cNvPicPr preferRelativeResize="0"/>
          <p:nvPr/>
        </p:nvPicPr>
        <p:blipFill rotWithShape="1">
          <a:blip r:embed="rId3">
            <a:alphaModFix/>
          </a:blip>
          <a:srcRect/>
          <a:stretch/>
        </p:blipFill>
        <p:spPr>
          <a:xfrm rot="-491898">
            <a:off x="1133962" y="2949430"/>
            <a:ext cx="1112000" cy="10792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508</Words>
  <Application>Microsoft Office PowerPoint</Application>
  <PresentationFormat>On-screen Show (4:3)</PresentationFormat>
  <Paragraphs>161</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Jost</vt:lpstr>
      <vt:lpstr>Poppins</vt:lpstr>
      <vt:lpstr>Nunito Black</vt:lpstr>
      <vt:lpstr>Poppins Medium</vt:lpstr>
      <vt:lpstr>Calibri</vt:lpstr>
      <vt:lpstr>Finger Paint</vt:lpstr>
      <vt:lpstr>Mulish</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2026-04-29T00:23:23Z</dcterms:modified>
</cp:coreProperties>
</file>