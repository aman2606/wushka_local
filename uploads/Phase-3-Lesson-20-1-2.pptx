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embeddedFontLst>
    <p:embeddedFont>
      <p:font typeface="Jost" panose="020B0604020202020204" charset="0"/>
      <p:regular r:id="rId19"/>
      <p:bold r:id="rId20"/>
      <p:italic r:id="rId21"/>
      <p:boldItalic r:id="rId22"/>
    </p:embeddedFont>
    <p:embeddedFont>
      <p:font typeface="Lexend Light" panose="020B0604020202020204" charset="0"/>
      <p:regular r:id="rId23"/>
      <p:bold r:id="rId24"/>
    </p:embeddedFont>
    <p:embeddedFont>
      <p:font typeface="Mulish"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NJqpF6R4+u1p1Yggi0EkvSwgop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3F5C0E-B144-47E0-9CFD-7791B81EFAA3}">
  <a:tblStyle styleId="{543F5C0E-B144-47E0-9CFD-7791B81EFAA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 Id="rId41"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6c91cd428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6c91cd4287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6c91cd4287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682a5e0f1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682a5e0f1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682a5e0f1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682a5e0f1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682a5e0f1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682a5e0f1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6c91cd4287_0_14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6c91cd4287_0_1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6c91cd4287_0_14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6c91cd4287_0_14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6c91cd4287_0_14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6c91cd4287_0_14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6c91cd4287_0_15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g26c91cd4287_0_15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26c91cd4287_0_15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6c91cd4287_0_15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6c91cd4287_0_15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6c91cd4287_0_15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682a5e0f1_0_8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682a5e0f1_0_8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682a5e0f1_0_8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682a5e0f1_0_8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682a5e0f1_0_8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682a5e0f1_0_8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6c91cd4287_0_15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6c91cd4287_0_15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6c91cd4287_0_15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c91cd4287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c91cd4287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c91cd4287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445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8377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2c682a5e0f1_0_786"/>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c682a5e0f1_0_78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c682a5e0f1_0_786"/>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c682a5e0f1_0_786"/>
          <p:cNvGrpSpPr/>
          <p:nvPr/>
        </p:nvGrpSpPr>
        <p:grpSpPr>
          <a:xfrm>
            <a:off x="357775" y="5983875"/>
            <a:ext cx="586800" cy="571500"/>
            <a:chOff x="662575" y="6212475"/>
            <a:chExt cx="586800" cy="571500"/>
          </a:xfrm>
        </p:grpSpPr>
        <p:sp>
          <p:nvSpPr>
            <p:cNvPr id="108" name="Google Shape;108;g2c682a5e0f1_0_78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c682a5e0f1_0_786">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c682a5e0f1_0_786">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c682a5e0f1_0_786"/>
          <p:cNvGrpSpPr/>
          <p:nvPr/>
        </p:nvGrpSpPr>
        <p:grpSpPr>
          <a:xfrm>
            <a:off x="8199150" y="5983875"/>
            <a:ext cx="586800" cy="571500"/>
            <a:chOff x="7894350" y="6212475"/>
            <a:chExt cx="586800" cy="571500"/>
          </a:xfrm>
        </p:grpSpPr>
        <p:sp>
          <p:nvSpPr>
            <p:cNvPr id="112" name="Google Shape;112;g2c682a5e0f1_0_78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c682a5e0f1_0_786">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c682a5e0f1_0_786">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c682a5e0f1_0_786"/>
          <p:cNvGrpSpPr/>
          <p:nvPr/>
        </p:nvGrpSpPr>
        <p:grpSpPr>
          <a:xfrm>
            <a:off x="-36800" y="-52000"/>
            <a:ext cx="9236100" cy="543750"/>
            <a:chOff x="-36800" y="-52000"/>
            <a:chExt cx="9236100" cy="543750"/>
          </a:xfrm>
        </p:grpSpPr>
        <p:sp>
          <p:nvSpPr>
            <p:cNvPr id="116" name="Google Shape;116;g2c682a5e0f1_0_786"/>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c682a5e0f1_0_786"/>
            <p:cNvGrpSpPr/>
            <p:nvPr/>
          </p:nvGrpSpPr>
          <p:grpSpPr>
            <a:xfrm>
              <a:off x="1900680" y="88250"/>
              <a:ext cx="1337400" cy="403500"/>
              <a:chOff x="565600" y="88250"/>
              <a:chExt cx="1337400" cy="403500"/>
            </a:xfrm>
          </p:grpSpPr>
          <p:sp>
            <p:nvSpPr>
              <p:cNvPr id="118" name="Google Shape;118;g2c682a5e0f1_0_786"/>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c682a5e0f1_0_786"/>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c682a5e0f1_0_786"/>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c682a5e0f1_0_786"/>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c682a5e0f1_0_786"/>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c682a5e0f1_0_786"/>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c682a5e0f1_0_786"/>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c682a5e0f1_0_786"/>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c682a5e0f1_0_786"/>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c682a5e0f1_0_786"/>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c682a5e0f1_0_786"/>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c682a5e0f1_0_786"/>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c682a5e0f1_0_786"/>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W X Y Z</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6037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4 - Friday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20</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4"/>
        <p:cNvGrpSpPr/>
        <p:nvPr/>
      </p:nvGrpSpPr>
      <p:grpSpPr>
        <a:xfrm>
          <a:off x="0" y="0"/>
          <a:ext cx="0" cy="0"/>
          <a:chOff x="0" y="0"/>
          <a:chExt cx="0" cy="0"/>
        </a:xfrm>
      </p:grpSpPr>
      <p:sp>
        <p:nvSpPr>
          <p:cNvPr id="155" name="Google Shape;155;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56" name="Google Shape;156;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57" name="Google Shape;157;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58" name="Google Shape;158;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0" name="Google Shape;160;g26b641b03cd_0_260"/>
          <p:cNvGrpSpPr/>
          <p:nvPr/>
        </p:nvGrpSpPr>
        <p:grpSpPr>
          <a:xfrm>
            <a:off x="8199150" y="5983875"/>
            <a:ext cx="586800" cy="571500"/>
            <a:chOff x="7894350" y="6212475"/>
            <a:chExt cx="586800" cy="571500"/>
          </a:xfrm>
        </p:grpSpPr>
        <p:sp>
          <p:nvSpPr>
            <p:cNvPr id="161" name="Google Shape;16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2" name="Google Shape;162;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6b641b03cd_0_260"/>
          <p:cNvGrpSpPr/>
          <p:nvPr/>
        </p:nvGrpSpPr>
        <p:grpSpPr>
          <a:xfrm>
            <a:off x="-36800" y="-52000"/>
            <a:ext cx="9236100" cy="543750"/>
            <a:chOff x="-36800" y="-52000"/>
            <a:chExt cx="9236100" cy="543750"/>
          </a:xfrm>
        </p:grpSpPr>
        <p:sp>
          <p:nvSpPr>
            <p:cNvPr id="166" name="Google Shape;16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6b641b03cd_0_260"/>
            <p:cNvGrpSpPr/>
            <p:nvPr/>
          </p:nvGrpSpPr>
          <p:grpSpPr>
            <a:xfrm>
              <a:off x="1900680" y="88250"/>
              <a:ext cx="1337400" cy="403500"/>
              <a:chOff x="565600" y="88250"/>
              <a:chExt cx="1337400" cy="403500"/>
            </a:xfrm>
          </p:grpSpPr>
          <p:sp>
            <p:nvSpPr>
              <p:cNvPr id="168" name="Google Shape;168;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5.xml"/><Relationship Id="rId16"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1"/>
          <p:cNvPicPr preferRelativeResize="0"/>
          <p:nvPr/>
        </p:nvPicPr>
        <p:blipFill rotWithShape="1">
          <a:blip r:embed="rId3">
            <a:alphaModFix/>
          </a:blip>
          <a:srcRect t="59" b="59"/>
          <a:stretch/>
        </p:blipFill>
        <p:spPr>
          <a:xfrm rot="-286768">
            <a:off x="6132657" y="3819627"/>
            <a:ext cx="1208039" cy="1709826"/>
          </a:xfrm>
          <a:prstGeom prst="rect">
            <a:avLst/>
          </a:prstGeom>
          <a:noFill/>
          <a:ln>
            <a:noFill/>
          </a:ln>
          <a:effectLst>
            <a:outerShdw blurRad="71438" dist="38100" dir="5220000" algn="bl" rotWithShape="0">
              <a:srgbClr val="000000">
                <a:alpha val="20000"/>
              </a:srgbClr>
            </a:outerShdw>
          </a:effectLst>
        </p:spPr>
      </p:pic>
      <p:pic>
        <p:nvPicPr>
          <p:cNvPr id="711" name="Google Shape;711;p1"/>
          <p:cNvPicPr preferRelativeResize="0"/>
          <p:nvPr/>
        </p:nvPicPr>
        <p:blipFill rotWithShape="1">
          <a:blip r:embed="rId4">
            <a:alphaModFix/>
          </a:blip>
          <a:srcRect t="59" b="59"/>
          <a:stretch/>
        </p:blipFill>
        <p:spPr>
          <a:xfrm rot="243188">
            <a:off x="4927482" y="3887252"/>
            <a:ext cx="1208039" cy="1709824"/>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5">
            <a:alphaModFix/>
          </a:blip>
          <a:srcRect b="10"/>
          <a:stretch/>
        </p:blipFill>
        <p:spPr>
          <a:xfrm rot="325065">
            <a:off x="7336183" y="3887252"/>
            <a:ext cx="1208039" cy="1709826"/>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884100" y="2716650"/>
            <a:ext cx="39972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000" b="0" i="0" u="none" strike="noStrike" cap="none">
                <a:solidFill>
                  <a:srgbClr val="262626"/>
                </a:solidFill>
                <a:latin typeface="Poppins"/>
                <a:ea typeface="Poppins"/>
                <a:cs typeface="Poppins"/>
                <a:sym typeface="Poppins"/>
              </a:rPr>
              <a:t>Uppercase Letters;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W X Y Z</a:t>
            </a:r>
            <a:endParaRPr sz="3000" b="0" i="0" u="none" strike="noStrike" cap="none">
              <a:solidFill>
                <a:srgbClr val="262626"/>
              </a:solidFill>
              <a:latin typeface="Poppins"/>
              <a:ea typeface="Poppins"/>
              <a:cs typeface="Poppins"/>
              <a:sym typeface="Poppins"/>
            </a:endParaRPr>
          </a:p>
        </p:txBody>
      </p:sp>
      <p:sp>
        <p:nvSpPr>
          <p:cNvPr id="714" name="Google Shape;71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20</a:t>
            </a:r>
            <a:endParaRPr sz="2200" b="0" i="1" u="none" strike="noStrike" cap="none">
              <a:solidFill>
                <a:srgbClr val="262626"/>
              </a:solidFill>
              <a:latin typeface="Poppins"/>
              <a:ea typeface="Poppins"/>
              <a:cs typeface="Poppins"/>
              <a:sym typeface="Poppins"/>
            </a:endParaRPr>
          </a:p>
        </p:txBody>
      </p:sp>
      <p:graphicFrame>
        <p:nvGraphicFramePr>
          <p:cNvPr id="715" name="Google Shape;715;p1"/>
          <p:cNvGraphicFramePr/>
          <p:nvPr/>
        </p:nvGraphicFramePr>
        <p:xfrm>
          <a:off x="4844200" y="1891197"/>
          <a:ext cx="3784950" cy="1678950"/>
        </p:xfrm>
        <a:graphic>
          <a:graphicData uri="http://schemas.openxmlformats.org/drawingml/2006/table">
            <a:tbl>
              <a:tblPr firstRow="1" bandRow="1">
                <a:noFill/>
                <a:tableStyleId>{543F5C0E-B144-47E0-9CFD-7791B81EFAA3}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6" name="Google Shape;716;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pic>
        <p:nvPicPr>
          <p:cNvPr id="717" name="Google Shape;717;p1"/>
          <p:cNvPicPr preferRelativeResize="0"/>
          <p:nvPr/>
        </p:nvPicPr>
        <p:blipFill rotWithShape="1">
          <a:blip r:embed="rId6">
            <a:alphaModFix/>
          </a:blip>
          <a:srcRect b="10"/>
          <a:stretch/>
        </p:blipFill>
        <p:spPr>
          <a:xfrm rot="-286768">
            <a:off x="3702320" y="3916157"/>
            <a:ext cx="1208039" cy="1709825"/>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6c91cd4287_0_12"/>
          <p:cNvSpPr txBox="1">
            <a:spLocks noGrp="1"/>
          </p:cNvSpPr>
          <p:nvPr>
            <p:ph type="body" idx="1"/>
          </p:nvPr>
        </p:nvSpPr>
        <p:spPr>
          <a:xfrm>
            <a:off x="3298550" y="1032250"/>
            <a:ext cx="47736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uppercase letters </a:t>
            </a:r>
            <a:br>
              <a:rPr lang="en-US"/>
            </a:br>
            <a:r>
              <a:rPr lang="en-US">
                <a:solidFill>
                  <a:srgbClr val="8DC63F"/>
                </a:solidFill>
              </a:rPr>
              <a:t>W X Y Z</a:t>
            </a:r>
            <a:r>
              <a:rPr lang="en-US"/>
              <a:t>.</a:t>
            </a:r>
            <a:endParaRPr/>
          </a:p>
        </p:txBody>
      </p:sp>
      <p:sp>
        <p:nvSpPr>
          <p:cNvPr id="724" name="Google Shape;724;g26c91cd4287_0_12"/>
          <p:cNvSpPr txBox="1">
            <a:spLocks noGrp="1"/>
          </p:cNvSpPr>
          <p:nvPr>
            <p:ph type="body" idx="2"/>
          </p:nvPr>
        </p:nvSpPr>
        <p:spPr>
          <a:xfrm>
            <a:off x="3298550" y="1778550"/>
            <a:ext cx="4717800" cy="1452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25" name="Google Shape;725;g26c91cd4287_0_12"/>
          <p:cNvSpPr txBox="1"/>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6" name="Google Shape;726;g26c91cd4287_0_12"/>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7" name="Google Shape;727;g26c91cd4287_0_12"/>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8" name="Google Shape;728;g26c91cd4287_0_12"/>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32" name="Google Shape;732;g26c91cd4287_0_12"/>
          <p:cNvSpPr txBox="1"/>
          <p:nvPr/>
        </p:nvSpPr>
        <p:spPr>
          <a:xfrm>
            <a:off x="856325" y="37615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u="sng" dirty="0">
                <a:solidFill>
                  <a:schemeClr val="hlink"/>
                </a:solidFill>
                <a:latin typeface="Poppins"/>
                <a:ea typeface="Poppins"/>
                <a:cs typeface="Poppins"/>
                <a:sym typeface="Poppins"/>
              </a:rPr>
              <a:t>www.teaching.com.au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0" name="Google Shape;740;g26b641b03cd_0_165"/>
          <p:cNvGrpSpPr/>
          <p:nvPr/>
        </p:nvGrpSpPr>
        <p:grpSpPr>
          <a:xfrm>
            <a:off x="930400" y="2129444"/>
            <a:ext cx="7283200" cy="3724851"/>
            <a:chOff x="930400" y="2129444"/>
            <a:chExt cx="7283200" cy="3724851"/>
          </a:xfrm>
        </p:grpSpPr>
        <p:pic>
          <p:nvPicPr>
            <p:cNvPr id="741" name="Google Shape;74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0" name="Google Shape;770;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682a5e0f1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3" name="Google Shape;783;g2c682a5e0f1_0_1"/>
          <p:cNvGrpSpPr/>
          <p:nvPr/>
        </p:nvGrpSpPr>
        <p:grpSpPr>
          <a:xfrm>
            <a:off x="867357" y="2129450"/>
            <a:ext cx="7282807" cy="2686611"/>
            <a:chOff x="867357" y="2129450"/>
            <a:chExt cx="7282807" cy="2686611"/>
          </a:xfrm>
        </p:grpSpPr>
        <p:pic>
          <p:nvPicPr>
            <p:cNvPr id="784" name="Google Shape;784;g2c682a5e0f1_0_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5" name="Google Shape;785;g2c682a5e0f1_0_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6" name="Google Shape;786;g2c682a5e0f1_0_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c682a5e0f1_0_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c682a5e0f1_0_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c682a5e0f1_0_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c682a5e0f1_0_1"/>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1" name="Google Shape;791;g2c682a5e0f1_0_1"/>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2" name="Google Shape;792;g2c682a5e0f1_0_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c682a5e0f1_0_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4" name="Google Shape;794;g2c682a5e0f1_0_1"/>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5" name="Google Shape;795;g2c682a5e0f1_0_1"/>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6" name="Google Shape;796;g2c682a5e0f1_0_1"/>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7" name="Google Shape;797;g2c682a5e0f1_0_1"/>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682a5e0f1_0_1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4" name="Google Shape;804;g2c682a5e0f1_0_19"/>
          <p:cNvSpPr txBox="1"/>
          <p:nvPr/>
        </p:nvSpPr>
        <p:spPr>
          <a:xfrm>
            <a:off x="876925" y="1865475"/>
            <a:ext cx="7272000" cy="2939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5" name="Google Shape;805;g2c682a5e0f1_0_19"/>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2" name="Google Shape;81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3" name="Google Shape;813;g2c186218c5a_0_25"/>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7843"/>
              </a:srgbClr>
            </a:outerShdw>
          </a:effectLst>
        </p:spPr>
      </p:pic>
      <p:sp>
        <p:nvSpPr>
          <p:cNvPr id="814" name="Google Shape;81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1" name="Google Shape;82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22" name="Google Shape;82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843"/>
              </a:srgbClr>
            </a:outerShdw>
          </a:effectLst>
        </p:spPr>
      </p:pic>
      <p:sp>
        <p:nvSpPr>
          <p:cNvPr id="823" name="Google Shape;82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6c91cd4287_0_14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0" name="Google Shape;830;g26c91cd4287_0_14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1" name="Google Shape;831;g26c91cd4287_0_1486"/>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32" name="Google Shape;832;g26c91cd4287_0_14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6c91cd4287_0_14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9" name="Google Shape;839;g26c91cd4287_0_14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40" name="Google Shape;840;g26c91cd4287_0_1494"/>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41" name="Google Shape;841;g26c91cd4287_0_149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26c91cd4287_0_15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8" name="Google Shape;848;g26c91cd4287_0_15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49" name="Google Shape;849;g26c91cd4287_0_150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50" name="Google Shape;850;g26c91cd4287_0_150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6c91cd4287_0_15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7" name="Google Shape;857;g26c91cd4287_0_15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58" name="Google Shape;858;g26c91cd4287_0_1510"/>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59" name="Google Shape;859;g26c91cd4287_0_15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682a5e0f1_0_82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6" name="Google Shape;866;g2c682a5e0f1_0_82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67" name="Google Shape;867;g2c682a5e0f1_0_827"/>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68" name="Google Shape;868;g2c682a5e0f1_0_82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682a5e0f1_0_8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5" name="Google Shape;875;g2c682a5e0f1_0_8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76" name="Google Shape;876;g2c682a5e0f1_0_83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77" name="Google Shape;877;g2c682a5e0f1_0_83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6c91cd4287_0_15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84" name="Google Shape;884;g26c91cd4287_0_15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85" name="Google Shape;885;g26c91cd4287_0_1518"/>
          <p:cNvGrpSpPr/>
          <p:nvPr/>
        </p:nvGrpSpPr>
        <p:grpSpPr>
          <a:xfrm>
            <a:off x="3024000" y="209875"/>
            <a:ext cx="3096000" cy="454800"/>
            <a:chOff x="3024000" y="209875"/>
            <a:chExt cx="3096000" cy="454800"/>
          </a:xfrm>
        </p:grpSpPr>
        <p:sp>
          <p:nvSpPr>
            <p:cNvPr id="886" name="Google Shape;886;g26c91cd4287_0_151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6c91cd4287_0_151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88" name="Google Shape;888;g26c91cd4287_0_151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89" name="Google Shape;889;g26c91cd4287_0_1518"/>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90" name="Google Shape;890;g26c91cd4287_0_15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1" name="Google Shape;891;g26c91cd4287_0_1518"/>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c91cd4287_0_1531"/>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26 circles on a tray or large sheet of paper with lowercase letters inside. Then provide 26 paper cups and on the bottom of the cups write the 26 uppercase letters, and have children match the cup to the circle.</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pic>
        <p:nvPicPr>
          <p:cNvPr id="898" name="Google Shape;898;g26c91cd4287_0_1531"/>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423</Words>
  <Application>Microsoft Office PowerPoint</Application>
  <PresentationFormat>On-screen Show (4:3)</PresentationFormat>
  <Paragraphs>88</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Jost</vt:lpstr>
      <vt:lpstr>Calibri</vt:lpstr>
      <vt:lpstr>Mulish</vt:lpstr>
      <vt:lpstr>Poppins</vt:lpstr>
      <vt:lpstr>Poppins Medium</vt:lpstr>
      <vt:lpstr>Arial</vt:lpstr>
      <vt:lpstr>Nunito Black</vt:lpstr>
      <vt:lpstr>Lexend Light</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2026-04-28T05:12:01Z</dcterms:modified>
</cp:coreProperties>
</file>