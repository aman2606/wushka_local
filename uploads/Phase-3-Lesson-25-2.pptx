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embeddedFontLst>
    <p:embeddedFont>
      <p:font typeface="Jost" panose="020B0604020202020204" charset="0"/>
      <p:regular r:id="rId13"/>
      <p:bold r:id="rId14"/>
      <p:italic r:id="rId15"/>
      <p:boldItalic r:id="rId16"/>
    </p:embeddedFont>
    <p:embeddedFont>
      <p:font typeface="Mulish" panose="020B0604020202020204" charset="0"/>
      <p:regular r:id="rId17"/>
      <p:bold r:id="rId18"/>
      <p:italic r:id="rId19"/>
      <p:boldItalic r:id="rId20"/>
    </p:embeddedFont>
    <p:embeddedFont>
      <p:font typeface="Nunito Black" pitchFamily="2" charset="0"/>
      <p:bold r:id="rId21"/>
      <p:boldItalic r:id="rId22"/>
    </p:embeddedFont>
    <p:embeddedFont>
      <p:font typeface="Poppins" panose="00000500000000000000" pitchFamily="2" charset="0"/>
      <p:regular r:id="rId23"/>
      <p:bold r:id="rId24"/>
      <p:italic r:id="rId25"/>
      <p:boldItalic r:id="rId26"/>
    </p:embeddedFont>
    <p:embeddedFont>
      <p:font typeface="Poppins Medium" panose="00000600000000000000" pitchFamily="2" charset="0"/>
      <p:regular r:id="rId27"/>
      <p:bold r:id="rId28"/>
      <p:italic r:id="rId29"/>
      <p:boldItalic r:id="rId30"/>
    </p:embeddedFont>
    <p:embeddedFont>
      <p:font typeface="Poppins SemiBold" panose="000007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h91TzDJQWcnmuzw8pmT4TKiKN1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2FD9BA-D3AA-456D-B91E-FE55B7CB884B}">
  <a:tblStyle styleId="{552FD9BA-D3AA-456D-B91E-FE55B7CB884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d06125dc48_0_7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d06125dc48_0_7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d06125dc48_0_7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31a1c2492d3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g31a1c2492d3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g31a1c2492d3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d06125dc48_0_15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d06125dc48_0_15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d06125dc48_0_15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d06125dc48_0_15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d06125dc48_0_15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d06125dc48_0_15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d06125dc48_0_23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d06125dc48_0_23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d06125dc48_0_23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5 - Friday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656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25</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8" name="Google Shape;198;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10.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slide" Target="slide3.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3" Type="http://schemas.openxmlformats.org/officeDocument/2006/relationships/image" Target="../media/image9.png"/><Relationship Id="rId7" Type="http://schemas.openxmlformats.org/officeDocument/2006/relationships/image" Target="../media/image36.png"/><Relationship Id="rId12" Type="http://schemas.openxmlformats.org/officeDocument/2006/relationships/image" Target="../media/image40.png"/><Relationship Id="rId2" Type="http://schemas.openxmlformats.org/officeDocument/2006/relationships/notesSlide" Target="../notesSlides/notesSlide4.xml"/><Relationship Id="rId16"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8.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png"/><Relationship Id="rId14" Type="http://schemas.openxmlformats.org/officeDocument/2006/relationships/image" Target="../media/image42.pn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0.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Common Exception Words</a:t>
            </a:r>
            <a:endParaRPr/>
          </a:p>
        </p:txBody>
      </p:sp>
      <p:sp>
        <p:nvSpPr>
          <p:cNvPr id="711" name="Google Shape;711;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25</a:t>
            </a:r>
            <a:endParaRPr/>
          </a:p>
        </p:txBody>
      </p:sp>
      <p:sp>
        <p:nvSpPr>
          <p:cNvPr id="712" name="Google Shape;71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3" name="Google Shape;713;p1"/>
          <p:cNvSpPr/>
          <p:nvPr/>
        </p:nvSpPr>
        <p:spPr>
          <a:xfrm>
            <a:off x="482889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4" name="Google Shape;714;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5" name="Google Shape;715;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8039"/>
              </a:srgbClr>
            </a:outerShdw>
          </a:effectLst>
        </p:spPr>
      </p:pic>
      <p:graphicFrame>
        <p:nvGraphicFramePr>
          <p:cNvPr id="716" name="Google Shape;716;p1"/>
          <p:cNvGraphicFramePr/>
          <p:nvPr/>
        </p:nvGraphicFramePr>
        <p:xfrm>
          <a:off x="4844200" y="1891197"/>
          <a:ext cx="3784950" cy="1678950"/>
        </p:xfrm>
        <a:graphic>
          <a:graphicData uri="http://schemas.openxmlformats.org/drawingml/2006/table">
            <a:tbl>
              <a:tblPr firstRow="1" bandRow="1">
                <a:noFill/>
                <a:tableStyleId>{552FD9BA-D3AA-456D-B91E-FE55B7CB884B}</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717" name="Google Shape;717;p1"/>
          <p:cNvPicPr preferRelativeResize="0"/>
          <p:nvPr/>
        </p:nvPicPr>
        <p:blipFill rotWithShape="1">
          <a:blip r:embed="rId4">
            <a:alphaModFix/>
          </a:blip>
          <a:srcRect l="99" r="99"/>
          <a:stretch/>
        </p:blipFill>
        <p:spPr>
          <a:xfrm rot="133660">
            <a:off x="6292709" y="4219694"/>
            <a:ext cx="1334478" cy="955591"/>
          </a:xfrm>
          <a:prstGeom prst="rect">
            <a:avLst/>
          </a:prstGeom>
          <a:noFill/>
          <a:ln>
            <a:noFill/>
          </a:ln>
          <a:effectLst>
            <a:outerShdw blurRad="71438" dist="19050" dir="5400000" algn="bl" rotWithShape="0">
              <a:srgbClr val="000000">
                <a:alpha val="18039"/>
              </a:srgbClr>
            </a:outerShdw>
          </a:effectLst>
        </p:spPr>
      </p:pic>
      <p:cxnSp>
        <p:nvCxnSpPr>
          <p:cNvPr id="718" name="Google Shape;718;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pic>
        <p:nvPicPr>
          <p:cNvPr id="719" name="Google Shape;719;p1"/>
          <p:cNvPicPr preferRelativeResize="0"/>
          <p:nvPr/>
        </p:nvPicPr>
        <p:blipFill rotWithShape="1">
          <a:blip r:embed="rId5">
            <a:alphaModFix/>
          </a:blip>
          <a:srcRect l="99" r="99"/>
          <a:stretch/>
        </p:blipFill>
        <p:spPr>
          <a:xfrm rot="-305105">
            <a:off x="5255740" y="4206861"/>
            <a:ext cx="1336093" cy="955590"/>
          </a:xfrm>
          <a:prstGeom prst="rect">
            <a:avLst/>
          </a:prstGeom>
          <a:noFill/>
          <a:ln>
            <a:noFill/>
          </a:ln>
          <a:effectLst>
            <a:outerShdw blurRad="71438" dist="19050" dir="5400000" algn="bl" rotWithShape="0">
              <a:srgbClr val="000000">
                <a:alpha val="18039"/>
              </a:srgbClr>
            </a:outerShdw>
          </a:effectLst>
        </p:spPr>
      </p:pic>
      <p:pic>
        <p:nvPicPr>
          <p:cNvPr id="720" name="Google Shape;720;p1"/>
          <p:cNvPicPr preferRelativeResize="0"/>
          <p:nvPr/>
        </p:nvPicPr>
        <p:blipFill rotWithShape="1">
          <a:blip r:embed="rId6">
            <a:alphaModFix/>
          </a:blip>
          <a:srcRect/>
          <a:stretch/>
        </p:blipFill>
        <p:spPr>
          <a:xfrm rot="-511404">
            <a:off x="4253749" y="4487467"/>
            <a:ext cx="1333892" cy="953243"/>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51816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Common Exception Words.</a:t>
            </a:r>
            <a:endParaRPr/>
          </a:p>
        </p:txBody>
      </p:sp>
      <p:sp>
        <p:nvSpPr>
          <p:cNvPr id="727" name="Google Shape;727;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28" name="Google Shape;728;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9" name="Google Shape;729;g2bee4f4af4b_0_204"/>
          <p:cNvSpPr txBox="1"/>
          <p:nvPr/>
        </p:nvSpPr>
        <p:spPr>
          <a:xfrm>
            <a:off x="24300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2227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Letter Sounds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3">
            <a:alphaModFix/>
          </a:blip>
          <a:srcRect l="79" r="79"/>
          <a:stretch/>
        </p:blipFill>
        <p:spPr>
          <a:xfrm>
            <a:off x="2443426" y="4101860"/>
            <a:ext cx="786850" cy="1113689"/>
          </a:xfrm>
          <a:prstGeom prst="rect">
            <a:avLst/>
          </a:prstGeom>
          <a:noFill/>
          <a:ln>
            <a:noFill/>
          </a:ln>
          <a:effectLst>
            <a:outerShdw blurRad="71438" dist="19050" dir="5220000" algn="bl" rotWithShape="0">
              <a:srgbClr val="D8D8D8"/>
            </a:outerShdw>
          </a:effectLst>
        </p:spPr>
      </p:pic>
      <p:sp>
        <p:nvSpPr>
          <p:cNvPr id="732" name="Google Shape;732;g2bee4f4af4b_0_204"/>
          <p:cNvSpPr txBox="1"/>
          <p:nvPr/>
        </p:nvSpPr>
        <p:spPr>
          <a:xfrm>
            <a:off x="38294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3518550" y="51179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t="59" b="59"/>
          <a:stretch/>
        </p:blipFill>
        <p:spPr>
          <a:xfrm>
            <a:off x="3770304" y="4326104"/>
            <a:ext cx="931973" cy="665200"/>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06362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5632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Letter Sounds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1"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5">
            <a:alphaModFix/>
          </a:blip>
          <a:srcRect l="79" r="79"/>
          <a:stretch/>
        </p:blipFill>
        <p:spPr>
          <a:xfrm>
            <a:off x="1077001" y="4101860"/>
            <a:ext cx="786850" cy="1113689"/>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228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883225" y="5117929"/>
            <a:ext cx="15051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6">
            <a:alphaModFix/>
          </a:blip>
          <a:srcRect t="89" b="79"/>
          <a:stretch/>
        </p:blipFill>
        <p:spPr>
          <a:xfrm>
            <a:off x="5169754" y="4326104"/>
            <a:ext cx="931974" cy="665199"/>
          </a:xfrm>
          <a:prstGeom prst="rect">
            <a:avLst/>
          </a:prstGeom>
          <a:noFill/>
          <a:ln>
            <a:noFill/>
          </a:ln>
          <a:effectLst>
            <a:outerShdw blurRad="71438" dist="19050" dir="5220000" algn="bl" rotWithShape="0">
              <a:srgbClr val="D8D8D8"/>
            </a:outerShdw>
          </a:effectLst>
        </p:spPr>
      </p:pic>
      <p:sp>
        <p:nvSpPr>
          <p:cNvPr id="741" name="Google Shape;741;g2bee4f4af4b_0_204">
            <a:hlinkClick r:id="rId7" action="ppaction://hlinksldjump"/>
          </p:cNvPr>
          <p:cNvSpPr/>
          <p:nvPr/>
        </p:nvSpPr>
        <p:spPr>
          <a:xfrm>
            <a:off x="2418592" y="385131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bee4f4af4b_0_204">
            <a:hlinkClick r:id="rId8" action="ppaction://hlinksldjump"/>
          </p:cNvPr>
          <p:cNvSpPr/>
          <p:nvPr/>
        </p:nvSpPr>
        <p:spPr>
          <a:xfrm>
            <a:off x="3640217" y="373400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bee4f4af4b_0_204">
            <a:hlinkClick r:id="rId9" action="ppaction://hlinksldjump"/>
          </p:cNvPr>
          <p:cNvSpPr/>
          <p:nvPr/>
        </p:nvSpPr>
        <p:spPr>
          <a:xfrm>
            <a:off x="991877" y="377417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p:cNvSpPr/>
          <p:nvPr/>
        </p:nvSpPr>
        <p:spPr>
          <a:xfrm>
            <a:off x="5021625"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1" name="Google Shape;781;g26b7edf6e71_0_109"/>
          <p:cNvGrpSpPr/>
          <p:nvPr/>
        </p:nvGrpSpPr>
        <p:grpSpPr>
          <a:xfrm>
            <a:off x="867357" y="2129450"/>
            <a:ext cx="7282807" cy="2686611"/>
            <a:chOff x="867357" y="2129450"/>
            <a:chExt cx="7282807" cy="2686611"/>
          </a:xfrm>
        </p:grpSpPr>
        <p:pic>
          <p:nvPicPr>
            <p:cNvPr id="782" name="Google Shape;78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2" name="Google Shape;802;g26b7edf6e71_0_26"/>
          <p:cNvPicPr preferRelativeResize="0"/>
          <p:nvPr/>
        </p:nvPicPr>
        <p:blipFill rotWithShape="1">
          <a:blip r:embed="rId3">
            <a:alphaModFix/>
          </a:blip>
          <a:srcRect l="79" r="79"/>
          <a:stretch/>
        </p:blipFill>
        <p:spPr>
          <a:xfrm>
            <a:off x="1438862" y="2129450"/>
            <a:ext cx="1141732" cy="1616070"/>
          </a:xfrm>
          <a:prstGeom prst="rect">
            <a:avLst/>
          </a:prstGeom>
          <a:noFill/>
          <a:ln>
            <a:noFill/>
          </a:ln>
          <a:effectLst>
            <a:outerShdw blurRad="71438" dist="28575" dir="5400000" algn="bl" rotWithShape="0">
              <a:srgbClr val="000000">
                <a:alpha val="15294"/>
              </a:srgbClr>
            </a:outerShdw>
          </a:effectLst>
        </p:spPr>
      </p:pic>
      <p:pic>
        <p:nvPicPr>
          <p:cNvPr id="803" name="Google Shape;803;g26b7edf6e71_0_26"/>
          <p:cNvPicPr preferRelativeResize="0"/>
          <p:nvPr/>
        </p:nvPicPr>
        <p:blipFill rotWithShape="1">
          <a:blip r:embed="rId4">
            <a:alphaModFix/>
          </a:blip>
          <a:srcRect l="79" r="79"/>
          <a:stretch/>
        </p:blipFill>
        <p:spPr>
          <a:xfrm>
            <a:off x="5282269" y="2129450"/>
            <a:ext cx="1141734" cy="1616070"/>
          </a:xfrm>
          <a:prstGeom prst="rect">
            <a:avLst/>
          </a:prstGeom>
          <a:noFill/>
          <a:ln>
            <a:noFill/>
          </a:ln>
          <a:effectLst>
            <a:outerShdw blurRad="71438" dist="28575" dir="5400000" algn="bl" rotWithShape="0">
              <a:srgbClr val="000000">
                <a:alpha val="15294"/>
              </a:srgbClr>
            </a:outerShdw>
          </a:effectLst>
        </p:spPr>
      </p:pic>
      <p:pic>
        <p:nvPicPr>
          <p:cNvPr id="804" name="Google Shape;804;g26b7edf6e71_0_26"/>
          <p:cNvPicPr preferRelativeResize="0"/>
          <p:nvPr/>
        </p:nvPicPr>
        <p:blipFill rotWithShape="1">
          <a:blip r:embed="rId5">
            <a:alphaModFix/>
          </a:blip>
          <a:srcRect l="79" r="79"/>
          <a:stretch/>
        </p:blipFill>
        <p:spPr>
          <a:xfrm>
            <a:off x="2719997" y="2129450"/>
            <a:ext cx="1141734" cy="1616070"/>
          </a:xfrm>
          <a:prstGeom prst="rect">
            <a:avLst/>
          </a:prstGeom>
          <a:noFill/>
          <a:ln>
            <a:noFill/>
          </a:ln>
          <a:effectLst>
            <a:outerShdw blurRad="71438" dist="28575" dir="5400000" algn="bl" rotWithShape="0">
              <a:srgbClr val="000000">
                <a:alpha val="15294"/>
              </a:srgbClr>
            </a:outerShdw>
          </a:effectLst>
        </p:spPr>
      </p:pic>
      <p:pic>
        <p:nvPicPr>
          <p:cNvPr id="805" name="Google Shape;805;g26b7edf6e71_0_26"/>
          <p:cNvPicPr preferRelativeResize="0"/>
          <p:nvPr/>
        </p:nvPicPr>
        <p:blipFill rotWithShape="1">
          <a:blip r:embed="rId6">
            <a:alphaModFix/>
          </a:blip>
          <a:srcRect l="19" r="29"/>
          <a:stretch/>
        </p:blipFill>
        <p:spPr>
          <a:xfrm>
            <a:off x="4001134" y="2129450"/>
            <a:ext cx="1141734" cy="1616072"/>
          </a:xfrm>
          <a:prstGeom prst="rect">
            <a:avLst/>
          </a:prstGeom>
          <a:noFill/>
          <a:ln>
            <a:noFill/>
          </a:ln>
          <a:effectLst>
            <a:outerShdw blurRad="71438" dist="28575" dir="5400000" algn="bl" rotWithShape="0">
              <a:srgbClr val="000000">
                <a:alpha val="15294"/>
              </a:srgbClr>
            </a:outerShdw>
          </a:effectLst>
        </p:spPr>
      </p:pic>
      <p:pic>
        <p:nvPicPr>
          <p:cNvPr id="806" name="Google Shape;806;g26b7edf6e71_0_26"/>
          <p:cNvPicPr preferRelativeResize="0"/>
          <p:nvPr/>
        </p:nvPicPr>
        <p:blipFill rotWithShape="1">
          <a:blip r:embed="rId7">
            <a:alphaModFix/>
          </a:blip>
          <a:srcRect l="19" r="29"/>
          <a:stretch/>
        </p:blipFill>
        <p:spPr>
          <a:xfrm>
            <a:off x="6563404" y="2129450"/>
            <a:ext cx="1141734" cy="1616072"/>
          </a:xfrm>
          <a:prstGeom prst="rect">
            <a:avLst/>
          </a:prstGeom>
          <a:noFill/>
          <a:ln>
            <a:noFill/>
          </a:ln>
          <a:effectLst>
            <a:outerShdw blurRad="71438" dist="28575" dir="5400000" algn="bl" rotWithShape="0">
              <a:srgbClr val="000000">
                <a:alpha val="15294"/>
              </a:srgbClr>
            </a:outerShdw>
          </a:effectLst>
        </p:spPr>
      </p:pic>
      <p:pic>
        <p:nvPicPr>
          <p:cNvPr id="807" name="Google Shape;807;g26b7edf6e71_0_26"/>
          <p:cNvPicPr preferRelativeResize="0"/>
          <p:nvPr/>
        </p:nvPicPr>
        <p:blipFill rotWithShape="1">
          <a:blip r:embed="rId8">
            <a:alphaModFix/>
          </a:blip>
          <a:srcRect l="79" r="79"/>
          <a:stretch/>
        </p:blipFill>
        <p:spPr>
          <a:xfrm>
            <a:off x="4001132" y="3897178"/>
            <a:ext cx="1141732" cy="1616070"/>
          </a:xfrm>
          <a:prstGeom prst="rect">
            <a:avLst/>
          </a:prstGeom>
          <a:noFill/>
          <a:ln>
            <a:noFill/>
          </a:ln>
          <a:effectLst>
            <a:outerShdw blurRad="71438" dist="28575" dir="5400000" algn="bl" rotWithShape="0">
              <a:srgbClr val="000000">
                <a:alpha val="15294"/>
              </a:srgbClr>
            </a:outerShdw>
          </a:effectLst>
        </p:spPr>
      </p:pic>
      <p:pic>
        <p:nvPicPr>
          <p:cNvPr id="808" name="Google Shape;808;g26b7edf6e71_0_26"/>
          <p:cNvPicPr preferRelativeResize="0"/>
          <p:nvPr/>
        </p:nvPicPr>
        <p:blipFill rotWithShape="1">
          <a:blip r:embed="rId9">
            <a:alphaModFix/>
          </a:blip>
          <a:srcRect l="79" r="79"/>
          <a:stretch/>
        </p:blipFill>
        <p:spPr>
          <a:xfrm>
            <a:off x="1438862" y="3897178"/>
            <a:ext cx="1141732" cy="1616070"/>
          </a:xfrm>
          <a:prstGeom prst="rect">
            <a:avLst/>
          </a:prstGeom>
          <a:noFill/>
          <a:ln>
            <a:noFill/>
          </a:ln>
          <a:effectLst>
            <a:outerShdw blurRad="71438" dist="28575" dir="5400000" algn="bl" rotWithShape="0">
              <a:srgbClr val="000000">
                <a:alpha val="15294"/>
              </a:srgbClr>
            </a:outerShdw>
          </a:effectLst>
        </p:spPr>
      </p:pic>
      <p:pic>
        <p:nvPicPr>
          <p:cNvPr id="809" name="Google Shape;809;g26b7edf6e71_0_26"/>
          <p:cNvPicPr preferRelativeResize="0"/>
          <p:nvPr/>
        </p:nvPicPr>
        <p:blipFill rotWithShape="1">
          <a:blip r:embed="rId10">
            <a:alphaModFix/>
          </a:blip>
          <a:srcRect l="79" r="79"/>
          <a:stretch/>
        </p:blipFill>
        <p:spPr>
          <a:xfrm>
            <a:off x="2719997" y="3897178"/>
            <a:ext cx="1141732" cy="1616070"/>
          </a:xfrm>
          <a:prstGeom prst="rect">
            <a:avLst/>
          </a:prstGeom>
          <a:noFill/>
          <a:ln>
            <a:noFill/>
          </a:ln>
          <a:effectLst>
            <a:outerShdw blurRad="71438" dist="28575" dir="5400000" algn="bl" rotWithShape="0">
              <a:srgbClr val="000000">
                <a:alpha val="15294"/>
              </a:srgbClr>
            </a:outerShdw>
          </a:effectLst>
        </p:spPr>
      </p:pic>
      <p:pic>
        <p:nvPicPr>
          <p:cNvPr id="810" name="Google Shape;810;g26b7edf6e71_0_26"/>
          <p:cNvPicPr preferRelativeResize="0"/>
          <p:nvPr/>
        </p:nvPicPr>
        <p:blipFill rotWithShape="1">
          <a:blip r:embed="rId11">
            <a:alphaModFix/>
          </a:blip>
          <a:srcRect l="19" r="29"/>
          <a:stretch/>
        </p:blipFill>
        <p:spPr>
          <a:xfrm>
            <a:off x="5282262" y="3897178"/>
            <a:ext cx="1141732" cy="1616072"/>
          </a:xfrm>
          <a:prstGeom prst="rect">
            <a:avLst/>
          </a:prstGeom>
          <a:noFill/>
          <a:ln>
            <a:noFill/>
          </a:ln>
          <a:effectLst>
            <a:outerShdw blurRad="71438" dist="28575" dir="5400000" algn="bl" rotWithShape="0">
              <a:srgbClr val="000000">
                <a:alpha val="15294"/>
              </a:srgbClr>
            </a:outerShdw>
          </a:effectLst>
        </p:spPr>
      </p:pic>
      <p:pic>
        <p:nvPicPr>
          <p:cNvPr id="811" name="Google Shape;811;g26b7edf6e71_0_26"/>
          <p:cNvPicPr preferRelativeResize="0"/>
          <p:nvPr/>
        </p:nvPicPr>
        <p:blipFill rotWithShape="1">
          <a:blip r:embed="rId12">
            <a:alphaModFix/>
          </a:blip>
          <a:srcRect l="79" r="79"/>
          <a:stretch/>
        </p:blipFill>
        <p:spPr>
          <a:xfrm>
            <a:off x="6563385" y="3897178"/>
            <a:ext cx="1141732" cy="1616070"/>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d06125dc48_0_780"/>
          <p:cNvSpPr txBox="1">
            <a:spLocks noGrp="1"/>
          </p:cNvSpPr>
          <p:nvPr>
            <p:ph type="title"/>
          </p:nvPr>
        </p:nvSpPr>
        <p:spPr>
          <a:xfrm>
            <a:off x="983250" y="5568500"/>
            <a:ext cx="7177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18" name="Google Shape;818;g2d06125dc48_0_7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819" name="Google Shape;819;g2d06125dc48_0_780"/>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820" name="Google Shape;820;g2d06125dc48_0_7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g31a1c2492d3_0_62"/>
          <p:cNvSpPr txBox="1">
            <a:spLocks noGrp="1"/>
          </p:cNvSpPr>
          <p:nvPr>
            <p:ph type="title"/>
          </p:nvPr>
        </p:nvSpPr>
        <p:spPr>
          <a:xfrm>
            <a:off x="983250" y="5568500"/>
            <a:ext cx="7177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27" name="Google Shape;827;g31a1c2492d3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828" name="Google Shape;828;g31a1c2492d3_0_6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829" name="Google Shape;829;g31a1c2492d3_0_6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d06125dc48_0_1556"/>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36" name="Google Shape;836;g2d06125dc48_0_15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837" name="Google Shape;837;g2d06125dc48_0_15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8" name="Google Shape;838;g2d06125dc48_0_1556"/>
          <p:cNvPicPr preferRelativeResize="0"/>
          <p:nvPr/>
        </p:nvPicPr>
        <p:blipFill rotWithShape="1">
          <a:blip r:embed="rId3">
            <a:alphaModFix/>
          </a:blip>
          <a:srcRect t="19" b="28"/>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pic>
        <p:nvPicPr>
          <p:cNvPr id="839" name="Google Shape;839;g2d06125dc48_0_1556"/>
          <p:cNvPicPr preferRelativeResize="0"/>
          <p:nvPr/>
        </p:nvPicPr>
        <p:blipFill rotWithShape="1">
          <a:blip r:embed="rId4">
            <a:alphaModFix amt="45000"/>
          </a:blip>
          <a:srcRect t="19" b="29"/>
          <a:stretch/>
        </p:blipFill>
        <p:spPr>
          <a:xfrm>
            <a:off x="2122875" y="1417100"/>
            <a:ext cx="4898249" cy="3500450"/>
          </a:xfrm>
          <a:prstGeom prst="rect">
            <a:avLst/>
          </a:prstGeom>
          <a:noFill/>
          <a:ln>
            <a:noFill/>
          </a:ln>
        </p:spPr>
      </p:pic>
      <p:cxnSp>
        <p:nvCxnSpPr>
          <p:cNvPr id="840" name="Google Shape;840;g2d06125dc48_0_1556"/>
          <p:cNvCxnSpPr/>
          <p:nvPr/>
        </p:nvCxnSpPr>
        <p:spPr>
          <a:xfrm>
            <a:off x="4363200" y="1168400"/>
            <a:ext cx="0" cy="611700"/>
          </a:xfrm>
          <a:prstGeom prst="straightConnector1">
            <a:avLst/>
          </a:prstGeom>
          <a:noFill/>
          <a:ln w="76200" cap="flat" cmpd="sng">
            <a:solidFill>
              <a:srgbClr val="C2EDFF"/>
            </a:solidFill>
            <a:prstDash val="solid"/>
            <a:miter lim="800000"/>
            <a:headEnd type="none" w="sm" len="sm"/>
            <a:tailEnd type="stealth" w="sm" len="sm"/>
          </a:ln>
        </p:spPr>
      </p:cxnSp>
      <p:sp>
        <p:nvSpPr>
          <p:cNvPr id="841" name="Google Shape;841;g2d06125dc48_0_1556"/>
          <p:cNvSpPr txBox="1">
            <a:spLocks noGrp="1"/>
          </p:cNvSpPr>
          <p:nvPr>
            <p:ph type="subTitle" idx="1"/>
          </p:nvPr>
        </p:nvSpPr>
        <p:spPr>
          <a:xfrm>
            <a:off x="1174675" y="774600"/>
            <a:ext cx="67947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65"/>
              <a:buNone/>
            </a:pPr>
            <a:r>
              <a:rPr lang="en-US" sz="1500"/>
              <a:t>This part is tricky because the letter is making a different sound.</a:t>
            </a:r>
            <a:endParaRPr sz="1500"/>
          </a:p>
        </p:txBody>
      </p:sp>
      <p:sp>
        <p:nvSpPr>
          <p:cNvPr id="842" name="Google Shape;842;g2d06125dc48_0_1556"/>
          <p:cNvSpPr txBox="1">
            <a:spLocks noGrp="1"/>
          </p:cNvSpPr>
          <p:nvPr>
            <p:ph type="subTitle" idx="1"/>
          </p:nvPr>
        </p:nvSpPr>
        <p:spPr>
          <a:xfrm>
            <a:off x="1360463" y="51324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65"/>
              <a:buNone/>
            </a:pPr>
            <a:r>
              <a:rPr lang="en-US" sz="1500"/>
              <a:t>Try saying the word aloud, then spelling it on a phoneme frame</a:t>
            </a:r>
            <a:endParaRPr sz="1500"/>
          </a:p>
        </p:txBody>
      </p:sp>
      <p:pic>
        <p:nvPicPr>
          <p:cNvPr id="843" name="Google Shape;843;g2d06125dc48_0_1556"/>
          <p:cNvPicPr preferRelativeResize="0"/>
          <p:nvPr/>
        </p:nvPicPr>
        <p:blipFill rotWithShape="1">
          <a:blip r:embed="rId4">
            <a:alphaModFix amt="99000"/>
          </a:blip>
          <a:srcRect l="22258" t="15789" r="33499" b="15796"/>
          <a:stretch/>
        </p:blipFill>
        <p:spPr>
          <a:xfrm>
            <a:off x="3212925" y="1969325"/>
            <a:ext cx="2167000" cy="2396000"/>
          </a:xfrm>
          <a:prstGeom prst="rect">
            <a:avLst/>
          </a:prstGeom>
          <a:noFill/>
          <a:ln>
            <a:noFill/>
          </a:ln>
        </p:spPr>
      </p:pic>
      <p:sp>
        <p:nvSpPr>
          <p:cNvPr id="844" name="Google Shape;844;g2d06125dc48_0_1556"/>
          <p:cNvSpPr/>
          <p:nvPr/>
        </p:nvSpPr>
        <p:spPr>
          <a:xfrm>
            <a:off x="3025350" y="1922625"/>
            <a:ext cx="2675700" cy="2675700"/>
          </a:xfrm>
          <a:prstGeom prst="ellipse">
            <a:avLst/>
          </a:prstGeom>
          <a:noFill/>
          <a:ln w="762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grpSp>
        <p:nvGrpSpPr>
          <p:cNvPr id="850" name="Google Shape;850;g2d06125dc48_0_1577"/>
          <p:cNvGrpSpPr/>
          <p:nvPr/>
        </p:nvGrpSpPr>
        <p:grpSpPr>
          <a:xfrm>
            <a:off x="1562585" y="3625625"/>
            <a:ext cx="6019129" cy="1828800"/>
            <a:chOff x="1828800" y="3625614"/>
            <a:chExt cx="5486400" cy="1828800"/>
          </a:xfrm>
        </p:grpSpPr>
        <p:cxnSp>
          <p:nvCxnSpPr>
            <p:cNvPr id="851" name="Google Shape;851;g2d06125dc48_0_1577"/>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852" name="Google Shape;852;g2d06125dc48_0_1577"/>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853" name="Google Shape;853;g2d06125dc48_0_1577"/>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854" name="Google Shape;854;g2d06125dc48_0_1577"/>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855" name="Google Shape;855;g2d06125dc48_0_1577"/>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d06125dc48_0_1577"/>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7" name="Google Shape;857;g2d06125dc48_0_1577"/>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58" name="Google Shape;858;g2d06125dc48_0_157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859" name="Google Shape;859;g2d06125dc48_0_1577"/>
          <p:cNvSpPr txBox="1">
            <a:spLocks noGrp="1"/>
          </p:cNvSpPr>
          <p:nvPr>
            <p:ph type="title"/>
          </p:nvPr>
        </p:nvSpPr>
        <p:spPr>
          <a:xfrm>
            <a:off x="713875" y="5568500"/>
            <a:ext cx="7716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240"/>
              <a:buNone/>
            </a:pPr>
            <a:r>
              <a:rPr lang="en-US" sz="2600"/>
              <a:t>Practise Building Common Exception Words</a:t>
            </a:r>
            <a:endParaRPr sz="2600"/>
          </a:p>
        </p:txBody>
      </p:sp>
      <p:grpSp>
        <p:nvGrpSpPr>
          <p:cNvPr id="860" name="Google Shape;860;g2d06125dc48_0_1577"/>
          <p:cNvGrpSpPr/>
          <p:nvPr/>
        </p:nvGrpSpPr>
        <p:grpSpPr>
          <a:xfrm>
            <a:off x="3024000" y="209875"/>
            <a:ext cx="3096000" cy="454800"/>
            <a:chOff x="3024000" y="209875"/>
            <a:chExt cx="3096000" cy="454800"/>
          </a:xfrm>
        </p:grpSpPr>
        <p:sp>
          <p:nvSpPr>
            <p:cNvPr id="861" name="Google Shape;861;g2d06125dc48_0_157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2" name="Google Shape;862;g2d06125dc48_0_157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63" name="Google Shape;863;g2d06125dc48_0_1577"/>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64" name="Google Shape;864;g2d06125dc48_0_1577"/>
          <p:cNvSpPr txBox="1"/>
          <p:nvPr/>
        </p:nvSpPr>
        <p:spPr>
          <a:xfrm>
            <a:off x="229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11E26"/>
                </a:solidFill>
                <a:latin typeface="Jost"/>
                <a:ea typeface="Jost"/>
                <a:cs typeface="Jost"/>
                <a:sym typeface="Jost"/>
              </a:rPr>
              <a:t>u</a:t>
            </a:r>
            <a:endParaRPr sz="8000" b="0" i="0" u="none" strike="noStrike" cap="none">
              <a:solidFill>
                <a:srgbClr val="E11E26"/>
              </a:solidFill>
              <a:latin typeface="Jost"/>
              <a:ea typeface="Jost"/>
              <a:cs typeface="Jost"/>
              <a:sym typeface="Jost"/>
            </a:endParaRPr>
          </a:p>
        </p:txBody>
      </p:sp>
      <p:sp>
        <p:nvSpPr>
          <p:cNvPr id="865" name="Google Shape;865;g2d06125dc48_0_1577"/>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sh</a:t>
            </a:r>
            <a:endParaRPr sz="8000" b="0" i="0" u="none" strike="noStrike" cap="none">
              <a:solidFill>
                <a:srgbClr val="FFD400"/>
              </a:solidFill>
              <a:latin typeface="Jost"/>
              <a:ea typeface="Jost"/>
              <a:cs typeface="Jost"/>
              <a:sym typeface="Jost"/>
            </a:endParaRPr>
          </a:p>
        </p:txBody>
      </p:sp>
      <p:sp>
        <p:nvSpPr>
          <p:cNvPr id="866" name="Google Shape;866;g2d06125dc48_0_1577"/>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867" name="Google Shape;867;g2d06125dc48_0_1577"/>
          <p:cNvSpPr txBox="1"/>
          <p:nvPr/>
        </p:nvSpPr>
        <p:spPr>
          <a:xfrm>
            <a:off x="3403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868" name="Google Shape;868;g2d06125dc48_0_1577"/>
          <p:cNvSpPr txBox="1"/>
          <p:nvPr/>
        </p:nvSpPr>
        <p:spPr>
          <a:xfrm>
            <a:off x="562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ll</a:t>
            </a:r>
            <a:endParaRPr sz="8000" b="0" i="0" u="none" strike="noStrike" cap="none">
              <a:solidFill>
                <a:srgbClr val="FFD400"/>
              </a:solidFill>
              <a:latin typeface="Jost"/>
              <a:ea typeface="Jost"/>
              <a:cs typeface="Jost"/>
              <a:sym typeface="Jost"/>
            </a:endParaRPr>
          </a:p>
        </p:txBody>
      </p:sp>
      <p:sp>
        <p:nvSpPr>
          <p:cNvPr id="869" name="Google Shape;869;g2d06125dc48_0_1577"/>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0" name="Google Shape;870;g2d06125dc48_0_1577"/>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1" name="Google Shape;871;g2d06125dc48_0_1577"/>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2" name="Google Shape;872;g2d06125dc48_0_1577"/>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73" name="Google Shape;873;g2d06125dc48_0_1577"/>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74" name="Google Shape;874;g2d06125dc48_0_1577"/>
          <p:cNvGrpSpPr/>
          <p:nvPr/>
        </p:nvGrpSpPr>
        <p:grpSpPr>
          <a:xfrm>
            <a:off x="1403031" y="6958923"/>
            <a:ext cx="6774848" cy="1291477"/>
            <a:chOff x="717231" y="7263723"/>
            <a:chExt cx="6774848" cy="1291477"/>
          </a:xfrm>
        </p:grpSpPr>
        <p:sp>
          <p:nvSpPr>
            <p:cNvPr id="875" name="Google Shape;875;g2d06125dc48_0_1577"/>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000000"/>
                  </a:solidFill>
                  <a:latin typeface="Poppins"/>
                  <a:ea typeface="Poppins"/>
                  <a:cs typeface="Poppins"/>
                  <a:sym typeface="Poppins"/>
                </a:rPr>
                <a:t>Sound Buttons</a:t>
              </a:r>
              <a:endParaRPr sz="2000" b="0" i="0" u="none" strike="noStrike" cap="none">
                <a:solidFill>
                  <a:srgbClr val="000000"/>
                </a:solidFill>
                <a:latin typeface="Poppins"/>
                <a:ea typeface="Poppins"/>
                <a:cs typeface="Poppins"/>
                <a:sym typeface="Poppins"/>
              </a:endParaRPr>
            </a:p>
          </p:txBody>
        </p:sp>
        <p:sp>
          <p:nvSpPr>
            <p:cNvPr id="876" name="Google Shape;876;g2d06125dc48_0_1577"/>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7" name="Google Shape;877;g2d06125dc48_0_1577"/>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8" name="Google Shape;878;g2d06125dc48_0_1577"/>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9" name="Google Shape;879;g2d06125dc48_0_1577"/>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0" name="Google Shape;880;g2d06125dc48_0_1577"/>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1" name="Google Shape;881;g2d06125dc48_0_1577"/>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2" name="Google Shape;882;g2d06125dc48_0_1577"/>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3" name="Google Shape;883;g2d06125dc48_0_1577"/>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4" name="Google Shape;884;g2d06125dc48_0_1577"/>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d06125dc48_0_1577"/>
          <p:cNvSpPr txBox="1"/>
          <p:nvPr/>
        </p:nvSpPr>
        <p:spPr>
          <a:xfrm>
            <a:off x="45147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f</a:t>
            </a:r>
            <a:endParaRPr sz="8000" b="0" i="0" u="none" strike="noStrike" cap="none">
              <a:solidFill>
                <a:srgbClr val="2356AF"/>
              </a:solidFill>
              <a:latin typeface="Jost"/>
              <a:ea typeface="Jost"/>
              <a:cs typeface="Jost"/>
              <a:sym typeface="Jost"/>
            </a:endParaRPr>
          </a:p>
        </p:txBody>
      </p:sp>
      <p:cxnSp>
        <p:nvCxnSpPr>
          <p:cNvPr id="886" name="Google Shape;886;g2d06125dc48_0_1577"/>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grpSp>
        <p:nvGrpSpPr>
          <p:cNvPr id="892" name="Google Shape;892;g2d06125dc48_0_2379"/>
          <p:cNvGrpSpPr/>
          <p:nvPr/>
        </p:nvGrpSpPr>
        <p:grpSpPr>
          <a:xfrm>
            <a:off x="1562585" y="3625625"/>
            <a:ext cx="6019129" cy="1828800"/>
            <a:chOff x="1828800" y="3625614"/>
            <a:chExt cx="5486400" cy="1828800"/>
          </a:xfrm>
        </p:grpSpPr>
        <p:cxnSp>
          <p:nvCxnSpPr>
            <p:cNvPr id="893" name="Google Shape;893;g2d06125dc48_0_2379"/>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894" name="Google Shape;894;g2d06125dc48_0_2379"/>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895" name="Google Shape;895;g2d06125dc48_0_2379"/>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896" name="Google Shape;896;g2d06125dc48_0_2379"/>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897" name="Google Shape;897;g2d06125dc48_0_2379"/>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2d06125dc48_0_2379"/>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2d06125dc48_0_2379"/>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00" name="Google Shape;900;g2d06125dc48_0_23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cxnSp>
        <p:nvCxnSpPr>
          <p:cNvPr id="901" name="Google Shape;901;g2d06125dc48_0_2379"/>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02" name="Google Shape;902;g2d06125dc48_0_2379"/>
          <p:cNvGrpSpPr/>
          <p:nvPr/>
        </p:nvGrpSpPr>
        <p:grpSpPr>
          <a:xfrm>
            <a:off x="3024000" y="209875"/>
            <a:ext cx="3096000" cy="454800"/>
            <a:chOff x="3024000" y="209875"/>
            <a:chExt cx="3096000" cy="454800"/>
          </a:xfrm>
        </p:grpSpPr>
        <p:sp>
          <p:nvSpPr>
            <p:cNvPr id="903" name="Google Shape;903;g2d06125dc48_0_237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d06125dc48_0_237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05" name="Google Shape;905;g2d06125dc48_0_237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06" name="Google Shape;906;g2d06125dc48_0_2379"/>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put pull full push</a:t>
            </a:r>
            <a:endParaRPr sz="1800" b="0" i="0" u="none" strike="noStrike" cap="none">
              <a:solidFill>
                <a:srgbClr val="B7B7B7"/>
              </a:solidFill>
              <a:latin typeface="Jost"/>
              <a:ea typeface="Jost"/>
              <a:cs typeface="Jost"/>
              <a:sym typeface="Jost"/>
            </a:endParaRPr>
          </a:p>
        </p:txBody>
      </p:sp>
      <p:sp>
        <p:nvSpPr>
          <p:cNvPr id="907" name="Google Shape;907;g2d06125dc48_0_2379"/>
          <p:cNvSpPr txBox="1"/>
          <p:nvPr/>
        </p:nvSpPr>
        <p:spPr>
          <a:xfrm>
            <a:off x="229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11E26"/>
                </a:solidFill>
                <a:latin typeface="Jost"/>
                <a:ea typeface="Jost"/>
                <a:cs typeface="Jost"/>
                <a:sym typeface="Jost"/>
              </a:rPr>
              <a:t>u</a:t>
            </a:r>
            <a:endParaRPr sz="8000" b="0" i="0" u="none" strike="noStrike" cap="none">
              <a:solidFill>
                <a:srgbClr val="E11E26"/>
              </a:solidFill>
              <a:latin typeface="Jost"/>
              <a:ea typeface="Jost"/>
              <a:cs typeface="Jost"/>
              <a:sym typeface="Jost"/>
            </a:endParaRPr>
          </a:p>
        </p:txBody>
      </p:sp>
      <p:sp>
        <p:nvSpPr>
          <p:cNvPr id="908" name="Google Shape;908;g2d06125dc48_0_2379"/>
          <p:cNvSpPr txBox="1"/>
          <p:nvPr/>
        </p:nvSpPr>
        <p:spPr>
          <a:xfrm>
            <a:off x="6737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sh</a:t>
            </a:r>
            <a:endParaRPr sz="8000" b="0" i="0" u="none" strike="noStrike" cap="none">
              <a:solidFill>
                <a:srgbClr val="FFD400"/>
              </a:solidFill>
              <a:latin typeface="Jost"/>
              <a:ea typeface="Jost"/>
              <a:cs typeface="Jost"/>
              <a:sym typeface="Jost"/>
            </a:endParaRPr>
          </a:p>
        </p:txBody>
      </p:sp>
      <p:sp>
        <p:nvSpPr>
          <p:cNvPr id="909" name="Google Shape;909;g2d06125dc48_0_2379"/>
          <p:cNvSpPr txBox="1"/>
          <p:nvPr/>
        </p:nvSpPr>
        <p:spPr>
          <a:xfrm>
            <a:off x="11811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10" name="Google Shape;910;g2d06125dc48_0_2379"/>
          <p:cNvSpPr txBox="1"/>
          <p:nvPr/>
        </p:nvSpPr>
        <p:spPr>
          <a:xfrm>
            <a:off x="3403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11" name="Google Shape;911;g2d06125dc48_0_2379"/>
          <p:cNvSpPr txBox="1"/>
          <p:nvPr/>
        </p:nvSpPr>
        <p:spPr>
          <a:xfrm>
            <a:off x="562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FFD400"/>
                </a:solidFill>
                <a:latin typeface="Jost"/>
                <a:ea typeface="Jost"/>
                <a:cs typeface="Jost"/>
                <a:sym typeface="Jost"/>
              </a:rPr>
              <a:t>ll</a:t>
            </a:r>
            <a:endParaRPr sz="8000" b="0" i="0" u="none" strike="noStrike" cap="none">
              <a:solidFill>
                <a:srgbClr val="FFD400"/>
              </a:solidFill>
              <a:latin typeface="Jost"/>
              <a:ea typeface="Jost"/>
              <a:cs typeface="Jost"/>
              <a:sym typeface="Jost"/>
            </a:endParaRPr>
          </a:p>
        </p:txBody>
      </p:sp>
      <p:cxnSp>
        <p:nvCxnSpPr>
          <p:cNvPr id="912" name="Google Shape;912;g2d06125dc48_0_2379"/>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13" name="Google Shape;913;g2d06125dc48_0_2379"/>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4" name="Google Shape;914;g2d06125dc48_0_2379"/>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5" name="Google Shape;915;g2d06125dc48_0_2379"/>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6" name="Google Shape;916;g2d06125dc48_0_2379"/>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7" name="Google Shape;917;g2d06125dc48_0_2379"/>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918" name="Google Shape;918;g2d06125dc48_0_2379"/>
          <p:cNvGrpSpPr/>
          <p:nvPr/>
        </p:nvGrpSpPr>
        <p:grpSpPr>
          <a:xfrm>
            <a:off x="1403031" y="6958923"/>
            <a:ext cx="6774848" cy="1291477"/>
            <a:chOff x="717231" y="7263723"/>
            <a:chExt cx="6774848" cy="1291477"/>
          </a:xfrm>
        </p:grpSpPr>
        <p:sp>
          <p:nvSpPr>
            <p:cNvPr id="919" name="Google Shape;919;g2d06125dc48_0_2379"/>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000000"/>
                  </a:solidFill>
                  <a:latin typeface="Poppins"/>
                  <a:ea typeface="Poppins"/>
                  <a:cs typeface="Poppins"/>
                  <a:sym typeface="Poppins"/>
                </a:rPr>
                <a:t>Sound Buttons</a:t>
              </a:r>
              <a:endParaRPr sz="2000" b="0" i="0" u="none" strike="noStrike" cap="none">
                <a:solidFill>
                  <a:srgbClr val="000000"/>
                </a:solidFill>
                <a:latin typeface="Poppins"/>
                <a:ea typeface="Poppins"/>
                <a:cs typeface="Poppins"/>
                <a:sym typeface="Poppins"/>
              </a:endParaRPr>
            </a:p>
          </p:txBody>
        </p:sp>
        <p:sp>
          <p:nvSpPr>
            <p:cNvPr id="920" name="Google Shape;920;g2d06125dc48_0_2379"/>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1" name="Google Shape;921;g2d06125dc48_0_2379"/>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2" name="Google Shape;922;g2d06125dc48_0_2379"/>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3" name="Google Shape;923;g2d06125dc48_0_2379"/>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4" name="Google Shape;924;g2d06125dc48_0_2379"/>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5" name="Google Shape;925;g2d06125dc48_0_2379"/>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6" name="Google Shape;926;g2d06125dc48_0_2379"/>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7" name="Google Shape;927;g2d06125dc48_0_2379"/>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d06125dc48_0_2379"/>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d06125dc48_0_2379"/>
          <p:cNvSpPr txBox="1"/>
          <p:nvPr/>
        </p:nvSpPr>
        <p:spPr>
          <a:xfrm>
            <a:off x="45147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f</a:t>
            </a:r>
            <a:endParaRPr sz="8000" b="0" i="0" u="none" strike="noStrike" cap="none">
              <a:solidFill>
                <a:srgbClr val="2356AF"/>
              </a:solidFill>
              <a:latin typeface="Jost"/>
              <a:ea typeface="Jost"/>
              <a:cs typeface="Jost"/>
              <a:sym typeface="Jost"/>
            </a:endParaRPr>
          </a:p>
        </p:txBody>
      </p:sp>
      <p:sp>
        <p:nvSpPr>
          <p:cNvPr id="930" name="Google Shape;930;g2d06125dc48_0_2379"/>
          <p:cNvSpPr txBox="1">
            <a:spLocks noGrp="1"/>
          </p:cNvSpPr>
          <p:nvPr>
            <p:ph type="title"/>
          </p:nvPr>
        </p:nvSpPr>
        <p:spPr>
          <a:xfrm>
            <a:off x="713875" y="5568500"/>
            <a:ext cx="7716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240"/>
              <a:buNone/>
            </a:pPr>
            <a:r>
              <a:rPr lang="en-US" sz="2600"/>
              <a:t>Practise Building Common Exception Words</a:t>
            </a:r>
            <a:endParaRPr sz="26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246</Words>
  <Application>Microsoft Office PowerPoint</Application>
  <PresentationFormat>On-screen Show (4:3)</PresentationFormat>
  <Paragraphs>96</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Poppins Medium</vt:lpstr>
      <vt:lpstr>Poppins SemiBold</vt:lpstr>
      <vt:lpstr>Mulish</vt:lpstr>
      <vt:lpstr>Nunito Black</vt:lpstr>
      <vt:lpstr>Poppins</vt:lpstr>
      <vt:lpstr>Calibri</vt:lpstr>
      <vt:lpstr>Jost</vt:lpstr>
      <vt:lpstr>Arial</vt:lpstr>
      <vt:lpstr>Office Theme</vt:lpstr>
      <vt:lpstr>PowerPoint Presentation</vt:lpstr>
      <vt:lpstr>PowerPoint Presentation</vt:lpstr>
      <vt:lpstr>Recall all GPCs learned so far using flashcards.</vt:lpstr>
      <vt:lpstr>Review Phase 2 Common Exception Words  as I is no go to into the put his has of pull full.</vt:lpstr>
      <vt:lpstr>Recall all GPCs learned so far using flashcards.</vt:lpstr>
      <vt:lpstr>Practise Common Exception Words</vt:lpstr>
      <vt:lpstr>Practise Common Exception Words</vt:lpstr>
      <vt:lpstr>Practise Common Exception Words</vt:lpstr>
      <vt:lpstr>Practise Building Common Exception Words</vt:lpstr>
      <vt:lpstr>Practise Building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2026-04-28T05:50:18Z</dcterms:modified>
</cp:coreProperties>
</file>