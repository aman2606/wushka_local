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embeddedFontLst>
    <p:embeddedFont>
      <p:font typeface="Jost" panose="020B0604020202020204" charset="0"/>
      <p:regular r:id="rId21"/>
      <p:bold r:id="rId22"/>
      <p:italic r:id="rId23"/>
      <p:boldItalic r:id="rId24"/>
    </p:embeddedFont>
    <p:embeddedFont>
      <p:font typeface="Jost Medium" panose="020B0604020202020204" charset="0"/>
      <p:regular r:id="rId25"/>
      <p:bold r:id="rId26"/>
      <p:italic r:id="rId27"/>
      <p:boldItalic r:id="rId28"/>
    </p:embeddedFont>
    <p:embeddedFont>
      <p:font typeface="Mulish"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hkweeCWHoBAwtUaRxs+IMcf+gXz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4AF5795-18F4-4D7F-921B-6DF01096DC50}">
  <a:tblStyle styleId="{F4AF5795-18F4-4D7F-921B-6DF01096DC50}"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94660"/>
  </p:normalViewPr>
  <p:slideViewPr>
    <p:cSldViewPr snapToGrid="0">
      <p:cViewPr varScale="1">
        <p:scale>
          <a:sx n="105" d="100"/>
          <a:sy n="105" d="100"/>
        </p:scale>
        <p:origin x="1836" y="-13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9.fntdata"/><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45" Type="http://schemas.openxmlformats.org/officeDocument/2006/relationships/font" Target="fonts/font25.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4" Type="http://schemas.openxmlformats.org/officeDocument/2006/relationships/font" Target="fonts/font2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font" Target="fonts/font23.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46" Type="http://schemas.openxmlformats.org/officeDocument/2006/relationships/font" Target="fonts/font26.fntdata"/><Relationship Id="rId20" Type="http://schemas.openxmlformats.org/officeDocument/2006/relationships/notesMaster" Target="notesMasters/notesMaster1.xml"/><Relationship Id="rId41" Type="http://schemas.openxmlformats.org/officeDocument/2006/relationships/font" Target="fonts/font21.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0" name="Google Shape;69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6" name="Google Shape;70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6" name="Google Shape;73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7" name="Google Shape;73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0" name="Google Shape;750;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0" name="Google Shape;770;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1" name="Google Shape;771;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c6753ba851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2c6753ba851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2c6753ba851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c6753ba851_0_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2c6753ba851_0_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g2c6753ba851_0_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2c6753ba851_0_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1" name="Google Shape;821;g2c6753ba851_0_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2" name="Google Shape;822;g2c6753ba851_0_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6753ba851_0_7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6753ba851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6753ba851_0_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8" name="Google Shape;848;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2c6753ba851_0_9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6" name="Google Shape;856;g2c6753ba851_0_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7" name="Google Shape;857;g2c6753ba851_0_9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c6753ba851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c6753ba851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c6753ba851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2c6753ba851_0_1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4" name="Google Shape;874;g2c6753ba851_0_1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g2c6753ba851_0_1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c6753ba851_0_18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g2c6753ba851_0_1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g2c6753ba851_0_1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4" name="Google Shape;904;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78175"/>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Alphabet</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3 - Monday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11</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6.png"/><Relationship Id="rId21" Type="http://schemas.openxmlformats.org/officeDocument/2006/relationships/image" Target="../media/image24.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8.png"/><Relationship Id="rId2" Type="http://schemas.openxmlformats.org/officeDocument/2006/relationships/notesSlide" Target="../notesSlides/notesSlide3.xml"/><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3.xml"/><Relationship Id="rId6" Type="http://schemas.openxmlformats.org/officeDocument/2006/relationships/image" Target="../media/image9.png"/><Relationship Id="rId11" Type="http://schemas.openxmlformats.org/officeDocument/2006/relationships/image" Target="../media/image14.png"/><Relationship Id="rId24" Type="http://schemas.openxmlformats.org/officeDocument/2006/relationships/image" Target="../media/image27.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s>
</file>

<file path=ppt/slides/_rels/slide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5.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notesSlide" Target="../notesSlides/notesSlide5.xml"/><Relationship Id="rId16" Type="http://schemas.openxmlformats.org/officeDocument/2006/relationships/image" Target="../media/image49.png"/><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1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25581"/>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2800"/>
              <a:t>Reviewing the Alphabet</a:t>
            </a:r>
            <a:endParaRPr sz="2800"/>
          </a:p>
        </p:txBody>
      </p:sp>
      <p:sp>
        <p:nvSpPr>
          <p:cNvPr id="683" name="Google Shape;683;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11</a:t>
            </a:r>
            <a:endParaRPr/>
          </a:p>
        </p:txBody>
      </p:sp>
      <p:graphicFrame>
        <p:nvGraphicFramePr>
          <p:cNvPr id="684" name="Google Shape;684;p1"/>
          <p:cNvGraphicFramePr/>
          <p:nvPr/>
        </p:nvGraphicFramePr>
        <p:xfrm>
          <a:off x="4844200" y="1891197"/>
          <a:ext cx="3784950" cy="1678950"/>
        </p:xfrm>
        <a:graphic>
          <a:graphicData uri="http://schemas.openxmlformats.org/drawingml/2006/table">
            <a:tbl>
              <a:tblPr firstRow="1" bandRow="1">
                <a:noFill/>
                <a:tableStyleId>{F4AF5795-18F4-4D7F-921B-6DF01096DC50}</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5" name="Google Shape;685;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686" name="Google Shape;686;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pic>
        <p:nvPicPr>
          <p:cNvPr id="687" name="Google Shape;687;p1"/>
          <p:cNvPicPr preferRelativeResize="0"/>
          <p:nvPr/>
        </p:nvPicPr>
        <p:blipFill rotWithShape="1">
          <a:blip r:embed="rId3">
            <a:alphaModFix/>
          </a:blip>
          <a:srcRect l="59" r="49"/>
          <a:stretch/>
        </p:blipFill>
        <p:spPr>
          <a:xfrm>
            <a:off x="3508750" y="3883400"/>
            <a:ext cx="5159900" cy="17328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the alphabet.</a:t>
            </a:r>
            <a:endParaRPr/>
          </a:p>
        </p:txBody>
      </p:sp>
      <p:sp>
        <p:nvSpPr>
          <p:cNvPr id="694" name="Google Shape;694;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endParaRPr/>
          </a:p>
          <a:p>
            <a:pPr marL="457200" lvl="0" indent="-330200" algn="l" rtl="0">
              <a:lnSpc>
                <a:spcPct val="100000"/>
              </a:lnSpc>
              <a:spcBef>
                <a:spcPts val="0"/>
              </a:spcBef>
              <a:spcAft>
                <a:spcPts val="0"/>
              </a:spcAft>
              <a:buSzPts val="1600"/>
              <a:buChar char="•"/>
            </a:pPr>
            <a:r>
              <a:rPr lang="en-US"/>
              <a:t>Review Vowel song.</a:t>
            </a:r>
            <a:endParaRPr/>
          </a:p>
        </p:txBody>
      </p:sp>
      <p:sp>
        <p:nvSpPr>
          <p:cNvPr id="695" name="Google Shape;695;g2bee4f4af4b_0_204"/>
          <p:cNvSpPr txBox="1">
            <a:spLocks noGrp="1"/>
          </p:cNvSpPr>
          <p:nvPr>
            <p:ph type="body" idx="3"/>
          </p:nvPr>
        </p:nvSpPr>
        <p:spPr>
          <a:xfrm>
            <a:off x="856325" y="3761525"/>
            <a:ext cx="7292400" cy="785700"/>
          </a:xfrm>
          <a:prstGeom prst="rect">
            <a:avLst/>
          </a:prstGeom>
          <a:noFill/>
          <a:ln>
            <a:noFill/>
          </a:ln>
        </p:spPr>
        <p:txBody>
          <a:bodyPr spcFirstLastPara="1" wrap="square" lIns="0" tIns="45700" rIns="91425" bIns="45700" anchor="t" anchorCtr="0">
            <a:noAutofit/>
          </a:bodyPr>
          <a:lstStyle/>
          <a:p>
            <a:pPr marL="0" lvl="0" indent="0" algn="l" rtl="0">
              <a:lnSpc>
                <a:spcPct val="115000"/>
              </a:lnSpc>
              <a:spcBef>
                <a:spcPts val="1000"/>
              </a:spcBef>
              <a:spcAft>
                <a:spcPts val="0"/>
              </a:spcAft>
              <a:buSzPts val="1600"/>
              <a:buNone/>
            </a:pPr>
            <a:r>
              <a:rPr lang="en-US" sz="1200" dirty="0"/>
              <a:t>A large display that has the letters of the alphabet on it. This could be an Alphabet Arc, poster, magnetic letters on a whiteboard etc. Visit </a:t>
            </a:r>
            <a:r>
              <a:rPr lang="en-US" sz="1200" u="sng" dirty="0">
                <a:solidFill>
                  <a:schemeClr val="hlink"/>
                </a:solidFill>
              </a:rPr>
              <a:t>www.teaching.com</a:t>
            </a:r>
            <a:r>
              <a:rPr lang="en-US" sz="1200" dirty="0"/>
              <a:t> to shop teaching resources.</a:t>
            </a:r>
            <a:endParaRPr sz="1200" dirty="0"/>
          </a:p>
        </p:txBody>
      </p:sp>
      <p:sp>
        <p:nvSpPr>
          <p:cNvPr id="696" name="Google Shape;696;g2bee4f4af4b_0_204"/>
          <p:cNvSpPr txBox="1">
            <a:spLocks noGrp="1"/>
          </p:cNvSpPr>
          <p:nvPr>
            <p:ph type="body" idx="3"/>
          </p:nvPr>
        </p:nvSpPr>
        <p:spPr>
          <a:xfrm>
            <a:off x="1313525" y="5644996"/>
            <a:ext cx="1359300" cy="433500"/>
          </a:xfrm>
          <a:prstGeom prst="rect">
            <a:avLst/>
          </a:prstGeom>
          <a:noFill/>
          <a:ln>
            <a:noFill/>
          </a:ln>
        </p:spPr>
        <p:txBody>
          <a:bodyPr spcFirstLastPara="1" wrap="square" lIns="91425" tIns="45700" rIns="91425" bIns="45700" anchor="t" anchorCtr="0">
            <a:noAutofit/>
          </a:bodyPr>
          <a:lstStyle/>
          <a:p>
            <a:pPr marL="0" lvl="0" indent="0" algn="ctr" rtl="0">
              <a:lnSpc>
                <a:spcPct val="115000"/>
              </a:lnSpc>
              <a:spcBef>
                <a:spcPts val="1000"/>
              </a:spcBef>
              <a:spcAft>
                <a:spcPts val="0"/>
              </a:spcAft>
              <a:buSzPts val="1600"/>
              <a:buNone/>
            </a:pPr>
            <a:endParaRPr sz="900" dirty="0"/>
          </a:p>
        </p:txBody>
      </p:sp>
      <p:sp>
        <p:nvSpPr>
          <p:cNvPr id="697" name="Google Shape;697;g2bee4f4af4b_0_204"/>
          <p:cNvSpPr txBox="1">
            <a:spLocks noGrp="1"/>
          </p:cNvSpPr>
          <p:nvPr>
            <p:ph type="body" idx="3"/>
          </p:nvPr>
        </p:nvSpPr>
        <p:spPr>
          <a:xfrm>
            <a:off x="6255725" y="5644996"/>
            <a:ext cx="1359300" cy="433500"/>
          </a:xfrm>
          <a:prstGeom prst="rect">
            <a:avLst/>
          </a:prstGeom>
          <a:noFill/>
          <a:ln>
            <a:noFill/>
          </a:ln>
        </p:spPr>
        <p:txBody>
          <a:bodyPr spcFirstLastPara="1" wrap="square" lIns="91425" tIns="45700" rIns="91425" bIns="45700" anchor="t" anchorCtr="0">
            <a:noAutofit/>
          </a:bodyPr>
          <a:lstStyle/>
          <a:p>
            <a:pPr marL="0" lvl="0" indent="0" algn="ctr" rtl="0">
              <a:lnSpc>
                <a:spcPct val="115000"/>
              </a:lnSpc>
              <a:spcBef>
                <a:spcPts val="1000"/>
              </a:spcBef>
              <a:spcAft>
                <a:spcPts val="0"/>
              </a:spcAft>
              <a:buSzPts val="1600"/>
              <a:buNone/>
            </a:pPr>
            <a:endParaRPr sz="900" dirty="0"/>
          </a:p>
        </p:txBody>
      </p:sp>
      <p:sp>
        <p:nvSpPr>
          <p:cNvPr id="698" name="Google Shape;698;g2bee4f4af4b_0_204"/>
          <p:cNvSpPr txBox="1">
            <a:spLocks noGrp="1"/>
          </p:cNvSpPr>
          <p:nvPr>
            <p:ph type="body" idx="3"/>
          </p:nvPr>
        </p:nvSpPr>
        <p:spPr>
          <a:xfrm>
            <a:off x="2742214" y="5645000"/>
            <a:ext cx="1796700" cy="433500"/>
          </a:xfrm>
          <a:prstGeom prst="rect">
            <a:avLst/>
          </a:prstGeom>
          <a:noFill/>
          <a:ln>
            <a:noFill/>
          </a:ln>
        </p:spPr>
        <p:txBody>
          <a:bodyPr spcFirstLastPara="1" wrap="square" lIns="91425" tIns="45700" rIns="91425" bIns="45700" anchor="t" anchorCtr="0">
            <a:noAutofit/>
          </a:bodyPr>
          <a:lstStyle/>
          <a:p>
            <a:pPr marL="0" lvl="0" indent="0" algn="ctr" rtl="0">
              <a:lnSpc>
                <a:spcPct val="115000"/>
              </a:lnSpc>
              <a:spcBef>
                <a:spcPts val="1000"/>
              </a:spcBef>
              <a:spcAft>
                <a:spcPts val="0"/>
              </a:spcAft>
              <a:buSzPts val="1600"/>
              <a:buNone/>
            </a:pPr>
            <a:endParaRPr sz="900" dirty="0"/>
          </a:p>
        </p:txBody>
      </p:sp>
      <p:sp>
        <p:nvSpPr>
          <p:cNvPr id="699" name="Google Shape;699;g2bee4f4af4b_0_204"/>
          <p:cNvSpPr txBox="1">
            <a:spLocks noGrp="1"/>
          </p:cNvSpPr>
          <p:nvPr>
            <p:ph type="body" idx="3"/>
          </p:nvPr>
        </p:nvSpPr>
        <p:spPr>
          <a:xfrm>
            <a:off x="4608325" y="5644996"/>
            <a:ext cx="1359300" cy="433500"/>
          </a:xfrm>
          <a:prstGeom prst="rect">
            <a:avLst/>
          </a:prstGeom>
          <a:noFill/>
          <a:ln>
            <a:noFill/>
          </a:ln>
        </p:spPr>
        <p:txBody>
          <a:bodyPr spcFirstLastPara="1" wrap="square" lIns="91425" tIns="45700" rIns="91425" bIns="45700" anchor="t" anchorCtr="0">
            <a:noAutofit/>
          </a:bodyPr>
          <a:lstStyle/>
          <a:p>
            <a:pPr marL="0" lvl="0" indent="0" algn="ctr" rtl="0">
              <a:lnSpc>
                <a:spcPct val="115000"/>
              </a:lnSpc>
              <a:spcBef>
                <a:spcPts val="1000"/>
              </a:spcBef>
              <a:spcAft>
                <a:spcPts val="0"/>
              </a:spcAft>
              <a:buSzPts val="1600"/>
              <a:buNone/>
            </a:pPr>
            <a:endParaRPr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10" name="Google Shape;710;g26b641b03cd_0_165"/>
          <p:cNvGrpSpPr/>
          <p:nvPr/>
        </p:nvGrpSpPr>
        <p:grpSpPr>
          <a:xfrm>
            <a:off x="930400" y="2129444"/>
            <a:ext cx="7283200" cy="3724851"/>
            <a:chOff x="930400" y="2129444"/>
            <a:chExt cx="7283200" cy="3724851"/>
          </a:xfrm>
        </p:grpSpPr>
        <p:pic>
          <p:nvPicPr>
            <p:cNvPr id="711" name="Google Shape;71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40" name="Google Shape;740;g26b7edf6e71_0_26"/>
          <p:cNvPicPr preferRelativeResize="0"/>
          <p:nvPr/>
        </p:nvPicPr>
        <p:blipFill rotWithShape="1">
          <a:blip r:embed="rId3">
            <a:alphaModFix/>
          </a:blip>
          <a:srcRect l="79" r="79"/>
          <a:stretch/>
        </p:blipFill>
        <p:spPr>
          <a:xfrm>
            <a:off x="930400" y="2129450"/>
            <a:ext cx="933501" cy="1321313"/>
          </a:xfrm>
          <a:prstGeom prst="rect">
            <a:avLst/>
          </a:prstGeom>
          <a:noFill/>
          <a:ln>
            <a:noFill/>
          </a:ln>
          <a:effectLst>
            <a:outerShdw blurRad="71438" dist="28575" dir="5400000" algn="bl" rotWithShape="0">
              <a:srgbClr val="000000">
                <a:alpha val="15686"/>
              </a:srgbClr>
            </a:outerShdw>
          </a:effectLst>
        </p:spPr>
      </p:pic>
      <p:pic>
        <p:nvPicPr>
          <p:cNvPr id="741" name="Google Shape;741;g26b7edf6e71_0_26"/>
          <p:cNvPicPr preferRelativeResize="0"/>
          <p:nvPr/>
        </p:nvPicPr>
        <p:blipFill rotWithShape="1">
          <a:blip r:embed="rId4">
            <a:alphaModFix/>
          </a:blip>
          <a:srcRect l="79" r="79"/>
          <a:stretch/>
        </p:blipFill>
        <p:spPr>
          <a:xfrm>
            <a:off x="4072837" y="2129450"/>
            <a:ext cx="933501" cy="1321313"/>
          </a:xfrm>
          <a:prstGeom prst="rect">
            <a:avLst/>
          </a:prstGeom>
          <a:noFill/>
          <a:ln>
            <a:noFill/>
          </a:ln>
          <a:effectLst>
            <a:outerShdw blurRad="71438" dist="28575" dir="5400000" algn="bl" rotWithShape="0">
              <a:srgbClr val="000000">
                <a:alpha val="15686"/>
              </a:srgbClr>
            </a:outerShdw>
          </a:effectLst>
        </p:spPr>
      </p:pic>
      <p:pic>
        <p:nvPicPr>
          <p:cNvPr id="742" name="Google Shape;742;g26b7edf6e71_0_26"/>
          <p:cNvPicPr preferRelativeResize="0"/>
          <p:nvPr/>
        </p:nvPicPr>
        <p:blipFill rotWithShape="1">
          <a:blip r:embed="rId5">
            <a:alphaModFix/>
          </a:blip>
          <a:srcRect l="79" r="79"/>
          <a:stretch/>
        </p:blipFill>
        <p:spPr>
          <a:xfrm>
            <a:off x="1977879" y="2129450"/>
            <a:ext cx="933501" cy="1321313"/>
          </a:xfrm>
          <a:prstGeom prst="rect">
            <a:avLst/>
          </a:prstGeom>
          <a:noFill/>
          <a:ln>
            <a:noFill/>
          </a:ln>
          <a:effectLst>
            <a:outerShdw blurRad="71438" dist="28575" dir="5400000" algn="bl" rotWithShape="0">
              <a:srgbClr val="000000">
                <a:alpha val="15686"/>
              </a:srgbClr>
            </a:outerShdw>
          </a:effectLst>
        </p:spPr>
      </p:pic>
      <p:pic>
        <p:nvPicPr>
          <p:cNvPr id="743" name="Google Shape;743;g26b7edf6e71_0_26"/>
          <p:cNvPicPr preferRelativeResize="0"/>
          <p:nvPr/>
        </p:nvPicPr>
        <p:blipFill rotWithShape="1">
          <a:blip r:embed="rId6">
            <a:alphaModFix/>
          </a:blip>
          <a:srcRect l="19" r="29"/>
          <a:stretch/>
        </p:blipFill>
        <p:spPr>
          <a:xfrm>
            <a:off x="3025359" y="2129450"/>
            <a:ext cx="933501" cy="1321313"/>
          </a:xfrm>
          <a:prstGeom prst="rect">
            <a:avLst/>
          </a:prstGeom>
          <a:noFill/>
          <a:ln>
            <a:noFill/>
          </a:ln>
          <a:effectLst>
            <a:outerShdw blurRad="71438" dist="28575" dir="5400000" algn="bl" rotWithShape="0">
              <a:srgbClr val="000000">
                <a:alpha val="15686"/>
              </a:srgbClr>
            </a:outerShdw>
          </a:effectLst>
        </p:spPr>
      </p:pic>
      <p:pic>
        <p:nvPicPr>
          <p:cNvPr id="744" name="Google Shape;744;g26b7edf6e71_0_26"/>
          <p:cNvPicPr preferRelativeResize="0"/>
          <p:nvPr/>
        </p:nvPicPr>
        <p:blipFill rotWithShape="1">
          <a:blip r:embed="rId7">
            <a:alphaModFix/>
          </a:blip>
          <a:srcRect l="19" r="29"/>
          <a:stretch/>
        </p:blipFill>
        <p:spPr>
          <a:xfrm>
            <a:off x="5120316" y="2129450"/>
            <a:ext cx="933501" cy="1321313"/>
          </a:xfrm>
          <a:prstGeom prst="rect">
            <a:avLst/>
          </a:prstGeom>
          <a:noFill/>
          <a:ln>
            <a:noFill/>
          </a:ln>
          <a:effectLst>
            <a:outerShdw blurRad="71438" dist="28575" dir="5400000" algn="bl" rotWithShape="0">
              <a:srgbClr val="000000">
                <a:alpha val="15686"/>
              </a:srgbClr>
            </a:outerShdw>
          </a:effectLst>
        </p:spPr>
      </p:pic>
      <p:pic>
        <p:nvPicPr>
          <p:cNvPr id="745" name="Google Shape;745;g26b7edf6e71_0_26"/>
          <p:cNvPicPr preferRelativeResize="0"/>
          <p:nvPr/>
        </p:nvPicPr>
        <p:blipFill rotWithShape="1">
          <a:blip r:embed="rId8">
            <a:alphaModFix/>
          </a:blip>
          <a:srcRect l="79" r="79"/>
          <a:stretch/>
        </p:blipFill>
        <p:spPr>
          <a:xfrm>
            <a:off x="6167796" y="2129450"/>
            <a:ext cx="933501" cy="1321313"/>
          </a:xfrm>
          <a:prstGeom prst="rect">
            <a:avLst/>
          </a:prstGeom>
          <a:noFill/>
          <a:ln>
            <a:noFill/>
          </a:ln>
          <a:effectLst>
            <a:outerShdw blurRad="71438" dist="28575" dir="5400000" algn="bl" rotWithShape="0">
              <a:srgbClr val="000000">
                <a:alpha val="15686"/>
              </a:srgbClr>
            </a:outerShdw>
          </a:effectLst>
        </p:spPr>
      </p:pic>
      <p:pic>
        <p:nvPicPr>
          <p:cNvPr id="746" name="Google Shape;746;g26b7edf6e71_0_26"/>
          <p:cNvPicPr preferRelativeResize="0"/>
          <p:nvPr/>
        </p:nvPicPr>
        <p:blipFill rotWithShape="1">
          <a:blip r:embed="rId9">
            <a:alphaModFix/>
          </a:blip>
          <a:srcRect l="79" r="79"/>
          <a:stretch/>
        </p:blipFill>
        <p:spPr>
          <a:xfrm>
            <a:off x="7215274" y="2129450"/>
            <a:ext cx="933501" cy="1321313"/>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53" name="Google Shape;753;g26b7edf6e71_0_109"/>
          <p:cNvGrpSpPr/>
          <p:nvPr/>
        </p:nvGrpSpPr>
        <p:grpSpPr>
          <a:xfrm>
            <a:off x="867357" y="2129450"/>
            <a:ext cx="7282807" cy="2686611"/>
            <a:chOff x="867357" y="2129450"/>
            <a:chExt cx="7282807" cy="2686611"/>
          </a:xfrm>
        </p:grpSpPr>
        <p:pic>
          <p:nvPicPr>
            <p:cNvPr id="754" name="Google Shape;754;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55" name="Google Shape;755;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56" name="Google Shape;756;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57" name="Google Shape;757;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58" name="Google Shape;758;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59" name="Google Shape;759;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60" name="Google Shape;760;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61" name="Google Shape;761;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62" name="Google Shape;762;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63" name="Google Shape;763;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64" name="Google Shape;764;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65" name="Google Shape;765;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66" name="Google Shape;766;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67" name="Google Shape;767;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g2c610ea7438_0_1"/>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Vowel Hand Song.</a:t>
            </a:r>
            <a:endParaRPr sz="2400" b="0" i="0" u="none" strike="noStrike" cap="none">
              <a:solidFill>
                <a:srgbClr val="000000"/>
              </a:solidFill>
              <a:latin typeface="Poppins"/>
              <a:ea typeface="Poppins"/>
              <a:cs typeface="Poppins"/>
              <a:sym typeface="Poppins"/>
            </a:endParaRPr>
          </a:p>
        </p:txBody>
      </p:sp>
      <p:sp>
        <p:nvSpPr>
          <p:cNvPr id="774" name="Google Shape;774;g2c610ea7438_0_1"/>
          <p:cNvSpPr txBox="1"/>
          <p:nvPr/>
        </p:nvSpPr>
        <p:spPr>
          <a:xfrm>
            <a:off x="876925" y="2094075"/>
            <a:ext cx="4263900" cy="35874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e, i, o, u   a, e, i, o, u   a, e, i, o, u </a:t>
            </a:r>
            <a:r>
              <a:rPr lang="en-US" sz="2000" b="0" i="0" u="none" strike="noStrike" cap="none">
                <a:solidFill>
                  <a:srgbClr val="D9D9D9"/>
                </a:solidFill>
                <a:latin typeface="Poppins"/>
                <a:ea typeface="Poppins"/>
                <a:cs typeface="Poppins"/>
                <a:sym typeface="Poppins"/>
              </a:rPr>
              <a:t>(short sounds only)</a:t>
            </a:r>
            <a:endParaRPr sz="2000" b="0" i="0" u="none" strike="noStrike" cap="none">
              <a:solidFill>
                <a:srgbClr val="D9D9D9"/>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are short vowels that we use</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a vowel is in every word,</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that we read or write.</a:t>
            </a:r>
            <a:endParaRPr sz="2000" b="0" i="0" u="none" strike="noStrike" cap="none">
              <a:solidFill>
                <a:srgbClr val="000000"/>
              </a:solidFill>
              <a:latin typeface="Poppins"/>
              <a:ea typeface="Poppins"/>
              <a:cs typeface="Poppins"/>
              <a:sym typeface="Poppins"/>
            </a:endParaRPr>
          </a:p>
        </p:txBody>
      </p:sp>
      <p:pic>
        <p:nvPicPr>
          <p:cNvPr id="775" name="Google Shape;775;g2c610ea7438_0_1"/>
          <p:cNvPicPr preferRelativeResize="0"/>
          <p:nvPr/>
        </p:nvPicPr>
        <p:blipFill rotWithShape="1">
          <a:blip r:embed="rId3">
            <a:alphaModFix/>
          </a:blip>
          <a:srcRect t="7523" r="7062" b="17832"/>
          <a:stretch/>
        </p:blipFill>
        <p:spPr>
          <a:xfrm>
            <a:off x="4509700" y="2118750"/>
            <a:ext cx="3638549" cy="41330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2" name="Google Shape;782;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Name the Animal</a:t>
            </a:r>
            <a:endParaRPr/>
          </a:p>
        </p:txBody>
      </p:sp>
      <p:sp>
        <p:nvSpPr>
          <p:cNvPr id="783" name="Google Shape;783;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784" name="Google Shape;784;g2c186218c5a_0_17"/>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g2c6753ba851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91" name="Google Shape;791;g2c6753ba851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Name the Animal</a:t>
            </a:r>
            <a:endParaRPr/>
          </a:p>
        </p:txBody>
      </p:sp>
      <p:sp>
        <p:nvSpPr>
          <p:cNvPr id="792" name="Google Shape;792;g2c6753ba851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793" name="Google Shape;793;g2c6753ba851_0_25"/>
          <p:cNvGrpSpPr/>
          <p:nvPr/>
        </p:nvGrpSpPr>
        <p:grpSpPr>
          <a:xfrm>
            <a:off x="1010275" y="1834122"/>
            <a:ext cx="7010529" cy="2759378"/>
            <a:chOff x="1010275" y="1834122"/>
            <a:chExt cx="7010529" cy="2759378"/>
          </a:xfrm>
        </p:grpSpPr>
        <p:grpSp>
          <p:nvGrpSpPr>
            <p:cNvPr id="794" name="Google Shape;794;g2c6753ba851_0_25"/>
            <p:cNvGrpSpPr/>
            <p:nvPr/>
          </p:nvGrpSpPr>
          <p:grpSpPr>
            <a:xfrm>
              <a:off x="1123196" y="1834122"/>
              <a:ext cx="6897608" cy="2759378"/>
              <a:chOff x="1123196" y="1834122"/>
              <a:chExt cx="6897608" cy="2759378"/>
            </a:xfrm>
          </p:grpSpPr>
          <p:sp>
            <p:nvSpPr>
              <p:cNvPr id="795" name="Google Shape;795;g2c6753ba851_0_25"/>
              <p:cNvSpPr/>
              <p:nvPr/>
            </p:nvSpPr>
            <p:spPr>
              <a:xfrm>
                <a:off x="1123200" y="1834122"/>
                <a:ext cx="6897600" cy="2757900"/>
              </a:xfrm>
              <a:prstGeom prst="roundRect">
                <a:avLst>
                  <a:gd name="adj" fmla="val 6913"/>
                </a:avLst>
              </a:prstGeom>
              <a:solidFill>
                <a:srgbClr val="FFFFFF"/>
              </a:solidFill>
              <a:ln>
                <a:noFill/>
              </a:ln>
              <a:effectLst>
                <a:outerShdw blurRad="57150" dist="19050" dir="3660000" algn="bl" rotWithShape="0">
                  <a:srgbClr val="000000">
                    <a:alpha val="2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796" name="Google Shape;796;g2c6753ba851_0_25"/>
              <p:cNvPicPr preferRelativeResize="0"/>
              <p:nvPr/>
            </p:nvPicPr>
            <p:blipFill rotWithShape="1">
              <a:blip r:embed="rId3">
                <a:alphaModFix amt="45000"/>
              </a:blip>
              <a:srcRect t="149" b="149"/>
              <a:stretch/>
            </p:blipFill>
            <p:spPr>
              <a:xfrm>
                <a:off x="1123196" y="1835625"/>
                <a:ext cx="6897608" cy="2757875"/>
              </a:xfrm>
              <a:prstGeom prst="rect">
                <a:avLst/>
              </a:prstGeom>
              <a:noFill/>
              <a:ln>
                <a:noFill/>
              </a:ln>
            </p:spPr>
          </p:pic>
        </p:grpSp>
        <p:pic>
          <p:nvPicPr>
            <p:cNvPr id="797" name="Google Shape;797;g2c6753ba851_0_25"/>
            <p:cNvPicPr preferRelativeResize="0"/>
            <p:nvPr/>
          </p:nvPicPr>
          <p:blipFill rotWithShape="1">
            <a:blip r:embed="rId3">
              <a:alphaModFix/>
            </a:blip>
            <a:srcRect l="6489" t="11200" r="67065" b="15113"/>
            <a:stretch/>
          </p:blipFill>
          <p:spPr>
            <a:xfrm>
              <a:off x="1570850" y="2141325"/>
              <a:ext cx="1823974" cy="2038275"/>
            </a:xfrm>
            <a:prstGeom prst="rect">
              <a:avLst/>
            </a:prstGeom>
            <a:noFill/>
            <a:ln>
              <a:noFill/>
            </a:ln>
          </p:spPr>
        </p:pic>
        <p:sp>
          <p:nvSpPr>
            <p:cNvPr id="798" name="Google Shape;798;g2c6753ba851_0_25"/>
            <p:cNvSpPr/>
            <p:nvPr/>
          </p:nvSpPr>
          <p:spPr>
            <a:xfrm>
              <a:off x="1010275" y="1876750"/>
              <a:ext cx="2675700" cy="2675700"/>
            </a:xfrm>
            <a:prstGeom prst="ellipse">
              <a:avLst/>
            </a:prstGeom>
            <a:noFill/>
            <a:ln w="762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799" name="Google Shape;799;g2c6753ba851_0_25"/>
            <p:cNvGrpSpPr/>
            <p:nvPr/>
          </p:nvGrpSpPr>
          <p:grpSpPr>
            <a:xfrm>
              <a:off x="3203200" y="2683688"/>
              <a:ext cx="1558225" cy="830250"/>
              <a:chOff x="3203200" y="2683688"/>
              <a:chExt cx="1558225" cy="830250"/>
            </a:xfrm>
          </p:grpSpPr>
          <p:pic>
            <p:nvPicPr>
              <p:cNvPr id="800" name="Google Shape;800;g2c6753ba851_0_25"/>
              <p:cNvPicPr preferRelativeResize="0"/>
              <p:nvPr/>
            </p:nvPicPr>
            <p:blipFill rotWithShape="1">
              <a:blip r:embed="rId4">
                <a:alphaModFix/>
              </a:blip>
              <a:srcRect/>
              <a:stretch/>
            </p:blipFill>
            <p:spPr>
              <a:xfrm flipH="1">
                <a:off x="3203200" y="2683688"/>
                <a:ext cx="1558225" cy="830250"/>
              </a:xfrm>
              <a:prstGeom prst="rect">
                <a:avLst/>
              </a:prstGeom>
              <a:noFill/>
              <a:ln>
                <a:noFill/>
              </a:ln>
            </p:spPr>
          </p:pic>
          <p:sp>
            <p:nvSpPr>
              <p:cNvPr id="801" name="Google Shape;801;g2c6753ba851_0_25"/>
              <p:cNvSpPr txBox="1"/>
              <p:nvPr/>
            </p:nvSpPr>
            <p:spPr>
              <a:xfrm>
                <a:off x="3491851" y="2779525"/>
                <a:ext cx="1208100" cy="55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700"/>
                  <a:buFont typeface="Arial"/>
                  <a:buNone/>
                </a:pPr>
                <a:r>
                  <a:rPr lang="en-US" sz="2700" b="0" i="0" u="none" strike="noStrike" cap="none">
                    <a:solidFill>
                      <a:schemeClr val="dk1"/>
                    </a:solidFill>
                    <a:latin typeface="Jost Medium"/>
                    <a:ea typeface="Jost Medium"/>
                    <a:cs typeface="Jost Medium"/>
                    <a:sym typeface="Jost Medium"/>
                  </a:rPr>
                  <a:t>meow!</a:t>
                </a:r>
                <a:endParaRPr sz="2700" b="0" i="0" u="none" strike="noStrike" cap="none">
                  <a:solidFill>
                    <a:schemeClr val="dk1"/>
                  </a:solidFill>
                  <a:latin typeface="Jost Medium"/>
                  <a:ea typeface="Jost Medium"/>
                  <a:cs typeface="Jost Medium"/>
                  <a:sym typeface="Jost Medium"/>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g2c6753ba851_0_5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08" name="Google Shape;808;g2c6753ba851_0_5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Name the Animal</a:t>
            </a:r>
            <a:endParaRPr/>
          </a:p>
        </p:txBody>
      </p:sp>
      <p:sp>
        <p:nvSpPr>
          <p:cNvPr id="809" name="Google Shape;809;g2c6753ba851_0_5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810" name="Google Shape;810;g2c6753ba851_0_51"/>
          <p:cNvGrpSpPr/>
          <p:nvPr/>
        </p:nvGrpSpPr>
        <p:grpSpPr>
          <a:xfrm>
            <a:off x="1123196" y="1834122"/>
            <a:ext cx="6897608" cy="2759378"/>
            <a:chOff x="1123196" y="1834122"/>
            <a:chExt cx="6897608" cy="2759378"/>
          </a:xfrm>
        </p:grpSpPr>
        <p:grpSp>
          <p:nvGrpSpPr>
            <p:cNvPr id="811" name="Google Shape;811;g2c6753ba851_0_51"/>
            <p:cNvGrpSpPr/>
            <p:nvPr/>
          </p:nvGrpSpPr>
          <p:grpSpPr>
            <a:xfrm>
              <a:off x="1123196" y="1834122"/>
              <a:ext cx="6897608" cy="2759378"/>
              <a:chOff x="1123196" y="1834122"/>
              <a:chExt cx="6897608" cy="2759378"/>
            </a:xfrm>
          </p:grpSpPr>
          <p:sp>
            <p:nvSpPr>
              <p:cNvPr id="812" name="Google Shape;812;g2c6753ba851_0_51"/>
              <p:cNvSpPr/>
              <p:nvPr/>
            </p:nvSpPr>
            <p:spPr>
              <a:xfrm>
                <a:off x="1123200" y="1834122"/>
                <a:ext cx="6897600" cy="2757900"/>
              </a:xfrm>
              <a:prstGeom prst="roundRect">
                <a:avLst>
                  <a:gd name="adj" fmla="val 6913"/>
                </a:avLst>
              </a:prstGeom>
              <a:solidFill>
                <a:srgbClr val="FFFFFF"/>
              </a:solidFill>
              <a:ln>
                <a:noFill/>
              </a:ln>
              <a:effectLst>
                <a:outerShdw blurRad="57150" dist="19050" dir="3660000" algn="bl" rotWithShape="0">
                  <a:srgbClr val="000000">
                    <a:alpha val="2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813" name="Google Shape;813;g2c6753ba851_0_51"/>
              <p:cNvPicPr preferRelativeResize="0"/>
              <p:nvPr/>
            </p:nvPicPr>
            <p:blipFill rotWithShape="1">
              <a:blip r:embed="rId3">
                <a:alphaModFix amt="42000"/>
              </a:blip>
              <a:srcRect t="149" b="149"/>
              <a:stretch/>
            </p:blipFill>
            <p:spPr>
              <a:xfrm>
                <a:off x="1123196" y="1835625"/>
                <a:ext cx="6897608" cy="2757875"/>
              </a:xfrm>
              <a:prstGeom prst="rect">
                <a:avLst/>
              </a:prstGeom>
              <a:noFill/>
              <a:ln>
                <a:noFill/>
              </a:ln>
            </p:spPr>
          </p:pic>
        </p:grpSp>
        <p:pic>
          <p:nvPicPr>
            <p:cNvPr id="814" name="Google Shape;814;g2c6753ba851_0_51"/>
            <p:cNvPicPr preferRelativeResize="0"/>
            <p:nvPr/>
          </p:nvPicPr>
          <p:blipFill rotWithShape="1">
            <a:blip r:embed="rId3">
              <a:alphaModFix/>
            </a:blip>
            <a:srcRect l="64728" t="20722" r="3182" b="19986"/>
            <a:stretch/>
          </p:blipFill>
          <p:spPr>
            <a:xfrm>
              <a:off x="5587950" y="2404750"/>
              <a:ext cx="2213251" cy="1640100"/>
            </a:xfrm>
            <a:prstGeom prst="rect">
              <a:avLst/>
            </a:prstGeom>
            <a:noFill/>
            <a:ln>
              <a:noFill/>
            </a:ln>
          </p:spPr>
        </p:pic>
        <p:sp>
          <p:nvSpPr>
            <p:cNvPr id="815" name="Google Shape;815;g2c6753ba851_0_51"/>
            <p:cNvSpPr/>
            <p:nvPr/>
          </p:nvSpPr>
          <p:spPr>
            <a:xfrm>
              <a:off x="5345100" y="1876750"/>
              <a:ext cx="2675700" cy="2675700"/>
            </a:xfrm>
            <a:prstGeom prst="ellipse">
              <a:avLst/>
            </a:prstGeom>
            <a:noFill/>
            <a:ln w="762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816" name="Google Shape;816;g2c6753ba851_0_51"/>
            <p:cNvGrpSpPr/>
            <p:nvPr/>
          </p:nvGrpSpPr>
          <p:grpSpPr>
            <a:xfrm>
              <a:off x="4117600" y="2683688"/>
              <a:ext cx="1558225" cy="830250"/>
              <a:chOff x="3279400" y="2683688"/>
              <a:chExt cx="1558225" cy="830250"/>
            </a:xfrm>
          </p:grpSpPr>
          <p:pic>
            <p:nvPicPr>
              <p:cNvPr id="817" name="Google Shape;817;g2c6753ba851_0_51"/>
              <p:cNvPicPr preferRelativeResize="0"/>
              <p:nvPr/>
            </p:nvPicPr>
            <p:blipFill rotWithShape="1">
              <a:blip r:embed="rId4">
                <a:alphaModFix/>
              </a:blip>
              <a:srcRect/>
              <a:stretch/>
            </p:blipFill>
            <p:spPr>
              <a:xfrm>
                <a:off x="3279400" y="2683688"/>
                <a:ext cx="1558225" cy="830250"/>
              </a:xfrm>
              <a:prstGeom prst="rect">
                <a:avLst/>
              </a:prstGeom>
              <a:noFill/>
              <a:ln>
                <a:noFill/>
              </a:ln>
            </p:spPr>
          </p:pic>
          <p:sp>
            <p:nvSpPr>
              <p:cNvPr id="818" name="Google Shape;818;g2c6753ba851_0_51"/>
              <p:cNvSpPr txBox="1"/>
              <p:nvPr/>
            </p:nvSpPr>
            <p:spPr>
              <a:xfrm>
                <a:off x="3491851" y="2779525"/>
                <a:ext cx="1208100" cy="55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700"/>
                  <a:buFont typeface="Arial"/>
                  <a:buNone/>
                </a:pPr>
                <a:r>
                  <a:rPr lang="en-US" sz="2700" b="0" i="0" u="none" strike="noStrike" cap="none">
                    <a:solidFill>
                      <a:schemeClr val="dk1"/>
                    </a:solidFill>
                    <a:latin typeface="Jost Medium"/>
                    <a:ea typeface="Jost Medium"/>
                    <a:cs typeface="Jost Medium"/>
                    <a:sym typeface="Jost Medium"/>
                  </a:rPr>
                  <a:t>moo!</a:t>
                </a:r>
                <a:endParaRPr sz="2700" b="0" i="0" u="none" strike="noStrike" cap="none">
                  <a:solidFill>
                    <a:schemeClr val="dk1"/>
                  </a:solidFill>
                  <a:latin typeface="Jost Medium"/>
                  <a:ea typeface="Jost Medium"/>
                  <a:cs typeface="Jost Medium"/>
                  <a:sym typeface="Jost Medium"/>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g2c6753ba851_0_6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25" name="Google Shape;825;g2c6753ba851_0_6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Name the Animal</a:t>
            </a:r>
            <a:endParaRPr/>
          </a:p>
        </p:txBody>
      </p:sp>
      <p:sp>
        <p:nvSpPr>
          <p:cNvPr id="826" name="Google Shape;826;g2c6753ba851_0_6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27" name="Google Shape;827;g2c6753ba851_0_6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grpSp>
        <p:nvGrpSpPr>
          <p:cNvPr id="833" name="Google Shape;833;g2c6753ba851_0_75"/>
          <p:cNvGrpSpPr/>
          <p:nvPr/>
        </p:nvGrpSpPr>
        <p:grpSpPr>
          <a:xfrm>
            <a:off x="1010275" y="1834122"/>
            <a:ext cx="7010530" cy="2759378"/>
            <a:chOff x="1010275" y="1834122"/>
            <a:chExt cx="7010530" cy="2759378"/>
          </a:xfrm>
        </p:grpSpPr>
        <p:grpSp>
          <p:nvGrpSpPr>
            <p:cNvPr id="834" name="Google Shape;834;g2c6753ba851_0_75"/>
            <p:cNvGrpSpPr/>
            <p:nvPr/>
          </p:nvGrpSpPr>
          <p:grpSpPr>
            <a:xfrm>
              <a:off x="1123196" y="1834122"/>
              <a:ext cx="6897609" cy="2759378"/>
              <a:chOff x="1123196" y="1834122"/>
              <a:chExt cx="6897609" cy="2759378"/>
            </a:xfrm>
          </p:grpSpPr>
          <p:sp>
            <p:nvSpPr>
              <p:cNvPr id="835" name="Google Shape;835;g2c6753ba851_0_75"/>
              <p:cNvSpPr/>
              <p:nvPr/>
            </p:nvSpPr>
            <p:spPr>
              <a:xfrm>
                <a:off x="1123200" y="1834122"/>
                <a:ext cx="6897600" cy="2757900"/>
              </a:xfrm>
              <a:prstGeom prst="roundRect">
                <a:avLst>
                  <a:gd name="adj" fmla="val 6913"/>
                </a:avLst>
              </a:prstGeom>
              <a:solidFill>
                <a:srgbClr val="FFFFFF"/>
              </a:solidFill>
              <a:ln>
                <a:noFill/>
              </a:ln>
              <a:effectLst>
                <a:outerShdw blurRad="57150" dist="19050" dir="3660000" algn="bl" rotWithShape="0">
                  <a:srgbClr val="000000">
                    <a:alpha val="2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836" name="Google Shape;836;g2c6753ba851_0_75"/>
              <p:cNvPicPr preferRelativeResize="0"/>
              <p:nvPr/>
            </p:nvPicPr>
            <p:blipFill rotWithShape="1">
              <a:blip r:embed="rId3">
                <a:alphaModFix amt="45000"/>
              </a:blip>
              <a:srcRect/>
              <a:stretch/>
            </p:blipFill>
            <p:spPr>
              <a:xfrm>
                <a:off x="1123196" y="1835625"/>
                <a:ext cx="6897609" cy="2757875"/>
              </a:xfrm>
              <a:prstGeom prst="rect">
                <a:avLst/>
              </a:prstGeom>
              <a:noFill/>
              <a:ln>
                <a:noFill/>
              </a:ln>
            </p:spPr>
          </p:pic>
          <p:pic>
            <p:nvPicPr>
              <p:cNvPr id="837" name="Google Shape;837;g2c6753ba851_0_75"/>
              <p:cNvPicPr preferRelativeResize="0"/>
              <p:nvPr/>
            </p:nvPicPr>
            <p:blipFill rotWithShape="1">
              <a:blip r:embed="rId3">
                <a:alphaModFix/>
              </a:blip>
              <a:srcRect l="8004" t="13052" r="70389" b="10213"/>
              <a:stretch/>
            </p:blipFill>
            <p:spPr>
              <a:xfrm>
                <a:off x="1675374" y="2195625"/>
                <a:ext cx="1490201" cy="2116250"/>
              </a:xfrm>
              <a:prstGeom prst="rect">
                <a:avLst/>
              </a:prstGeom>
              <a:noFill/>
              <a:ln>
                <a:noFill/>
              </a:ln>
            </p:spPr>
          </p:pic>
        </p:grpSp>
        <p:sp>
          <p:nvSpPr>
            <p:cNvPr id="838" name="Google Shape;838;g2c6753ba851_0_75"/>
            <p:cNvSpPr/>
            <p:nvPr/>
          </p:nvSpPr>
          <p:spPr>
            <a:xfrm>
              <a:off x="1010275" y="1876750"/>
              <a:ext cx="2675700" cy="2675700"/>
            </a:xfrm>
            <a:prstGeom prst="ellipse">
              <a:avLst/>
            </a:prstGeom>
            <a:noFill/>
            <a:ln w="762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839" name="Google Shape;839;g2c6753ba851_0_75"/>
            <p:cNvGrpSpPr/>
            <p:nvPr/>
          </p:nvGrpSpPr>
          <p:grpSpPr>
            <a:xfrm>
              <a:off x="3203200" y="2683688"/>
              <a:ext cx="1558225" cy="830250"/>
              <a:chOff x="3203200" y="2683688"/>
              <a:chExt cx="1558225" cy="830250"/>
            </a:xfrm>
          </p:grpSpPr>
          <p:pic>
            <p:nvPicPr>
              <p:cNvPr id="840" name="Google Shape;840;g2c6753ba851_0_75"/>
              <p:cNvPicPr preferRelativeResize="0"/>
              <p:nvPr/>
            </p:nvPicPr>
            <p:blipFill rotWithShape="1">
              <a:blip r:embed="rId4">
                <a:alphaModFix/>
              </a:blip>
              <a:srcRect/>
              <a:stretch/>
            </p:blipFill>
            <p:spPr>
              <a:xfrm flipH="1">
                <a:off x="3203200" y="2683688"/>
                <a:ext cx="1558225" cy="830250"/>
              </a:xfrm>
              <a:prstGeom prst="rect">
                <a:avLst/>
              </a:prstGeom>
              <a:noFill/>
              <a:ln>
                <a:noFill/>
              </a:ln>
            </p:spPr>
          </p:pic>
          <p:sp>
            <p:nvSpPr>
              <p:cNvPr id="841" name="Google Shape;841;g2c6753ba851_0_75"/>
              <p:cNvSpPr txBox="1"/>
              <p:nvPr/>
            </p:nvSpPr>
            <p:spPr>
              <a:xfrm>
                <a:off x="3491851" y="2779525"/>
                <a:ext cx="1208100" cy="55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700"/>
                  <a:buFont typeface="Arial"/>
                  <a:buNone/>
                </a:pPr>
                <a:r>
                  <a:rPr lang="en-US" sz="2700" b="0" i="0" u="none" strike="noStrike" cap="none">
                    <a:solidFill>
                      <a:schemeClr val="dk1"/>
                    </a:solidFill>
                    <a:latin typeface="Jost Medium"/>
                    <a:ea typeface="Jost Medium"/>
                    <a:cs typeface="Jost Medium"/>
                    <a:sym typeface="Jost Medium"/>
                  </a:rPr>
                  <a:t>woof!</a:t>
                </a:r>
                <a:endParaRPr sz="2700" b="0" i="0" u="none" strike="noStrike" cap="none">
                  <a:solidFill>
                    <a:schemeClr val="dk1"/>
                  </a:solidFill>
                  <a:latin typeface="Jost Medium"/>
                  <a:ea typeface="Jost Medium"/>
                  <a:cs typeface="Jost Medium"/>
                  <a:sym typeface="Jost Medium"/>
                </a:endParaRPr>
              </a:p>
            </p:txBody>
          </p:sp>
        </p:grpSp>
      </p:grpSp>
      <p:sp>
        <p:nvSpPr>
          <p:cNvPr id="842" name="Google Shape;842;g2c6753ba851_0_7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43" name="Google Shape;843;g2c6753ba851_0_7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Name the Animal</a:t>
            </a:r>
            <a:endParaRPr/>
          </a:p>
        </p:txBody>
      </p:sp>
      <p:sp>
        <p:nvSpPr>
          <p:cNvPr id="844" name="Google Shape;844;g2c6753ba851_0_7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SAY THE LOWERCASE LETTER NAME</a:t>
            </a:r>
            <a:endParaRPr/>
          </a:p>
        </p:txBody>
      </p:sp>
      <p:sp>
        <p:nvSpPr>
          <p:cNvPr id="851" name="Google Shape;851;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Lowercase Letters</a:t>
            </a:r>
            <a:endParaRPr/>
          </a:p>
        </p:txBody>
      </p:sp>
      <p:sp>
        <p:nvSpPr>
          <p:cNvPr id="852" name="Google Shape;852;g2c4fd7a3c22_2_0"/>
          <p:cNvSpPr/>
          <p:nvPr/>
        </p:nvSpPr>
        <p:spPr>
          <a:xfrm>
            <a:off x="4377000" y="4713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3" name="Google Shape;853;g2c4fd7a3c22_2_0"/>
          <p:cNvSpPr txBox="1">
            <a:spLocks noGrp="1"/>
          </p:cNvSpPr>
          <p:nvPr>
            <p:ph type="subTitle" idx="4294967295"/>
          </p:nvPr>
        </p:nvSpPr>
        <p:spPr>
          <a:xfrm>
            <a:off x="3482100" y="1263597"/>
            <a:ext cx="2179800" cy="3379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20000" b="0" i="0" u="none" strike="noStrike" cap="none">
                <a:solidFill>
                  <a:srgbClr val="ED1C24"/>
                </a:solidFill>
                <a:latin typeface="Poppins Medium"/>
                <a:ea typeface="Poppins Medium"/>
                <a:cs typeface="Poppins Medium"/>
                <a:sym typeface="Poppins Medium"/>
              </a:rPr>
              <a:t>a</a:t>
            </a:r>
            <a:endParaRPr sz="20000" b="0" i="0" u="none" strike="noStrike" cap="none">
              <a:solidFill>
                <a:srgbClr val="ED1C24"/>
              </a:solidFill>
              <a:latin typeface="Poppins Medium"/>
              <a:ea typeface="Poppins Medium"/>
              <a:cs typeface="Poppins Medium"/>
              <a:sym typeface="Poppins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g2c6753ba851_0_9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SAY THE LOWERCASE LETTER NAME</a:t>
            </a:r>
            <a:endParaRPr/>
          </a:p>
        </p:txBody>
      </p:sp>
      <p:sp>
        <p:nvSpPr>
          <p:cNvPr id="860" name="Google Shape;860;g2c6753ba851_0_9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Lowercase Letters</a:t>
            </a:r>
            <a:endParaRPr/>
          </a:p>
        </p:txBody>
      </p:sp>
      <p:sp>
        <p:nvSpPr>
          <p:cNvPr id="861" name="Google Shape;861;g2c6753ba851_0_94"/>
          <p:cNvSpPr/>
          <p:nvPr/>
        </p:nvSpPr>
        <p:spPr>
          <a:xfrm>
            <a:off x="4377000" y="4713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2" name="Google Shape;862;g2c6753ba851_0_94"/>
          <p:cNvSpPr txBox="1">
            <a:spLocks noGrp="1"/>
          </p:cNvSpPr>
          <p:nvPr>
            <p:ph type="subTitle" idx="4294967295"/>
          </p:nvPr>
        </p:nvSpPr>
        <p:spPr>
          <a:xfrm>
            <a:off x="3482100" y="1061450"/>
            <a:ext cx="2179800" cy="3379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25000" b="0" i="0" u="none" strike="noStrike" cap="none">
                <a:solidFill>
                  <a:srgbClr val="2356AF"/>
                </a:solidFill>
                <a:latin typeface="Jost"/>
                <a:ea typeface="Jost"/>
                <a:cs typeface="Jost"/>
                <a:sym typeface="Jost"/>
              </a:rPr>
              <a:t>b</a:t>
            </a:r>
            <a:endParaRPr sz="250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2c6753ba851_0_11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SAY THE LOWERCASE LETTER NAME</a:t>
            </a:r>
            <a:endParaRPr/>
          </a:p>
        </p:txBody>
      </p:sp>
      <p:sp>
        <p:nvSpPr>
          <p:cNvPr id="869" name="Google Shape;869;g2c6753ba851_0_11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Lowercase Letters</a:t>
            </a:r>
            <a:endParaRPr/>
          </a:p>
        </p:txBody>
      </p:sp>
      <p:sp>
        <p:nvSpPr>
          <p:cNvPr id="870" name="Google Shape;870;g2c6753ba851_0_118"/>
          <p:cNvSpPr/>
          <p:nvPr/>
        </p:nvSpPr>
        <p:spPr>
          <a:xfrm>
            <a:off x="4377000" y="4713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1" name="Google Shape;871;g2c6753ba851_0_118"/>
          <p:cNvSpPr txBox="1">
            <a:spLocks noGrp="1"/>
          </p:cNvSpPr>
          <p:nvPr>
            <p:ph type="subTitle" idx="4294967295"/>
          </p:nvPr>
        </p:nvSpPr>
        <p:spPr>
          <a:xfrm>
            <a:off x="3482100" y="1061450"/>
            <a:ext cx="2179800" cy="3379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25000" b="0" i="0" u="none" strike="noStrike" cap="none">
                <a:solidFill>
                  <a:srgbClr val="2356AF"/>
                </a:solidFill>
                <a:latin typeface="Jost"/>
                <a:ea typeface="Jost"/>
                <a:cs typeface="Jost"/>
                <a:sym typeface="Jost"/>
              </a:rPr>
              <a:t>c</a:t>
            </a:r>
            <a:endParaRPr sz="25000" b="0" i="0" u="none" strike="noStrike" cap="none">
              <a:solidFill>
                <a:srgbClr val="2356AF"/>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g2c6753ba851_0_14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SAY THE LOWERCASE LETTER NAME</a:t>
            </a:r>
            <a:endParaRPr/>
          </a:p>
        </p:txBody>
      </p:sp>
      <p:sp>
        <p:nvSpPr>
          <p:cNvPr id="878" name="Google Shape;878;g2c6753ba851_0_14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Lowercase Letters</a:t>
            </a:r>
            <a:endParaRPr/>
          </a:p>
        </p:txBody>
      </p:sp>
      <p:sp>
        <p:nvSpPr>
          <p:cNvPr id="879" name="Google Shape;879;g2c6753ba851_0_143"/>
          <p:cNvSpPr/>
          <p:nvPr/>
        </p:nvSpPr>
        <p:spPr>
          <a:xfrm>
            <a:off x="4377000" y="4713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0" name="Google Shape;880;g2c6753ba851_0_143"/>
          <p:cNvSpPr txBox="1">
            <a:spLocks noGrp="1"/>
          </p:cNvSpPr>
          <p:nvPr>
            <p:ph type="subTitle" idx="4294967295"/>
          </p:nvPr>
        </p:nvSpPr>
        <p:spPr>
          <a:xfrm>
            <a:off x="3482100" y="1061450"/>
            <a:ext cx="2179800" cy="3379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25000" b="0" i="0" u="none" strike="noStrike" cap="none">
                <a:solidFill>
                  <a:srgbClr val="2356AF"/>
                </a:solidFill>
                <a:latin typeface="Jost"/>
                <a:ea typeface="Jost"/>
                <a:cs typeface="Jost"/>
                <a:sym typeface="Jost"/>
              </a:rPr>
              <a:t>d</a:t>
            </a:r>
            <a:endParaRPr sz="25000" b="0" i="0" u="none" strike="noStrike" cap="none">
              <a:solidFill>
                <a:srgbClr val="2356AF"/>
              </a:solidFill>
              <a:latin typeface="Jost"/>
              <a:ea typeface="Jost"/>
              <a:cs typeface="Jost"/>
              <a:sym typeface="Jo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887" name="Google Shape;887;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Display the Alphabet in order</a:t>
            </a:r>
            <a:endParaRPr/>
          </a:p>
        </p:txBody>
      </p:sp>
      <p:grpSp>
        <p:nvGrpSpPr>
          <p:cNvPr id="888" name="Google Shape;888;g1f3daf8a844_0_64"/>
          <p:cNvGrpSpPr/>
          <p:nvPr/>
        </p:nvGrpSpPr>
        <p:grpSpPr>
          <a:xfrm>
            <a:off x="3024000" y="209875"/>
            <a:ext cx="3096000" cy="454800"/>
            <a:chOff x="3024000" y="209875"/>
            <a:chExt cx="3096000" cy="454800"/>
          </a:xfrm>
        </p:grpSpPr>
        <p:sp>
          <p:nvSpPr>
            <p:cNvPr id="889" name="Google Shape;889;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0" name="Google Shape;890;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891" name="Google Shape;891;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892" name="Google Shape;892;g1f3daf8a844_0_64"/>
          <p:cNvSpPr txBox="1"/>
          <p:nvPr/>
        </p:nvSpPr>
        <p:spPr>
          <a:xfrm>
            <a:off x="1181100" y="2071500"/>
            <a:ext cx="67818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200" b="0" i="0" u="none" strike="noStrike" cap="none">
                <a:solidFill>
                  <a:srgbClr val="ED1C24"/>
                </a:solidFill>
                <a:latin typeface="Poppins"/>
                <a:ea typeface="Poppins"/>
                <a:cs typeface="Poppins"/>
                <a:sym typeface="Poppins"/>
              </a:rPr>
              <a:t>a</a:t>
            </a:r>
            <a:r>
              <a:rPr lang="en-US" sz="5000" b="0" i="0" u="none" strike="noStrike" cap="none">
                <a:solidFill>
                  <a:srgbClr val="2356AF"/>
                </a:solidFill>
                <a:latin typeface="Jost"/>
                <a:ea typeface="Jost"/>
                <a:cs typeface="Jost"/>
                <a:sym typeface="Jost"/>
              </a:rPr>
              <a:t> b c d </a:t>
            </a:r>
            <a:r>
              <a:rPr lang="en-US" sz="5000" b="0" i="0" u="none" strike="noStrike" cap="none">
                <a:solidFill>
                  <a:srgbClr val="ED1C24"/>
                </a:solidFill>
                <a:latin typeface="Jost"/>
                <a:ea typeface="Jost"/>
                <a:cs typeface="Jost"/>
                <a:sym typeface="Jost"/>
              </a:rPr>
              <a:t>e</a:t>
            </a:r>
            <a:r>
              <a:rPr lang="en-US" sz="5000" b="0" i="0" u="none" strike="noStrike" cap="none">
                <a:solidFill>
                  <a:srgbClr val="2356AF"/>
                </a:solidFill>
                <a:latin typeface="Jost"/>
                <a:ea typeface="Jost"/>
                <a:cs typeface="Jost"/>
                <a:sym typeface="Jost"/>
              </a:rPr>
              <a:t> f g h </a:t>
            </a:r>
            <a:r>
              <a:rPr lang="en-US" sz="5000" b="0" i="0" u="none" strike="noStrike" cap="none">
                <a:solidFill>
                  <a:srgbClr val="ED1C24"/>
                </a:solidFill>
                <a:latin typeface="Jost"/>
                <a:ea typeface="Jost"/>
                <a:cs typeface="Jost"/>
                <a:sym typeface="Jost"/>
              </a:rPr>
              <a:t>i</a:t>
            </a:r>
            <a:r>
              <a:rPr lang="en-US" sz="5000" b="0" i="0" u="none" strike="noStrike" cap="none">
                <a:solidFill>
                  <a:srgbClr val="2356AF"/>
                </a:solidFill>
                <a:latin typeface="Jost"/>
                <a:ea typeface="Jost"/>
                <a:cs typeface="Jost"/>
                <a:sym typeface="Jost"/>
              </a:rPr>
              <a:t> j k l m </a:t>
            </a:r>
            <a:br>
              <a:rPr lang="en-US" sz="5000" b="0" i="0" u="none" strike="noStrike" cap="none">
                <a:solidFill>
                  <a:srgbClr val="2356AF"/>
                </a:solidFill>
                <a:latin typeface="Jost"/>
                <a:ea typeface="Jost"/>
                <a:cs typeface="Jost"/>
                <a:sym typeface="Jost"/>
              </a:rPr>
            </a:br>
            <a:r>
              <a:rPr lang="en-US" sz="5000" b="0" i="0" u="none" strike="noStrike" cap="none">
                <a:solidFill>
                  <a:srgbClr val="2356AF"/>
                </a:solidFill>
                <a:latin typeface="Jost"/>
                <a:ea typeface="Jost"/>
                <a:cs typeface="Jost"/>
                <a:sym typeface="Jost"/>
              </a:rPr>
              <a:t>n </a:t>
            </a:r>
            <a:r>
              <a:rPr lang="en-US" sz="5000" b="0" i="0" u="none" strike="noStrike" cap="none">
                <a:solidFill>
                  <a:srgbClr val="ED1C24"/>
                </a:solidFill>
                <a:latin typeface="Jost"/>
                <a:ea typeface="Jost"/>
                <a:cs typeface="Jost"/>
                <a:sym typeface="Jost"/>
              </a:rPr>
              <a:t>o</a:t>
            </a:r>
            <a:r>
              <a:rPr lang="en-US" sz="5000" b="0" i="0" u="none" strike="noStrike" cap="none">
                <a:solidFill>
                  <a:srgbClr val="2356AF"/>
                </a:solidFill>
                <a:latin typeface="Jost"/>
                <a:ea typeface="Jost"/>
                <a:cs typeface="Jost"/>
                <a:sym typeface="Jost"/>
              </a:rPr>
              <a:t> p q r s t </a:t>
            </a:r>
            <a:r>
              <a:rPr lang="en-US" sz="5000" b="0" i="0" u="none" strike="noStrike" cap="none">
                <a:solidFill>
                  <a:srgbClr val="ED1C24"/>
                </a:solidFill>
                <a:latin typeface="Jost"/>
                <a:ea typeface="Jost"/>
                <a:cs typeface="Jost"/>
                <a:sym typeface="Jost"/>
              </a:rPr>
              <a:t>u</a:t>
            </a:r>
            <a:r>
              <a:rPr lang="en-US" sz="5000" b="0" i="0" u="none" strike="noStrike" cap="none">
                <a:solidFill>
                  <a:srgbClr val="2356AF"/>
                </a:solidFill>
                <a:latin typeface="Jost"/>
                <a:ea typeface="Jost"/>
                <a:cs typeface="Jost"/>
                <a:sym typeface="Jost"/>
              </a:rPr>
              <a:t> v w x y z</a:t>
            </a:r>
            <a:endParaRPr sz="5000" b="0" i="0" u="none" strike="noStrike" cap="none">
              <a:solidFill>
                <a:srgbClr val="2356AF"/>
              </a:solidFill>
              <a:latin typeface="Jost"/>
              <a:ea typeface="Jost"/>
              <a:cs typeface="Jost"/>
              <a:sym typeface="Jost"/>
            </a:endParaRPr>
          </a:p>
        </p:txBody>
      </p:sp>
      <p:cxnSp>
        <p:nvCxnSpPr>
          <p:cNvPr id="893" name="Google Shape;893;g1f3daf8a844_0_6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pic>
        <p:nvPicPr>
          <p:cNvPr id="899" name="Google Shape;899;g2c6753ba851_0_182"/>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900" name="Google Shape;900;g2c6753ba851_0_182"/>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Introduce the Alphabet Song.</a:t>
            </a:r>
            <a:endParaRPr sz="2400" b="0" i="0" u="none" strike="noStrike" cap="none">
              <a:solidFill>
                <a:srgbClr val="000000"/>
              </a:solidFill>
              <a:latin typeface="Poppins"/>
              <a:ea typeface="Poppins"/>
              <a:cs typeface="Poppins"/>
              <a:sym typeface="Poppins"/>
            </a:endParaRPr>
          </a:p>
        </p:txBody>
      </p:sp>
      <p:sp>
        <p:nvSpPr>
          <p:cNvPr id="901" name="Google Shape;901;g2c6753ba851_0_182"/>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ɑ,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Provide lowercase letters on paper or lowercase magnetic letters, mix them up and provide the children with an alphabet arc. Invite the children to put the letters in the order of the alphabet.</a:t>
            </a:r>
            <a:endParaRPr/>
          </a:p>
        </p:txBody>
      </p:sp>
      <p:grpSp>
        <p:nvGrpSpPr>
          <p:cNvPr id="908" name="Google Shape;908;g2c186218c5a_0_118"/>
          <p:cNvGrpSpPr/>
          <p:nvPr/>
        </p:nvGrpSpPr>
        <p:grpSpPr>
          <a:xfrm>
            <a:off x="505574" y="1880448"/>
            <a:ext cx="3573803" cy="2553126"/>
            <a:chOff x="429374" y="1804248"/>
            <a:chExt cx="3573803" cy="2553126"/>
          </a:xfrm>
        </p:grpSpPr>
        <p:pic>
          <p:nvPicPr>
            <p:cNvPr id="909" name="Google Shape;909;g2c186218c5a_0_118"/>
            <p:cNvPicPr preferRelativeResize="0"/>
            <p:nvPr/>
          </p:nvPicPr>
          <p:blipFill rotWithShape="1">
            <a:blip r:embed="rId3">
              <a:alphaModFix/>
            </a:blip>
            <a:srcRect t="20248" b="24548"/>
            <a:stretch/>
          </p:blipFill>
          <p:spPr>
            <a:xfrm rot="-279503">
              <a:off x="500622" y="1940456"/>
              <a:ext cx="3431307" cy="1894134"/>
            </a:xfrm>
            <a:prstGeom prst="rect">
              <a:avLst/>
            </a:prstGeom>
            <a:noFill/>
            <a:ln>
              <a:noFill/>
            </a:ln>
          </p:spPr>
        </p:pic>
        <p:pic>
          <p:nvPicPr>
            <p:cNvPr id="910" name="Google Shape;910;g2c186218c5a_0_118"/>
            <p:cNvPicPr preferRelativeResize="0"/>
            <p:nvPr/>
          </p:nvPicPr>
          <p:blipFill rotWithShape="1">
            <a:blip r:embed="rId4">
              <a:alphaModFix/>
            </a:blip>
            <a:srcRect/>
            <a:stretch/>
          </p:blipFill>
          <p:spPr>
            <a:xfrm rot="1181131">
              <a:off x="1708118" y="3879869"/>
              <a:ext cx="393637" cy="423584"/>
            </a:xfrm>
            <a:prstGeom prst="rect">
              <a:avLst/>
            </a:prstGeom>
            <a:noFill/>
            <a:ln>
              <a:noFill/>
            </a:ln>
          </p:spPr>
        </p:pic>
        <p:pic>
          <p:nvPicPr>
            <p:cNvPr id="911" name="Google Shape;911;g2c186218c5a_0_118"/>
            <p:cNvPicPr preferRelativeResize="0"/>
            <p:nvPr/>
          </p:nvPicPr>
          <p:blipFill rotWithShape="1">
            <a:blip r:embed="rId5">
              <a:alphaModFix/>
            </a:blip>
            <a:srcRect/>
            <a:stretch/>
          </p:blipFill>
          <p:spPr>
            <a:xfrm rot="674302">
              <a:off x="844085" y="1995843"/>
              <a:ext cx="180856" cy="369567"/>
            </a:xfrm>
            <a:prstGeom prst="rect">
              <a:avLst/>
            </a:prstGeom>
            <a:noFill/>
            <a:ln>
              <a:noFill/>
            </a:ln>
          </p:spPr>
        </p:pic>
        <p:pic>
          <p:nvPicPr>
            <p:cNvPr id="912" name="Google Shape;912;g2c186218c5a_0_118"/>
            <p:cNvPicPr preferRelativeResize="0"/>
            <p:nvPr/>
          </p:nvPicPr>
          <p:blipFill rotWithShape="1">
            <a:blip r:embed="rId6">
              <a:alphaModFix/>
            </a:blip>
            <a:srcRect/>
            <a:stretch/>
          </p:blipFill>
          <p:spPr>
            <a:xfrm rot="774011">
              <a:off x="2800048" y="3267374"/>
              <a:ext cx="327475" cy="528703"/>
            </a:xfrm>
            <a:prstGeom prst="rect">
              <a:avLst/>
            </a:prstGeom>
            <a:noFill/>
            <a:ln>
              <a:noFill/>
            </a:ln>
          </p:spPr>
        </p:pic>
        <p:pic>
          <p:nvPicPr>
            <p:cNvPr id="913" name="Google Shape;913;g2c186218c5a_0_118"/>
            <p:cNvPicPr preferRelativeResize="0"/>
            <p:nvPr/>
          </p:nvPicPr>
          <p:blipFill rotWithShape="1">
            <a:blip r:embed="rId7">
              <a:alphaModFix/>
            </a:blip>
            <a:srcRect/>
            <a:stretch/>
          </p:blipFill>
          <p:spPr>
            <a:xfrm rot="903485">
              <a:off x="2190432" y="2306176"/>
              <a:ext cx="266459" cy="270097"/>
            </a:xfrm>
            <a:prstGeom prst="rect">
              <a:avLst/>
            </a:prstGeom>
            <a:noFill/>
            <a:ln>
              <a:noFill/>
            </a:ln>
          </p:spPr>
        </p:pic>
        <p:pic>
          <p:nvPicPr>
            <p:cNvPr id="914" name="Google Shape;914;g2c186218c5a_0_118"/>
            <p:cNvPicPr preferRelativeResize="0"/>
            <p:nvPr/>
          </p:nvPicPr>
          <p:blipFill rotWithShape="1">
            <a:blip r:embed="rId8">
              <a:alphaModFix/>
            </a:blip>
            <a:srcRect/>
            <a:stretch/>
          </p:blipFill>
          <p:spPr>
            <a:xfrm rot="-1213581">
              <a:off x="1657154" y="3093263"/>
              <a:ext cx="366891" cy="263024"/>
            </a:xfrm>
            <a:prstGeom prst="rect">
              <a:avLst/>
            </a:prstGeom>
            <a:noFill/>
            <a:ln>
              <a:noFill/>
            </a:ln>
          </p:spPr>
        </p:pic>
        <p:pic>
          <p:nvPicPr>
            <p:cNvPr id="915" name="Google Shape;915;g2c186218c5a_0_118"/>
            <p:cNvPicPr preferRelativeResize="0"/>
            <p:nvPr/>
          </p:nvPicPr>
          <p:blipFill rotWithShape="1">
            <a:blip r:embed="rId9">
              <a:alphaModFix/>
            </a:blip>
            <a:srcRect/>
            <a:stretch/>
          </p:blipFill>
          <p:spPr>
            <a:xfrm>
              <a:off x="3501172" y="1927216"/>
              <a:ext cx="221850" cy="348984"/>
            </a:xfrm>
            <a:prstGeom prst="rect">
              <a:avLst/>
            </a:prstGeom>
            <a:noFill/>
            <a:ln>
              <a:noFill/>
            </a:ln>
          </p:spPr>
        </p:pic>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463</Words>
  <Application>Microsoft Office PowerPoint</Application>
  <PresentationFormat>On-screen Show (4:3)</PresentationFormat>
  <Paragraphs>99</Paragraphs>
  <Slides>18</Slides>
  <Notes>18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Jost</vt:lpstr>
      <vt:lpstr>Poppins SemiBold</vt:lpstr>
      <vt:lpstr>Calibri</vt:lpstr>
      <vt:lpstr>Mulish</vt:lpstr>
      <vt:lpstr>Arial</vt:lpstr>
      <vt:lpstr>Nunito Black</vt:lpstr>
      <vt:lpstr>Poppins</vt:lpstr>
      <vt:lpstr>Poppins Medium</vt:lpstr>
      <vt:lpstr>Jost Medium</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PowerPoint Presentation</vt:lpstr>
      <vt:lpstr>Name the Animal</vt:lpstr>
      <vt:lpstr>Name the Animal</vt:lpstr>
      <vt:lpstr>Name the Animal</vt:lpstr>
      <vt:lpstr>Name the Animal</vt:lpstr>
      <vt:lpstr>Name the Animal</vt:lpstr>
      <vt:lpstr>Lowercase Letters</vt:lpstr>
      <vt:lpstr>Lowercase Letters</vt:lpstr>
      <vt:lpstr>Lowercase Letters</vt:lpstr>
      <vt:lpstr>Lowercase Letters</vt:lpstr>
      <vt:lpstr>Display the Alphabet in order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2026-04-28T04:05:06Z</dcterms:modified>
</cp:coreProperties>
</file>