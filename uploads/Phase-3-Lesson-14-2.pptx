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embeddedFontLst>
    <p:embeddedFont>
      <p:font typeface="Jost" panose="020B0604020202020204" charset="0"/>
      <p:regular r:id="rId17"/>
      <p:bold r:id="rId18"/>
      <p:italic r:id="rId19"/>
      <p:boldItalic r:id="rId20"/>
    </p:embeddedFont>
    <p:embeddedFont>
      <p:font typeface="Lexend Light" panose="020B0604020202020204" charset="0"/>
      <p:regular r:id="rId21"/>
      <p:bold r:id="rId22"/>
    </p:embeddedFont>
    <p:embeddedFont>
      <p:font typeface="Mulish" panose="020B0604020202020204" charset="0"/>
      <p:regular r:id="rId23"/>
      <p:bold r:id="rId24"/>
      <p:italic r:id="rId25"/>
      <p:boldItalic r:id="rId26"/>
    </p:embeddedFont>
    <p:embeddedFont>
      <p:font typeface="Nunito Black" pitchFamily="2" charset="0"/>
      <p:bold r:id="rId27"/>
      <p:boldItalic r:id="rId28"/>
    </p:embeddedFont>
    <p:embeddedFont>
      <p:font typeface="Poppins" panose="000005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jZXtcvYD1wikVEcvXpC7+XGPyV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CB99E22-0DF9-4260-B0AF-437342E21FB4}">
  <a:tblStyle styleId="{1CB99E22-0DF9-4260-B0AF-437342E21FB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font" Target="fonts/font23.fntdata"/><Relationship Id="rId21" Type="http://schemas.openxmlformats.org/officeDocument/2006/relationships/font" Target="fonts/font5.fntdata"/><Relationship Id="rId34" Type="http://schemas.openxmlformats.org/officeDocument/2006/relationships/font" Target="fonts/font18.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font" Target="fonts/font2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1" name="Google Shape;691;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2" name="Google Shape;692;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7" name="Google Shape;73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8" name="Google Shape;73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c67b7ed318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2c67b7ed318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2c67b7ed318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2c67b7ed318_0_7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g2c67b7ed318_0_7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9" name="Google Shape;759;g2c67b7ed318_0_7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6" name="Google Shape;76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7" name="Google Shape;76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6" name="Google Shape;776;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2c67b7ed318_0_146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4" name="Google Shape;784;g2c67b7ed318_0_14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5" name="Google Shape;785;g2c67b7ed318_0_14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2c67b7ed318_0_14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3" name="Google Shape;793;g2c67b7ed318_0_14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4" name="Google Shape;794;g2c67b7ed318_0_14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2c67b7ed318_0_14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2" name="Google Shape;802;g2c67b7ed318_0_14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3" name="Google Shape;803;g2c67b7ed318_0_14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2c67b7ed318_0_148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1" name="Google Shape;811;g2c67b7ed318_0_14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2" name="Google Shape;812;g2c67b7ed318_0_14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2c67b7ed318_0_149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0" name="Google Shape;820;g2c67b7ed318_0_14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1" name="Google Shape;821;g2c67b7ed318_0_149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c67b7ed318_0_15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c67b7ed318_0_15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c67b7ed318_0_15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091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Uppercase Letters - H T I</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656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3 - Thursday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14</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pic>
        <p:nvPicPr>
          <p:cNvPr id="682" name="Google Shape;682;p1"/>
          <p:cNvPicPr preferRelativeResize="0"/>
          <p:nvPr/>
        </p:nvPicPr>
        <p:blipFill rotWithShape="1">
          <a:blip r:embed="rId3">
            <a:alphaModFix/>
          </a:blip>
          <a:srcRect l="19" r="19"/>
          <a:stretch/>
        </p:blipFill>
        <p:spPr>
          <a:xfrm rot="283616">
            <a:off x="4947466" y="3890115"/>
            <a:ext cx="1168093" cy="1653269"/>
          </a:xfrm>
          <a:prstGeom prst="rect">
            <a:avLst/>
          </a:prstGeom>
          <a:noFill/>
          <a:ln>
            <a:noFill/>
          </a:ln>
          <a:effectLst>
            <a:outerShdw blurRad="71438" dist="38100" dir="5220000" algn="bl" rotWithShape="0">
              <a:srgbClr val="000000">
                <a:alpha val="20000"/>
              </a:srgbClr>
            </a:outerShdw>
          </a:effectLst>
        </p:spPr>
      </p:pic>
      <p:pic>
        <p:nvPicPr>
          <p:cNvPr id="683" name="Google Shape;683;p1"/>
          <p:cNvPicPr preferRelativeResize="0"/>
          <p:nvPr/>
        </p:nvPicPr>
        <p:blipFill rotWithShape="1">
          <a:blip r:embed="rId4">
            <a:alphaModFix/>
          </a:blip>
          <a:srcRect l="19" r="19"/>
          <a:stretch/>
        </p:blipFill>
        <p:spPr>
          <a:xfrm rot="-262118">
            <a:off x="6132658" y="3819627"/>
            <a:ext cx="1208039" cy="1709827"/>
          </a:xfrm>
          <a:prstGeom prst="rect">
            <a:avLst/>
          </a:prstGeom>
          <a:noFill/>
          <a:ln>
            <a:noFill/>
          </a:ln>
          <a:effectLst>
            <a:outerShdw blurRad="71438" dist="38100" dir="5220000" algn="bl" rotWithShape="0">
              <a:srgbClr val="000000">
                <a:alpha val="20000"/>
              </a:srgbClr>
            </a:outerShdw>
          </a:effectLst>
        </p:spPr>
      </p:pic>
      <p:sp>
        <p:nvSpPr>
          <p:cNvPr id="684" name="Google Shape;684;p1"/>
          <p:cNvSpPr txBox="1">
            <a:spLocks noGrp="1"/>
          </p:cNvSpPr>
          <p:nvPr>
            <p:ph type="subTitle" idx="1"/>
          </p:nvPr>
        </p:nvSpPr>
        <p:spPr>
          <a:xfrm>
            <a:off x="884100" y="2716650"/>
            <a:ext cx="39972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Uppercase Letters; </a:t>
            </a:r>
            <a:br>
              <a:rPr lang="en-US"/>
            </a:br>
            <a:r>
              <a:rPr lang="en-US"/>
              <a:t>H T I</a:t>
            </a:r>
            <a:endParaRPr/>
          </a:p>
        </p:txBody>
      </p:sp>
      <p:sp>
        <p:nvSpPr>
          <p:cNvPr id="685" name="Google Shape;685;p1"/>
          <p:cNvSpPr txBox="1">
            <a:spLocks noGrp="1"/>
          </p:cNvSpPr>
          <p:nvPr>
            <p:ph type="subTitle" idx="2"/>
          </p:nvPr>
        </p:nvSpPr>
        <p:spPr>
          <a:xfrm>
            <a:off x="884092" y="37541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14</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{1CB99E22-0DF9-4260-B0AF-437342E21FB4}</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87" name="Google Shape;687;p1"/>
          <p:cNvPicPr preferRelativeResize="0"/>
          <p:nvPr/>
        </p:nvPicPr>
        <p:blipFill rotWithShape="1">
          <a:blip r:embed="rId5">
            <a:alphaModFix/>
          </a:blip>
          <a:srcRect l="79" r="69"/>
          <a:stretch/>
        </p:blipFill>
        <p:spPr>
          <a:xfrm rot="352773">
            <a:off x="7336184"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88" name="Google Shape;688;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uppercase letters </a:t>
            </a:r>
            <a:r>
              <a:rPr lang="en-US">
                <a:solidFill>
                  <a:srgbClr val="8DC63F"/>
                </a:solidFill>
              </a:rPr>
              <a:t>H T I</a:t>
            </a:r>
            <a:r>
              <a:rPr lang="en-US"/>
              <a:t>.</a:t>
            </a:r>
            <a:endParaRPr/>
          </a:p>
        </p:txBody>
      </p:sp>
      <p:sp>
        <p:nvSpPr>
          <p:cNvPr id="695" name="Google Shape;695;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a:t>
            </a:r>
            <a:endParaRPr/>
          </a:p>
          <a:p>
            <a:pPr marL="457200" lvl="0" indent="-330200" algn="l" rtl="0">
              <a:lnSpc>
                <a:spcPct val="100000"/>
              </a:lnSpc>
              <a:spcBef>
                <a:spcPts val="0"/>
              </a:spcBef>
              <a:spcAft>
                <a:spcPts val="0"/>
              </a:spcAft>
              <a:buSzPts val="1600"/>
              <a:buChar char="•"/>
            </a:pPr>
            <a:r>
              <a:rPr lang="en-US"/>
              <a:t>Review Alphabet Song.</a:t>
            </a:r>
            <a:endParaRPr/>
          </a:p>
          <a:p>
            <a:pPr marL="457200" lvl="0" indent="-330200" algn="l" rtl="0">
              <a:lnSpc>
                <a:spcPct val="100000"/>
              </a:lnSpc>
              <a:spcBef>
                <a:spcPts val="0"/>
              </a:spcBef>
              <a:spcAft>
                <a:spcPts val="0"/>
              </a:spcAft>
              <a:buSzPts val="1600"/>
              <a:buChar char="•"/>
            </a:pPr>
            <a:r>
              <a:rPr lang="en-US"/>
              <a:t>Review Vowel song.</a:t>
            </a:r>
            <a:endParaRPr/>
          </a:p>
        </p:txBody>
      </p:sp>
      <p:sp>
        <p:nvSpPr>
          <p:cNvPr id="696" name="Google Shape;696;g2bee4f4af4b_0_204"/>
          <p:cNvSpPr txBox="1"/>
          <p:nvPr/>
        </p:nvSpPr>
        <p:spPr>
          <a:xfrm>
            <a:off x="13135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697" name="Google Shape;697;g2bee4f4af4b_0_204"/>
          <p:cNvSpPr txBox="1"/>
          <p:nvPr/>
        </p:nvSpPr>
        <p:spPr>
          <a:xfrm>
            <a:off x="62557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698" name="Google Shape;698;g2bee4f4af4b_0_204"/>
          <p:cNvSpPr txBox="1"/>
          <p:nvPr/>
        </p:nvSpPr>
        <p:spPr>
          <a:xfrm>
            <a:off x="2742214" y="5645000"/>
            <a:ext cx="17967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699" name="Google Shape;699;g2bee4f4af4b_0_204"/>
          <p:cNvSpPr txBox="1"/>
          <p:nvPr/>
        </p:nvSpPr>
        <p:spPr>
          <a:xfrm>
            <a:off x="46083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03" name="Google Shape;703;g2bee4f4af4b_0_204"/>
          <p:cNvSpPr txBox="1"/>
          <p:nvPr/>
        </p:nvSpPr>
        <p:spPr>
          <a:xfrm>
            <a:off x="856325" y="3761525"/>
            <a:ext cx="7292400" cy="785700"/>
          </a:xfrm>
          <a:prstGeom prst="rect">
            <a:avLst/>
          </a:prstGeom>
          <a:noFill/>
          <a:ln>
            <a:noFill/>
          </a:ln>
        </p:spPr>
        <p:txBody>
          <a:bodyPr spcFirstLastPara="1" wrap="square" lIns="0" tIns="45700" rIns="91425" bIns="45700" anchor="t" anchorCtr="0">
            <a:noAutofit/>
          </a:bodyPr>
          <a:lstStyle/>
          <a:p>
            <a:pPr marL="0" marR="0" lvl="0" indent="0" algn="l" rtl="0">
              <a:lnSpc>
                <a:spcPct val="115000"/>
              </a:lnSpc>
              <a:spcBef>
                <a:spcPts val="1000"/>
              </a:spcBef>
              <a:spcAft>
                <a:spcPts val="0"/>
              </a:spcAft>
              <a:buClr>
                <a:srgbClr val="000000"/>
              </a:buClr>
              <a:buSzPts val="1200"/>
              <a:buFont typeface="Arial"/>
              <a:buNone/>
            </a:pPr>
            <a:r>
              <a:rPr lang="en-US" sz="1200" b="0" i="0" u="none" strike="noStrike" cap="none" dirty="0">
                <a:solidFill>
                  <a:srgbClr val="262626"/>
                </a:solidFill>
                <a:latin typeface="Poppins"/>
                <a:ea typeface="Poppins"/>
                <a:cs typeface="Poppins"/>
                <a:sym typeface="Poppins"/>
              </a:rPr>
              <a:t>A large display that has the letters of the alphabet on it. This could be an Alphabet Arc, poster, magnetic letters on a whiteboard etc. Visit </a:t>
            </a:r>
            <a:r>
              <a:rPr lang="en-US" sz="1200" u="sng" dirty="0">
                <a:solidFill>
                  <a:schemeClr val="hlink"/>
                </a:solidFill>
                <a:latin typeface="Poppins"/>
                <a:ea typeface="Poppins"/>
                <a:cs typeface="Poppins"/>
                <a:sym typeface="Poppins"/>
              </a:rPr>
              <a:t>www.teaching.com.au</a:t>
            </a:r>
            <a:r>
              <a:rPr lang="en-US" sz="1200" b="0" i="0" u="none" strike="noStrike" cap="none" dirty="0">
                <a:solidFill>
                  <a:srgbClr val="262626"/>
                </a:solidFill>
                <a:latin typeface="Poppins"/>
                <a:ea typeface="Poppins"/>
                <a:cs typeface="Poppins"/>
                <a:sym typeface="Poppins"/>
              </a:rPr>
              <a:t> to shop teaching resources.</a:t>
            </a:r>
            <a:endParaRPr sz="1200" b="0" i="0" u="none" strike="noStrike" cap="none" dirty="0">
              <a:solidFill>
                <a:srgbClr val="262626"/>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11" name="Google Shape;711;g26b641b03cd_0_165"/>
          <p:cNvGrpSpPr/>
          <p:nvPr/>
        </p:nvGrpSpPr>
        <p:grpSpPr>
          <a:xfrm>
            <a:off x="930400" y="2129444"/>
            <a:ext cx="7283200" cy="3724851"/>
            <a:chOff x="930400" y="2129444"/>
            <a:chExt cx="7283200" cy="3724851"/>
          </a:xfrm>
        </p:grpSpPr>
        <p:pic>
          <p:nvPicPr>
            <p:cNvPr id="712" name="Google Shape;71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41" name="Google Shape;741;g26b7edf6e71_0_26"/>
          <p:cNvPicPr preferRelativeResize="0"/>
          <p:nvPr/>
        </p:nvPicPr>
        <p:blipFill rotWithShape="1">
          <a:blip r:embed="rId3">
            <a:alphaModFix/>
          </a:blip>
          <a:srcRect l="79" r="79"/>
          <a:stretch/>
        </p:blipFill>
        <p:spPr>
          <a:xfrm>
            <a:off x="930400" y="2129450"/>
            <a:ext cx="933501" cy="1321313"/>
          </a:xfrm>
          <a:prstGeom prst="rect">
            <a:avLst/>
          </a:prstGeom>
          <a:noFill/>
          <a:ln>
            <a:noFill/>
          </a:ln>
          <a:effectLst>
            <a:outerShdw blurRad="71438" dist="28575" dir="5400000" algn="bl" rotWithShape="0">
              <a:srgbClr val="000000">
                <a:alpha val="15686"/>
              </a:srgbClr>
            </a:outerShdw>
          </a:effectLst>
        </p:spPr>
      </p:pic>
      <p:pic>
        <p:nvPicPr>
          <p:cNvPr id="742" name="Google Shape;742;g26b7edf6e71_0_26"/>
          <p:cNvPicPr preferRelativeResize="0"/>
          <p:nvPr/>
        </p:nvPicPr>
        <p:blipFill rotWithShape="1">
          <a:blip r:embed="rId4">
            <a:alphaModFix/>
          </a:blip>
          <a:srcRect l="79" r="79"/>
          <a:stretch/>
        </p:blipFill>
        <p:spPr>
          <a:xfrm>
            <a:off x="4072837" y="2129450"/>
            <a:ext cx="933501" cy="1321313"/>
          </a:xfrm>
          <a:prstGeom prst="rect">
            <a:avLst/>
          </a:prstGeom>
          <a:noFill/>
          <a:ln>
            <a:noFill/>
          </a:ln>
          <a:effectLst>
            <a:outerShdw blurRad="71438" dist="28575" dir="5400000" algn="bl" rotWithShape="0">
              <a:srgbClr val="000000">
                <a:alpha val="15686"/>
              </a:srgbClr>
            </a:outerShdw>
          </a:effectLst>
        </p:spPr>
      </p:pic>
      <p:pic>
        <p:nvPicPr>
          <p:cNvPr id="743" name="Google Shape;743;g26b7edf6e71_0_26"/>
          <p:cNvPicPr preferRelativeResize="0"/>
          <p:nvPr/>
        </p:nvPicPr>
        <p:blipFill rotWithShape="1">
          <a:blip r:embed="rId5">
            <a:alphaModFix/>
          </a:blip>
          <a:srcRect l="79" r="79"/>
          <a:stretch/>
        </p:blipFill>
        <p:spPr>
          <a:xfrm>
            <a:off x="1977879" y="2129450"/>
            <a:ext cx="933501" cy="1321313"/>
          </a:xfrm>
          <a:prstGeom prst="rect">
            <a:avLst/>
          </a:prstGeom>
          <a:noFill/>
          <a:ln>
            <a:noFill/>
          </a:ln>
          <a:effectLst>
            <a:outerShdw blurRad="71438" dist="28575" dir="5400000" algn="bl" rotWithShape="0">
              <a:srgbClr val="000000">
                <a:alpha val="15686"/>
              </a:srgbClr>
            </a:outerShdw>
          </a:effectLst>
        </p:spPr>
      </p:pic>
      <p:pic>
        <p:nvPicPr>
          <p:cNvPr id="744" name="Google Shape;744;g26b7edf6e71_0_26"/>
          <p:cNvPicPr preferRelativeResize="0"/>
          <p:nvPr/>
        </p:nvPicPr>
        <p:blipFill rotWithShape="1">
          <a:blip r:embed="rId6">
            <a:alphaModFix/>
          </a:blip>
          <a:srcRect l="19" r="29"/>
          <a:stretch/>
        </p:blipFill>
        <p:spPr>
          <a:xfrm>
            <a:off x="3025359" y="2129450"/>
            <a:ext cx="933501" cy="1321313"/>
          </a:xfrm>
          <a:prstGeom prst="rect">
            <a:avLst/>
          </a:prstGeom>
          <a:noFill/>
          <a:ln>
            <a:noFill/>
          </a:ln>
          <a:effectLst>
            <a:outerShdw blurRad="71438" dist="28575" dir="5400000" algn="bl" rotWithShape="0">
              <a:srgbClr val="000000">
                <a:alpha val="15686"/>
              </a:srgbClr>
            </a:outerShdw>
          </a:effectLst>
        </p:spPr>
      </p:pic>
      <p:pic>
        <p:nvPicPr>
          <p:cNvPr id="745" name="Google Shape;745;g26b7edf6e71_0_26"/>
          <p:cNvPicPr preferRelativeResize="0"/>
          <p:nvPr/>
        </p:nvPicPr>
        <p:blipFill rotWithShape="1">
          <a:blip r:embed="rId7">
            <a:alphaModFix/>
          </a:blip>
          <a:srcRect l="19" r="29"/>
          <a:stretch/>
        </p:blipFill>
        <p:spPr>
          <a:xfrm>
            <a:off x="5120316" y="2129450"/>
            <a:ext cx="933501" cy="1321313"/>
          </a:xfrm>
          <a:prstGeom prst="rect">
            <a:avLst/>
          </a:prstGeom>
          <a:noFill/>
          <a:ln>
            <a:noFill/>
          </a:ln>
          <a:effectLst>
            <a:outerShdw blurRad="71438" dist="28575" dir="5400000" algn="bl" rotWithShape="0">
              <a:srgbClr val="000000">
                <a:alpha val="15686"/>
              </a:srgbClr>
            </a:outerShdw>
          </a:effectLst>
        </p:spPr>
      </p:pic>
      <p:pic>
        <p:nvPicPr>
          <p:cNvPr id="746" name="Google Shape;746;g26b7edf6e71_0_26"/>
          <p:cNvPicPr preferRelativeResize="0"/>
          <p:nvPr/>
        </p:nvPicPr>
        <p:blipFill rotWithShape="1">
          <a:blip r:embed="rId8">
            <a:alphaModFix/>
          </a:blip>
          <a:srcRect l="79" r="79"/>
          <a:stretch/>
        </p:blipFill>
        <p:spPr>
          <a:xfrm>
            <a:off x="6167796" y="2129450"/>
            <a:ext cx="933501" cy="1321313"/>
          </a:xfrm>
          <a:prstGeom prst="rect">
            <a:avLst/>
          </a:prstGeom>
          <a:noFill/>
          <a:ln>
            <a:noFill/>
          </a:ln>
          <a:effectLst>
            <a:outerShdw blurRad="71438" dist="28575" dir="5400000" algn="bl" rotWithShape="0">
              <a:srgbClr val="000000">
                <a:alpha val="15686"/>
              </a:srgbClr>
            </a:outerShdw>
          </a:effectLst>
        </p:spPr>
      </p:pic>
      <p:pic>
        <p:nvPicPr>
          <p:cNvPr id="747" name="Google Shape;747;g26b7edf6e71_0_26"/>
          <p:cNvPicPr preferRelativeResize="0"/>
          <p:nvPr/>
        </p:nvPicPr>
        <p:blipFill rotWithShape="1">
          <a:blip r:embed="rId9">
            <a:alphaModFix/>
          </a:blip>
          <a:srcRect l="79" r="79"/>
          <a:stretch/>
        </p:blipFill>
        <p:spPr>
          <a:xfrm>
            <a:off x="7215274" y="2129450"/>
            <a:ext cx="933501" cy="1321313"/>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2c67b7ed318_0_11"/>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754" name="Google Shape;754;g2c67b7ed318_0_11"/>
          <p:cNvSpPr txBox="1"/>
          <p:nvPr/>
        </p:nvSpPr>
        <p:spPr>
          <a:xfrm>
            <a:off x="876925" y="1865475"/>
            <a:ext cx="7272000" cy="30441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55" name="Google Shape;755;g2c67b7ed318_0_11"/>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g2c67b7ed318_0_737"/>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Vowel Hand Song.</a:t>
            </a:r>
            <a:endParaRPr sz="2400" b="0" i="0" u="none" strike="noStrike" cap="none">
              <a:solidFill>
                <a:srgbClr val="000000"/>
              </a:solidFill>
              <a:latin typeface="Poppins"/>
              <a:ea typeface="Poppins"/>
              <a:cs typeface="Poppins"/>
              <a:sym typeface="Poppins"/>
            </a:endParaRPr>
          </a:p>
        </p:txBody>
      </p:sp>
      <p:sp>
        <p:nvSpPr>
          <p:cNvPr id="762" name="Google Shape;762;g2c67b7ed318_0_737"/>
          <p:cNvSpPr txBox="1"/>
          <p:nvPr/>
        </p:nvSpPr>
        <p:spPr>
          <a:xfrm>
            <a:off x="876925" y="2094075"/>
            <a:ext cx="4263900" cy="35874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e, i, o, u   a, e, i, o, u   a, e, i, o, u </a:t>
            </a:r>
            <a:r>
              <a:rPr lang="en-US" sz="2000" b="0" i="0" u="none" strike="noStrike" cap="none">
                <a:solidFill>
                  <a:srgbClr val="D9D9D9"/>
                </a:solidFill>
                <a:latin typeface="Poppins"/>
                <a:ea typeface="Poppins"/>
                <a:cs typeface="Poppins"/>
                <a:sym typeface="Poppins"/>
              </a:rPr>
              <a:t>(short sounds only)</a:t>
            </a:r>
            <a:endParaRPr sz="2000" b="0" i="0" u="none" strike="noStrike" cap="none">
              <a:solidFill>
                <a:srgbClr val="D9D9D9"/>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are short vowels that we use</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a vowel is in every word,</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that we read or write.</a:t>
            </a:r>
            <a:endParaRPr sz="2000" b="0" i="0" u="none" strike="noStrike" cap="none">
              <a:solidFill>
                <a:srgbClr val="000000"/>
              </a:solidFill>
              <a:latin typeface="Poppins"/>
              <a:ea typeface="Poppins"/>
              <a:cs typeface="Poppins"/>
              <a:sym typeface="Poppins"/>
            </a:endParaRPr>
          </a:p>
        </p:txBody>
      </p:sp>
      <p:pic>
        <p:nvPicPr>
          <p:cNvPr id="763" name="Google Shape;763;g2c67b7ed318_0_737"/>
          <p:cNvPicPr preferRelativeResize="0"/>
          <p:nvPr/>
        </p:nvPicPr>
        <p:blipFill rotWithShape="1">
          <a:blip r:embed="rId3">
            <a:alphaModFix/>
          </a:blip>
          <a:srcRect t="7522" r="7062" b="17832"/>
          <a:stretch/>
        </p:blipFill>
        <p:spPr>
          <a:xfrm>
            <a:off x="4509700" y="2118750"/>
            <a:ext cx="3638549" cy="41330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70" name="Google Shape;77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71" name="Google Shape;771;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843"/>
              </a:srgbClr>
            </a:outerShdw>
          </a:effectLst>
        </p:spPr>
      </p:pic>
      <p:sp>
        <p:nvSpPr>
          <p:cNvPr id="772" name="Google Shape;77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79" name="Google Shape;779;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780" name="Google Shape;780;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7843"/>
              </a:srgbClr>
            </a:outerShdw>
          </a:effectLst>
        </p:spPr>
      </p:pic>
      <p:sp>
        <p:nvSpPr>
          <p:cNvPr id="781" name="Google Shape;781;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g2c67b7ed318_0_146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88" name="Google Shape;788;g2c67b7ed318_0_146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89" name="Google Shape;789;g2c67b7ed318_0_1463"/>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790" name="Google Shape;790;g2c67b7ed318_0_146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g2c67b7ed318_0_147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97" name="Google Shape;797;g2c67b7ed318_0_147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sp>
        <p:nvSpPr>
          <p:cNvPr id="798" name="Google Shape;798;g2c67b7ed318_0_147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799" name="Google Shape;799;g2c67b7ed318_0_1471"/>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g2c67b7ed318_0_147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6" name="Google Shape;806;g2c67b7ed318_0_147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07" name="Google Shape;807;g2c67b7ed318_0_1479"/>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08" name="Google Shape;808;g2c67b7ed318_0_147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g2c67b7ed318_0_148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5" name="Google Shape;815;g2c67b7ed318_0_148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16" name="Google Shape;816;g2c67b7ed318_0_1487"/>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17" name="Google Shape;817;g2c67b7ed318_0_148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g2c67b7ed318_0_149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824" name="Google Shape;824;g2c67b7ed318_0_149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Display the Alphabet in order</a:t>
            </a:r>
            <a:endParaRPr/>
          </a:p>
        </p:txBody>
      </p:sp>
      <p:grpSp>
        <p:nvGrpSpPr>
          <p:cNvPr id="825" name="Google Shape;825;g2c67b7ed318_0_1495"/>
          <p:cNvGrpSpPr/>
          <p:nvPr/>
        </p:nvGrpSpPr>
        <p:grpSpPr>
          <a:xfrm>
            <a:off x="3024000" y="209875"/>
            <a:ext cx="3096000" cy="454800"/>
            <a:chOff x="3024000" y="209875"/>
            <a:chExt cx="3096000" cy="454800"/>
          </a:xfrm>
        </p:grpSpPr>
        <p:sp>
          <p:nvSpPr>
            <p:cNvPr id="826" name="Google Shape;826;g2c67b7ed318_0_149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7" name="Google Shape;827;g2c67b7ed318_0_149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828" name="Google Shape;828;g2c67b7ed318_0_1495"/>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829" name="Google Shape;829;g2c67b7ed318_0_1495"/>
          <p:cNvSpPr txBox="1"/>
          <p:nvPr/>
        </p:nvSpPr>
        <p:spPr>
          <a:xfrm>
            <a:off x="1181100" y="795925"/>
            <a:ext cx="67818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200" b="0" i="0" u="none" strike="noStrike" cap="none">
                <a:solidFill>
                  <a:srgbClr val="ED1C24"/>
                </a:solidFill>
                <a:latin typeface="Poppins"/>
                <a:ea typeface="Poppins"/>
                <a:cs typeface="Poppins"/>
                <a:sym typeface="Poppins"/>
              </a:rPr>
              <a:t>a</a:t>
            </a:r>
            <a:r>
              <a:rPr lang="en-US" sz="5000" b="0" i="0" u="none" strike="noStrike" cap="none">
                <a:solidFill>
                  <a:srgbClr val="2356AF"/>
                </a:solidFill>
                <a:latin typeface="Jost"/>
                <a:ea typeface="Jost"/>
                <a:cs typeface="Jost"/>
                <a:sym typeface="Jost"/>
              </a:rPr>
              <a:t> b c d </a:t>
            </a:r>
            <a:r>
              <a:rPr lang="en-US" sz="5000" b="0" i="0" u="none" strike="noStrike" cap="none">
                <a:solidFill>
                  <a:srgbClr val="ED1C24"/>
                </a:solidFill>
                <a:latin typeface="Jost"/>
                <a:ea typeface="Jost"/>
                <a:cs typeface="Jost"/>
                <a:sym typeface="Jost"/>
              </a:rPr>
              <a:t>e</a:t>
            </a:r>
            <a:r>
              <a:rPr lang="en-US" sz="5000" b="0" i="0" u="none" strike="noStrike" cap="none">
                <a:solidFill>
                  <a:srgbClr val="2356AF"/>
                </a:solidFill>
                <a:latin typeface="Jost"/>
                <a:ea typeface="Jost"/>
                <a:cs typeface="Jost"/>
                <a:sym typeface="Jost"/>
              </a:rPr>
              <a:t> f g h </a:t>
            </a:r>
            <a:r>
              <a:rPr lang="en-US" sz="5000" b="0" i="0" u="none" strike="noStrike" cap="none">
                <a:solidFill>
                  <a:srgbClr val="ED1C24"/>
                </a:solidFill>
                <a:latin typeface="Jost"/>
                <a:ea typeface="Jost"/>
                <a:cs typeface="Jost"/>
                <a:sym typeface="Jost"/>
              </a:rPr>
              <a:t>i</a:t>
            </a:r>
            <a:r>
              <a:rPr lang="en-US" sz="5000" b="0" i="0" u="none" strike="noStrike" cap="none">
                <a:solidFill>
                  <a:srgbClr val="2356AF"/>
                </a:solidFill>
                <a:latin typeface="Jost"/>
                <a:ea typeface="Jost"/>
                <a:cs typeface="Jost"/>
                <a:sym typeface="Jost"/>
              </a:rPr>
              <a:t> j k l m </a:t>
            </a:r>
            <a:br>
              <a:rPr lang="en-US" sz="5000" b="0" i="0" u="none" strike="noStrike" cap="none">
                <a:solidFill>
                  <a:srgbClr val="2356AF"/>
                </a:solidFill>
                <a:latin typeface="Jost"/>
                <a:ea typeface="Jost"/>
                <a:cs typeface="Jost"/>
                <a:sym typeface="Jost"/>
              </a:rPr>
            </a:br>
            <a:r>
              <a:rPr lang="en-US" sz="5000" b="0" i="0" u="none" strike="noStrike" cap="none">
                <a:solidFill>
                  <a:srgbClr val="2356AF"/>
                </a:solidFill>
                <a:latin typeface="Jost"/>
                <a:ea typeface="Jost"/>
                <a:cs typeface="Jost"/>
                <a:sym typeface="Jost"/>
              </a:rPr>
              <a:t>n </a:t>
            </a:r>
            <a:r>
              <a:rPr lang="en-US" sz="5000" b="0" i="0" u="none" strike="noStrike" cap="none">
                <a:solidFill>
                  <a:srgbClr val="ED1C24"/>
                </a:solidFill>
                <a:latin typeface="Jost"/>
                <a:ea typeface="Jost"/>
                <a:cs typeface="Jost"/>
                <a:sym typeface="Jost"/>
              </a:rPr>
              <a:t>o</a:t>
            </a:r>
            <a:r>
              <a:rPr lang="en-US" sz="5000" b="0" i="0" u="none" strike="noStrike" cap="none">
                <a:solidFill>
                  <a:srgbClr val="2356AF"/>
                </a:solidFill>
                <a:latin typeface="Jost"/>
                <a:ea typeface="Jost"/>
                <a:cs typeface="Jost"/>
                <a:sym typeface="Jost"/>
              </a:rPr>
              <a:t> p q r s t </a:t>
            </a:r>
            <a:r>
              <a:rPr lang="en-US" sz="5000" b="0" i="0" u="none" strike="noStrike" cap="none">
                <a:solidFill>
                  <a:srgbClr val="ED1C24"/>
                </a:solidFill>
                <a:latin typeface="Jost"/>
                <a:ea typeface="Jost"/>
                <a:cs typeface="Jost"/>
                <a:sym typeface="Jost"/>
              </a:rPr>
              <a:t>u</a:t>
            </a:r>
            <a:r>
              <a:rPr lang="en-US" sz="5000" b="0" i="0" u="none" strike="noStrike" cap="none">
                <a:solidFill>
                  <a:srgbClr val="2356AF"/>
                </a:solidFill>
                <a:latin typeface="Jost"/>
                <a:ea typeface="Jost"/>
                <a:cs typeface="Jost"/>
                <a:sym typeface="Jost"/>
              </a:rPr>
              <a:t> v w x y z</a:t>
            </a:r>
            <a:endParaRPr sz="5000" b="0" i="0" u="none" strike="noStrike" cap="none">
              <a:solidFill>
                <a:srgbClr val="2356AF"/>
              </a:solidFill>
              <a:latin typeface="Jost"/>
              <a:ea typeface="Jost"/>
              <a:cs typeface="Jost"/>
              <a:sym typeface="Jost"/>
            </a:endParaRPr>
          </a:p>
        </p:txBody>
      </p:sp>
      <p:cxnSp>
        <p:nvCxnSpPr>
          <p:cNvPr id="830" name="Google Shape;830;g2c67b7ed318_0_149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31" name="Google Shape;831;g2c67b7ed318_0_1495"/>
          <p:cNvSpPr txBox="1"/>
          <p:nvPr/>
        </p:nvSpPr>
        <p:spPr>
          <a:xfrm>
            <a:off x="771025" y="2679075"/>
            <a:ext cx="76026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Jost"/>
                <a:ea typeface="Jost"/>
                <a:cs typeface="Jost"/>
                <a:sym typeface="Jost"/>
              </a:rPr>
              <a:t>A</a:t>
            </a:r>
            <a:r>
              <a:rPr lang="en-US" sz="4800" b="0" i="0" u="none" strike="noStrike" cap="none">
                <a:solidFill>
                  <a:srgbClr val="2356AF"/>
                </a:solidFill>
                <a:latin typeface="Jost"/>
                <a:ea typeface="Jost"/>
                <a:cs typeface="Jost"/>
                <a:sym typeface="Jost"/>
              </a:rPr>
              <a:t> B C D </a:t>
            </a:r>
            <a:r>
              <a:rPr lang="en-US" sz="4800" b="0" i="0" u="none" strike="noStrike" cap="none">
                <a:solidFill>
                  <a:srgbClr val="ED1C24"/>
                </a:solidFill>
                <a:latin typeface="Jost"/>
                <a:ea typeface="Jost"/>
                <a:cs typeface="Jost"/>
                <a:sym typeface="Jost"/>
              </a:rPr>
              <a:t>E</a:t>
            </a:r>
            <a:r>
              <a:rPr lang="en-US" sz="4800" b="0" i="0" u="none" strike="noStrike" cap="none">
                <a:solidFill>
                  <a:srgbClr val="2356AF"/>
                </a:solidFill>
                <a:latin typeface="Jost"/>
                <a:ea typeface="Jost"/>
                <a:cs typeface="Jost"/>
                <a:sym typeface="Jost"/>
              </a:rPr>
              <a:t> F G H </a:t>
            </a:r>
            <a:r>
              <a:rPr lang="en-US" sz="4800" b="0" i="0" u="none" strike="noStrike" cap="none">
                <a:solidFill>
                  <a:srgbClr val="ED1C24"/>
                </a:solidFill>
                <a:latin typeface="Lexend Light"/>
                <a:ea typeface="Lexend Light"/>
                <a:cs typeface="Lexend Light"/>
                <a:sym typeface="Lexend Light"/>
              </a:rPr>
              <a:t>I</a:t>
            </a:r>
            <a:r>
              <a:rPr lang="en-US" sz="4800" b="0" i="0" u="none" strike="noStrike" cap="none">
                <a:solidFill>
                  <a:srgbClr val="2356AF"/>
                </a:solidFill>
                <a:latin typeface="Jost"/>
                <a:ea typeface="Jost"/>
                <a:cs typeface="Jost"/>
                <a:sym typeface="Jost"/>
              </a:rPr>
              <a:t> </a:t>
            </a:r>
            <a:r>
              <a:rPr lang="en-US" sz="4800" b="0" i="0" u="none" strike="noStrike" cap="none">
                <a:solidFill>
                  <a:srgbClr val="2356AF"/>
                </a:solidFill>
                <a:latin typeface="Lexend Light"/>
                <a:ea typeface="Lexend Light"/>
                <a:cs typeface="Lexend Light"/>
                <a:sym typeface="Lexend Light"/>
              </a:rPr>
              <a:t>J</a:t>
            </a:r>
            <a:r>
              <a:rPr lang="en-US" sz="4800" b="0" i="0" u="none" strike="noStrike" cap="none">
                <a:solidFill>
                  <a:srgbClr val="2356AF"/>
                </a:solidFill>
                <a:latin typeface="Jost"/>
                <a:ea typeface="Jost"/>
                <a:cs typeface="Jost"/>
                <a:sym typeface="Jost"/>
              </a:rPr>
              <a:t> K L M </a:t>
            </a:r>
            <a:br>
              <a:rPr lang="en-US" sz="4800" b="0" i="0" u="none" strike="noStrike" cap="none">
                <a:solidFill>
                  <a:srgbClr val="2356AF"/>
                </a:solidFill>
                <a:latin typeface="Jost"/>
                <a:ea typeface="Jost"/>
                <a:cs typeface="Jost"/>
                <a:sym typeface="Jost"/>
              </a:rPr>
            </a:br>
            <a:r>
              <a:rPr lang="en-US" sz="4800" b="0" i="0" u="none" strike="noStrike" cap="none">
                <a:solidFill>
                  <a:srgbClr val="2356AF"/>
                </a:solidFill>
                <a:latin typeface="Jost"/>
                <a:ea typeface="Jost"/>
                <a:cs typeface="Jost"/>
                <a:sym typeface="Jost"/>
              </a:rPr>
              <a:t>N </a:t>
            </a:r>
            <a:r>
              <a:rPr lang="en-US" sz="4800" b="0" i="0" u="none" strike="noStrike" cap="none">
                <a:solidFill>
                  <a:srgbClr val="ED1C24"/>
                </a:solidFill>
                <a:latin typeface="Jost"/>
                <a:ea typeface="Jost"/>
                <a:cs typeface="Jost"/>
                <a:sym typeface="Jost"/>
              </a:rPr>
              <a:t>O</a:t>
            </a:r>
            <a:r>
              <a:rPr lang="en-US" sz="4800" b="0" i="0" u="none" strike="noStrike" cap="none">
                <a:solidFill>
                  <a:srgbClr val="2356AF"/>
                </a:solidFill>
                <a:latin typeface="Jost"/>
                <a:ea typeface="Jost"/>
                <a:cs typeface="Jost"/>
                <a:sym typeface="Jost"/>
              </a:rPr>
              <a:t> P Q R S T </a:t>
            </a:r>
            <a:r>
              <a:rPr lang="en-US" sz="4800" b="0" i="0" u="none" strike="noStrike" cap="none">
                <a:solidFill>
                  <a:srgbClr val="ED1C24"/>
                </a:solidFill>
                <a:latin typeface="Jost"/>
                <a:ea typeface="Jost"/>
                <a:cs typeface="Jost"/>
                <a:sym typeface="Jost"/>
              </a:rPr>
              <a:t>U</a:t>
            </a:r>
            <a:r>
              <a:rPr lang="en-US" sz="4800" b="0" i="0" u="none" strike="noStrike" cap="none">
                <a:solidFill>
                  <a:srgbClr val="2356AF"/>
                </a:solidFill>
                <a:latin typeface="Jost"/>
                <a:ea typeface="Jost"/>
                <a:cs typeface="Jost"/>
                <a:sym typeface="Jost"/>
              </a:rPr>
              <a:t> V W X Y Z</a:t>
            </a:r>
            <a:endParaRPr sz="48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2c67b7ed318_0_150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Provide uppercase letters and lowercase letters, mix them up and invite the children to match them up.</a:t>
            </a:r>
            <a:endParaRPr/>
          </a:p>
          <a:p>
            <a:pPr marL="457200" lvl="0" indent="-330200" algn="l" rtl="0">
              <a:lnSpc>
                <a:spcPct val="115000"/>
              </a:lnSpc>
              <a:spcBef>
                <a:spcPts val="1000"/>
              </a:spcBef>
              <a:spcAft>
                <a:spcPts val="0"/>
              </a:spcAft>
              <a:buSzPts val="1600"/>
              <a:buChar char="•"/>
            </a:pPr>
            <a:r>
              <a:rPr lang="en-US"/>
              <a:t>Practise both lowercase and uppercase formation.</a:t>
            </a:r>
            <a:endParaRPr/>
          </a:p>
        </p:txBody>
      </p:sp>
      <p:pic>
        <p:nvPicPr>
          <p:cNvPr id="838" name="Google Shape;838;g2c67b7ed318_0_1508"/>
          <p:cNvPicPr preferRelativeResize="0"/>
          <p:nvPr/>
        </p:nvPicPr>
        <p:blipFill rotWithShape="1">
          <a:blip r:embed="rId3">
            <a:alphaModFix/>
          </a:blip>
          <a:srcRect/>
          <a:stretch/>
        </p:blipFill>
        <p:spPr>
          <a:xfrm>
            <a:off x="756400" y="2092050"/>
            <a:ext cx="3440800" cy="19268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414</Words>
  <Application>Microsoft Office PowerPoint</Application>
  <PresentationFormat>On-screen Show (4:3)</PresentationFormat>
  <Paragraphs>84</Paragraphs>
  <Slides>14</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Poppins Medium</vt:lpstr>
      <vt:lpstr>Nunito Black</vt:lpstr>
      <vt:lpstr>Calibri</vt:lpstr>
      <vt:lpstr>Poppins</vt:lpstr>
      <vt:lpstr>Poppins SemiBold</vt:lpstr>
      <vt:lpstr>Arial</vt:lpstr>
      <vt:lpstr>Lexend Light</vt:lpstr>
      <vt:lpstr>Jost</vt:lpstr>
      <vt:lpstr>Mulish</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PowerPoint Presentation</vt:lpstr>
      <vt:lpstr>Teach Grapheme Caption</vt:lpstr>
      <vt:lpstr>Teach Uppercase Formation</vt:lpstr>
      <vt:lpstr>Teach Grapheme Caption</vt:lpstr>
      <vt:lpstr>Teach Uppercase Formation</vt:lpstr>
      <vt:lpstr>Teach Grapheme Caption</vt:lpstr>
      <vt:lpstr>Teach Uppercase Formation</vt:lpstr>
      <vt:lpstr>Display the Alphabet in order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2026-04-28T04:44:28Z</dcterms:modified>
</cp:coreProperties>
</file>