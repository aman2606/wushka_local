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bRUVA/AtAmC9kUvJPw4OkAfjF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5C7A07-144F-4B4B-A66F-AB6E99B66314}">
  <a:tblStyle styleId="{AB5C7A07-144F-4B4B-A66F-AB6E99B6631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fe1f8dacb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fe1f8dacb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fe1f8dacb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cfe1f8dacb_0_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cfe1f8dacb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cfe1f8dacb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cfe1f8dacb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cfe1f8dacb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cfe1f8dacb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GB"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GB"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Split Digraph 'u-e'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92278F"/>
                </a:solidFill>
                <a:latin typeface="Poppins Medium"/>
                <a:ea typeface="Poppins Medium"/>
                <a:cs typeface="Poppins Medium"/>
                <a:sym typeface="Poppins Medium"/>
              </a:rPr>
              <a:t>Week 6 -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92278F"/>
                </a:solidFill>
                <a:latin typeface="Poppins Medium"/>
                <a:ea typeface="Poppins Medium"/>
                <a:cs typeface="Poppins Medium"/>
                <a:sym typeface="Poppins Medium"/>
              </a:rPr>
              <a:t>Lesson 27</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a:solidFill>
                  <a:srgbClr val="92278F"/>
                </a:solidFill>
                <a:latin typeface="Poppins Medium"/>
                <a:ea typeface="Poppins Medium"/>
                <a:cs typeface="Poppins Medium"/>
                <a:sym typeface="Poppins Medium"/>
              </a:rPr>
              <a:t>Practise</a:t>
            </a:r>
            <a:r>
              <a:rPr lang="en-GB"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a:solidFill>
                  <a:srgbClr val="D8D8D8"/>
                </a:solidFill>
                <a:latin typeface="Poppins Medium"/>
                <a:ea typeface="Poppins Medium"/>
                <a:cs typeface="Poppins Medium"/>
                <a:sym typeface="Poppins Medium"/>
              </a:rPr>
              <a:t>PRACTISE</a:t>
            </a:r>
            <a:r>
              <a:rPr lang="en-GB"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a:solidFill>
                  <a:srgbClr val="92278F"/>
                </a:solidFill>
                <a:latin typeface="Poppins Medium"/>
                <a:ea typeface="Poppins Medium"/>
                <a:cs typeface="Poppins Medium"/>
                <a:sym typeface="Poppins Medium"/>
              </a:rPr>
              <a:t>Practise</a:t>
            </a:r>
            <a:r>
              <a:rPr lang="en-GB"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a:solidFill>
                  <a:srgbClr val="D8D8D8"/>
                </a:solidFill>
                <a:latin typeface="Poppins Medium"/>
                <a:ea typeface="Poppins Medium"/>
                <a:cs typeface="Poppins Medium"/>
                <a:sym typeface="Poppins Medium"/>
              </a:rPr>
              <a:t>PRACTISE</a:t>
            </a:r>
            <a:r>
              <a:rPr lang="en-GB"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GB"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GB"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GB" sz="1100" b="0" i="0" u="none" strike="noStrike" cap="none">
                <a:solidFill>
                  <a:srgbClr val="1A30E8"/>
                </a:solidFill>
                <a:latin typeface="Poppins"/>
                <a:ea typeface="Poppins"/>
                <a:cs typeface="Poppins"/>
                <a:sym typeface="Poppins"/>
              </a:rPr>
              <a:t>bed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led </a:t>
            </a:r>
            <a:r>
              <a:rPr lang="en-GB" sz="1100" b="0" i="0" u="none" strike="noStrike" cap="none">
                <a:solidFill>
                  <a:srgbClr val="1A1A1A"/>
                </a:solidFill>
                <a:latin typeface="Poppins"/>
                <a:ea typeface="Poppins"/>
                <a:cs typeface="Poppins"/>
                <a:sym typeface="Poppins"/>
              </a:rPr>
              <a:t>the difference is the phonemes </a:t>
            </a:r>
            <a:r>
              <a:rPr lang="en-GB" sz="1100" b="0" i="0" u="none" strike="noStrike" cap="none">
                <a:solidFill>
                  <a:srgbClr val="53F41A"/>
                </a:solidFill>
                <a:latin typeface="Poppins"/>
                <a:ea typeface="Poppins"/>
                <a:cs typeface="Poppins"/>
                <a:sym typeface="Poppins"/>
              </a:rPr>
              <a:t>/b/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53F41A"/>
                </a:solidFill>
                <a:latin typeface="Poppins"/>
                <a:ea typeface="Poppins"/>
                <a:cs typeface="Poppins"/>
                <a:sym typeface="Poppins"/>
              </a:rPr>
              <a:t>/l/</a:t>
            </a:r>
            <a:r>
              <a:rPr lang="en-GB"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GB"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GB" sz="1100" b="0" i="0" u="none" strike="noStrike" cap="none">
                <a:solidFill>
                  <a:srgbClr val="1A1A1A"/>
                </a:solidFill>
                <a:latin typeface="Poppins"/>
                <a:ea typeface="Poppins"/>
                <a:cs typeface="Poppins"/>
                <a:sym typeface="Poppins"/>
              </a:rPr>
            </a:br>
            <a:r>
              <a:rPr lang="en-GB"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GB" sz="1100" b="0" i="0" u="none" strike="noStrike" cap="none">
                <a:solidFill>
                  <a:srgbClr val="1A30E8"/>
                </a:solidFill>
                <a:latin typeface="Poppins"/>
                <a:ea typeface="Poppins"/>
                <a:cs typeface="Poppins"/>
                <a:sym typeface="Poppins"/>
              </a:rPr>
              <a:t>ship </a:t>
            </a:r>
            <a:r>
              <a:rPr lang="en-GB" sz="1100" b="0" i="0" u="none" strike="noStrike" cap="none">
                <a:solidFill>
                  <a:srgbClr val="1A1A1A"/>
                </a:solidFill>
                <a:latin typeface="Poppins"/>
                <a:ea typeface="Poppins"/>
                <a:cs typeface="Poppins"/>
                <a:sym typeface="Poppins"/>
              </a:rPr>
              <a:t>as </a:t>
            </a:r>
            <a:r>
              <a:rPr lang="en-GB" sz="1100" b="0" i="0" u="none" strike="noStrike" cap="none">
                <a:solidFill>
                  <a:srgbClr val="53F41A"/>
                </a:solidFill>
                <a:latin typeface="Poppins"/>
                <a:ea typeface="Poppins"/>
                <a:cs typeface="Poppins"/>
                <a:sym typeface="Poppins"/>
              </a:rPr>
              <a:t>/sh/ /i/ /p/ </a:t>
            </a:r>
            <a:r>
              <a:rPr lang="en-GB"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GB" sz="1100" b="0" i="0" u="none" strike="noStrike" cap="none">
                <a:solidFill>
                  <a:srgbClr val="53F41A"/>
                </a:solidFill>
                <a:latin typeface="Poppins"/>
                <a:ea typeface="Poppins"/>
                <a:cs typeface="Poppins"/>
                <a:sym typeface="Poppins"/>
              </a:rPr>
              <a:t>eɑ</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seɑt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53F41A"/>
                </a:solidFill>
                <a:latin typeface="Poppins"/>
                <a:ea typeface="Poppins"/>
                <a:cs typeface="Poppins"/>
                <a:sym typeface="Poppins"/>
              </a:rPr>
              <a:t>sh</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ship</a:t>
            </a:r>
            <a:r>
              <a:rPr lang="en-GB" sz="1100" b="0" i="0" u="none" strike="noStrike" cap="none">
                <a:solidFill>
                  <a:srgbClr val="1A1A1A"/>
                </a:solidFill>
                <a:latin typeface="Poppins"/>
                <a:ea typeface="Poppins"/>
                <a:cs typeface="Poppins"/>
                <a:sym typeface="Poppins"/>
              </a:rPr>
              <a:t>. A trigraph is a three-letter grapheme where three letters represent one grapheme (e.g '</a:t>
            </a:r>
            <a:r>
              <a:rPr lang="en-GB" sz="1100" b="0" i="0" u="none" strike="noStrike" cap="none">
                <a:solidFill>
                  <a:srgbClr val="53F41A"/>
                </a:solidFill>
                <a:latin typeface="Poppins"/>
                <a:ea typeface="Poppins"/>
                <a:cs typeface="Poppins"/>
                <a:sym typeface="Poppins"/>
              </a:rPr>
              <a:t>eɑu</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bureɑu</a:t>
            </a:r>
            <a:r>
              <a:rPr lang="en-GB" sz="1100" b="0" i="0" u="none" strike="noStrike" cap="none">
                <a:solidFill>
                  <a:srgbClr val="1A1A1A"/>
                </a:solidFill>
                <a:latin typeface="Poppins"/>
                <a:ea typeface="Poppins"/>
                <a:cs typeface="Poppins"/>
                <a:sym typeface="Poppins"/>
              </a:rPr>
              <a:t>, and '</a:t>
            </a:r>
            <a:r>
              <a:rPr lang="en-GB" sz="1100" b="0" i="0" u="none" strike="noStrike" cap="none">
                <a:solidFill>
                  <a:srgbClr val="53F41A"/>
                </a:solidFill>
                <a:latin typeface="Poppins"/>
                <a:ea typeface="Poppins"/>
                <a:cs typeface="Poppins"/>
                <a:sym typeface="Poppins"/>
              </a:rPr>
              <a:t>igh</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night</a:t>
            </a:r>
            <a:r>
              <a:rPr lang="en-GB"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GB" sz="1100" b="0" i="0" u="none" strike="noStrike" cap="none">
                <a:solidFill>
                  <a:srgbClr val="53F41A"/>
                </a:solidFill>
                <a:latin typeface="Poppins"/>
                <a:ea typeface="Poppins"/>
                <a:cs typeface="Poppins"/>
                <a:sym typeface="Poppins"/>
              </a:rPr>
              <a:t>eigh</a:t>
            </a:r>
            <a:r>
              <a:rPr lang="en-GB" sz="1100" b="0" i="0" u="none" strike="noStrike" cap="none">
                <a:solidFill>
                  <a:srgbClr val="1A1A1A"/>
                </a:solidFill>
                <a:latin typeface="Poppins"/>
                <a:ea typeface="Poppins"/>
                <a:cs typeface="Poppins"/>
                <a:sym typeface="Poppins"/>
              </a:rPr>
              <a:t>' representing the </a:t>
            </a:r>
            <a:r>
              <a:rPr lang="en-GB" sz="1100" b="0" i="0" u="none" strike="noStrike" cap="none">
                <a:solidFill>
                  <a:srgbClr val="53F41A"/>
                </a:solidFill>
                <a:latin typeface="Poppins"/>
                <a:ea typeface="Poppins"/>
                <a:cs typeface="Poppins"/>
                <a:sym typeface="Poppins"/>
              </a:rPr>
              <a:t>/ɑi/ </a:t>
            </a:r>
            <a:r>
              <a:rPr lang="en-GB" sz="1100" b="0" i="0" u="none" strike="noStrike" cap="none">
                <a:solidFill>
                  <a:srgbClr val="1A1A1A"/>
                </a:solidFill>
                <a:latin typeface="Poppins"/>
                <a:ea typeface="Poppins"/>
                <a:cs typeface="Poppins"/>
                <a:sym typeface="Poppins"/>
              </a:rPr>
              <a:t>phoneme in </a:t>
            </a:r>
            <a:r>
              <a:rPr lang="en-GB" sz="1100" b="0" i="0" u="none" strike="noStrike" cap="none">
                <a:solidFill>
                  <a:srgbClr val="1A30E8"/>
                </a:solidFill>
                <a:latin typeface="Poppins"/>
                <a:ea typeface="Poppins"/>
                <a:cs typeface="Poppins"/>
                <a:sym typeface="Poppins"/>
              </a:rPr>
              <a:t>eight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weight</a:t>
            </a:r>
            <a:r>
              <a:rPr lang="en-GB"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Split Digraph - A split digraph has a letter that splits, i.e. comes between,</a:t>
            </a:r>
            <a:br>
              <a:rPr lang="en-GB" sz="1100" b="0" i="0" u="none" strike="noStrike" cap="none">
                <a:solidFill>
                  <a:srgbClr val="1A1A1A"/>
                </a:solidFill>
                <a:latin typeface="Poppins"/>
                <a:ea typeface="Poppins"/>
                <a:cs typeface="Poppins"/>
                <a:sym typeface="Poppins"/>
              </a:rPr>
            </a:br>
            <a:r>
              <a:rPr lang="en-GB" sz="1100" b="0" i="0" u="none" strike="noStrike" cap="none">
                <a:solidFill>
                  <a:srgbClr val="1A1A1A"/>
                </a:solidFill>
                <a:latin typeface="Poppins"/>
                <a:ea typeface="Poppins"/>
                <a:cs typeface="Poppins"/>
                <a:sym typeface="Poppins"/>
              </a:rPr>
              <a:t> the two letters in the digraph, as in the words </a:t>
            </a:r>
            <a:r>
              <a:rPr lang="en-GB" sz="1100" b="0" i="0" u="none" strike="noStrike" cap="none">
                <a:solidFill>
                  <a:srgbClr val="1A30E8"/>
                </a:solidFill>
                <a:latin typeface="Poppins"/>
                <a:ea typeface="Poppins"/>
                <a:cs typeface="Poppins"/>
                <a:sym typeface="Poppins"/>
              </a:rPr>
              <a:t>mɑke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tɑke</a:t>
            </a:r>
            <a:r>
              <a:rPr lang="en-GB" sz="1100" b="0" i="0" u="none" strike="noStrike" cap="none">
                <a:solidFill>
                  <a:srgbClr val="1A1A1A"/>
                </a:solidFill>
                <a:latin typeface="Poppins"/>
                <a:ea typeface="Poppins"/>
                <a:cs typeface="Poppins"/>
                <a:sym typeface="Poppins"/>
              </a:rPr>
              <a:t>, where the 'k' separates the digraph '</a:t>
            </a:r>
            <a:r>
              <a:rPr lang="en-GB" sz="1100" b="0" i="0" u="none" strike="noStrike" cap="none">
                <a:solidFill>
                  <a:srgbClr val="53F41A"/>
                </a:solidFill>
                <a:latin typeface="Poppins"/>
                <a:ea typeface="Poppins"/>
                <a:cs typeface="Poppins"/>
                <a:sym typeface="Poppins"/>
              </a:rPr>
              <a:t>ɑ-e</a:t>
            </a:r>
            <a:r>
              <a:rPr lang="en-GB" sz="1100" b="0" i="0" u="none" strike="noStrike" cap="none">
                <a:solidFill>
                  <a:srgbClr val="1A1A1A"/>
                </a:solidFill>
                <a:latin typeface="Poppins"/>
                <a:ea typeface="Poppins"/>
                <a:cs typeface="Poppins"/>
                <a:sym typeface="Poppins"/>
              </a:rPr>
              <a:t>' which in both words represents the phoneme </a:t>
            </a:r>
            <a:r>
              <a:rPr lang="en-GB" sz="1100" b="0" i="0" u="none" strike="noStrike" cap="none">
                <a:solidFill>
                  <a:srgbClr val="53F41A"/>
                </a:solidFill>
                <a:latin typeface="Poppins"/>
                <a:ea typeface="Poppins"/>
                <a:cs typeface="Poppins"/>
                <a:sym typeface="Poppins"/>
              </a:rPr>
              <a:t>/ɑi/</a:t>
            </a:r>
            <a:r>
              <a:rPr lang="en-GB" sz="1100" b="0" i="0" u="none" strike="noStrike" cap="none">
                <a:solidFill>
                  <a:srgbClr val="1A1A1A"/>
                </a:solidFill>
                <a:latin typeface="Poppins"/>
                <a:ea typeface="Poppins"/>
                <a:cs typeface="Poppins"/>
                <a:sym typeface="Poppins"/>
              </a:rPr>
              <a:t>. There are six split digraphs in English spelling: 'ɑ-e', 'e-e', 'i-e', 'o-e', 'u-e', and 'y- e', as in </a:t>
            </a:r>
            <a:r>
              <a:rPr lang="en-GB" sz="1100" b="0" i="0" u="none" strike="noStrike" cap="none">
                <a:solidFill>
                  <a:srgbClr val="1A30E8"/>
                </a:solidFill>
                <a:latin typeface="Poppins"/>
                <a:ea typeface="Poppins"/>
                <a:cs typeface="Poppins"/>
                <a:sym typeface="Poppins"/>
              </a:rPr>
              <a:t>mɑke scene like bone cube type</a:t>
            </a:r>
            <a:r>
              <a:rPr lang="en-GB"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GB" sz="1100" b="0" i="0" u="none" strike="noStrike" cap="none">
                <a:solidFill>
                  <a:srgbClr val="1A30E8"/>
                </a:solidFill>
                <a:latin typeface="Poppins"/>
                <a:ea typeface="Poppins"/>
                <a:cs typeface="Poppins"/>
                <a:sym typeface="Poppins"/>
              </a:rPr>
              <a:t>ɑche blithe cologne scythe</a:t>
            </a:r>
            <a:r>
              <a:rPr lang="en-GB"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GB" sz="1100" b="0" i="0" u="none" strike="noStrike" cap="none">
                <a:solidFill>
                  <a:srgbClr val="1A30E8"/>
                </a:solidFill>
                <a:latin typeface="Poppins"/>
                <a:ea typeface="Poppins"/>
                <a:cs typeface="Poppins"/>
                <a:sym typeface="Poppins"/>
              </a:rPr>
              <a:t>ɑm </a:t>
            </a:r>
            <a:r>
              <a:rPr lang="en-GB" sz="1100" b="0" i="0" u="none" strike="noStrike" cap="none">
                <a:solidFill>
                  <a:srgbClr val="1A1A1A"/>
                </a:solidFill>
                <a:latin typeface="Poppins"/>
                <a:ea typeface="Poppins"/>
                <a:cs typeface="Poppins"/>
                <a:sym typeface="Poppins"/>
              </a:rPr>
              <a:t>(VC), </a:t>
            </a:r>
            <a:r>
              <a:rPr lang="en-GB" sz="1100" b="0" i="0" u="none" strike="noStrike" cap="none">
                <a:solidFill>
                  <a:srgbClr val="1A30E8"/>
                </a:solidFill>
                <a:latin typeface="Poppins"/>
                <a:ea typeface="Poppins"/>
                <a:cs typeface="Poppins"/>
                <a:sym typeface="Poppins"/>
              </a:rPr>
              <a:t>sɑt </a:t>
            </a:r>
            <a:r>
              <a:rPr lang="en-GB" sz="1100" b="0" i="0" u="none" strike="noStrike" cap="none">
                <a:solidFill>
                  <a:srgbClr val="1A1A1A"/>
                </a:solidFill>
                <a:latin typeface="Poppins"/>
                <a:ea typeface="Poppins"/>
                <a:cs typeface="Poppins"/>
                <a:sym typeface="Poppins"/>
              </a:rPr>
              <a:t>(CVC), </a:t>
            </a:r>
            <a:r>
              <a:rPr lang="en-GB" sz="1100" b="0" i="0" u="none" strike="noStrike" cap="none">
                <a:solidFill>
                  <a:srgbClr val="1A30E8"/>
                </a:solidFill>
                <a:latin typeface="Poppins"/>
                <a:ea typeface="Poppins"/>
                <a:cs typeface="Poppins"/>
                <a:sym typeface="Poppins"/>
              </a:rPr>
              <a:t>slɑm </a:t>
            </a:r>
            <a:r>
              <a:rPr lang="en-GB" sz="1100" b="0" i="0" u="none" strike="noStrike" cap="none">
                <a:solidFill>
                  <a:srgbClr val="1A1A1A"/>
                </a:solidFill>
                <a:latin typeface="Poppins"/>
                <a:ea typeface="Poppins"/>
                <a:cs typeface="Poppins"/>
                <a:sym typeface="Poppins"/>
              </a:rPr>
              <a:t>(CCVC) or </a:t>
            </a:r>
            <a:r>
              <a:rPr lang="en-GB" sz="1100" b="0" i="0" u="none" strike="noStrike" cap="none">
                <a:solidFill>
                  <a:srgbClr val="1A30E8"/>
                </a:solidFill>
                <a:latin typeface="Poppins"/>
                <a:ea typeface="Poppins"/>
                <a:cs typeface="Poppins"/>
                <a:sym typeface="Poppins"/>
              </a:rPr>
              <a:t>eɑch </a:t>
            </a:r>
            <a:r>
              <a:rPr lang="en-GB" sz="1100" b="0" i="0" u="none" strike="noStrike" cap="none">
                <a:solidFill>
                  <a:srgbClr val="1A1A1A"/>
                </a:solidFill>
                <a:latin typeface="Poppins"/>
                <a:ea typeface="Poppins"/>
                <a:cs typeface="Poppins"/>
                <a:sym typeface="Poppins"/>
              </a:rPr>
              <a:t>(VC), </a:t>
            </a:r>
            <a:r>
              <a:rPr lang="en-GB" sz="1100" b="0" i="0" u="none" strike="noStrike" cap="none">
                <a:solidFill>
                  <a:srgbClr val="1A30E8"/>
                </a:solidFill>
                <a:latin typeface="Poppins"/>
                <a:ea typeface="Poppins"/>
                <a:cs typeface="Poppins"/>
                <a:sym typeface="Poppins"/>
              </a:rPr>
              <a:t>beɑch </a:t>
            </a:r>
            <a:r>
              <a:rPr lang="en-GB" sz="1100" b="0" i="0" u="none" strike="noStrike" cap="none">
                <a:solidFill>
                  <a:srgbClr val="1A1A1A"/>
                </a:solidFill>
                <a:latin typeface="Poppins"/>
                <a:ea typeface="Poppins"/>
                <a:cs typeface="Poppins"/>
                <a:sym typeface="Poppins"/>
              </a:rPr>
              <a:t>(CVC), </a:t>
            </a:r>
            <a:r>
              <a:rPr lang="en-GB" sz="1100" b="0" i="0" u="none" strike="noStrike" cap="none">
                <a:solidFill>
                  <a:srgbClr val="1A30E8"/>
                </a:solidFill>
                <a:latin typeface="Poppins"/>
                <a:ea typeface="Poppins"/>
                <a:cs typeface="Poppins"/>
                <a:sym typeface="Poppins"/>
              </a:rPr>
              <a:t>bleɑch </a:t>
            </a:r>
            <a:r>
              <a:rPr lang="en-GB"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8" Type="http://schemas.openxmlformats.org/officeDocument/2006/relationships/image" Target="../media/image66.png"/><Relationship Id="rId3" Type="http://schemas.openxmlformats.org/officeDocument/2006/relationships/image" Target="../media/image61.png"/></Relationships>
</file>

<file path=ppt/slides/_rels/slide6.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108.png"/><Relationship Id="rId2" Type="http://schemas.openxmlformats.org/officeDocument/2006/relationships/notesSlide" Target="../notesSlides/notesSlide6.xml"/><Relationship Id="rId16" Type="http://schemas.openxmlformats.org/officeDocument/2006/relationships/image" Target="../media/image112.png"/><Relationship Id="rId1" Type="http://schemas.openxmlformats.org/officeDocument/2006/relationships/slideLayout" Target="../slideLayouts/slideLayout3.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s>
</file>

<file path=ppt/slides/_rels/slide7.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136.png"/><Relationship Id="rId3" Type="http://schemas.openxmlformats.org/officeDocument/2006/relationships/image" Target="../media/image113.png"/><Relationship Id="rId21" Type="http://schemas.openxmlformats.org/officeDocument/2006/relationships/image" Target="../media/image131.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5"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26.png"/><Relationship Id="rId20" Type="http://schemas.openxmlformats.org/officeDocument/2006/relationships/image" Target="../media/image130.png"/><Relationship Id="rId29"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16.png"/><Relationship Id="rId11" Type="http://schemas.openxmlformats.org/officeDocument/2006/relationships/image" Target="../media/image121.png"/><Relationship Id="rId24" Type="http://schemas.openxmlformats.org/officeDocument/2006/relationships/image" Target="../media/image134.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3.png"/><Relationship Id="rId28" Type="http://schemas.openxmlformats.org/officeDocument/2006/relationships/image" Target="../media/image138.png"/><Relationship Id="rId10" Type="http://schemas.openxmlformats.org/officeDocument/2006/relationships/image" Target="../media/image120.png"/><Relationship Id="rId19" Type="http://schemas.openxmlformats.org/officeDocument/2006/relationships/image" Target="../media/image129.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137.png"/><Relationship Id="rId30"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5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4.png"/><Relationship Id="rId11" Type="http://schemas.openxmlformats.org/officeDocument/2006/relationships/image" Target="../media/image149.png"/><Relationship Id="rId5" Type="http://schemas.openxmlformats.org/officeDocument/2006/relationships/image" Target="../media/image143.png"/><Relationship Id="rId15" Type="http://schemas.openxmlformats.org/officeDocument/2006/relationships/image" Target="../media/image153.pn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png"/><Relationship Id="rId14" Type="http://schemas.openxmlformats.org/officeDocument/2006/relationships/image" Target="../media/image152.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16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79677"/>
            <a:ext cx="38826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262626"/>
              </a:buClr>
              <a:buSzPts val="3600"/>
              <a:buNone/>
            </a:pPr>
            <a:r>
              <a:rPr lang="en-GB" sz="3000"/>
              <a:t>Split Digraph 'u-e' (/oo/)</a:t>
            </a:r>
            <a:endParaRPr sz="3000"/>
          </a:p>
        </p:txBody>
      </p:sp>
      <p:sp>
        <p:nvSpPr>
          <p:cNvPr id="668" name="Google Shape;668;p1"/>
          <p:cNvSpPr txBox="1">
            <a:spLocks noGrp="1"/>
          </p:cNvSpPr>
          <p:nvPr>
            <p:ph type="subTitle" idx="2"/>
          </p:nvPr>
        </p:nvSpPr>
        <p:spPr>
          <a:xfrm>
            <a:off x="884092" y="3717122"/>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GB"/>
              <a:t>Lesson 27</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{AB5C7A07-144F-4B4B-A66F-AB6E99B66314}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GB" sz="1500" u="none" strike="noStrike" cap="none">
                          <a:solidFill>
                            <a:schemeClr val="dk1"/>
                          </a:solidFill>
                          <a:latin typeface="Poppins"/>
                          <a:ea typeface="Poppins"/>
                          <a:cs typeface="Poppins"/>
                          <a:sym typeface="Poppins"/>
                        </a:rPr>
                        <a:t>a</a:t>
                      </a:r>
                      <a:r>
                        <a:rPr lang="en-GB"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e</a:t>
                      </a:r>
                      <a:r>
                        <a:rPr lang="en-GB"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Poppins"/>
                          <a:ea typeface="Poppins"/>
                          <a:cs typeface="Poppins"/>
                          <a:sym typeface="Poppins"/>
                        </a:rPr>
                        <a:t>a</a:t>
                      </a:r>
                      <a:r>
                        <a:rPr lang="en-GB"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Poppins"/>
                          <a:ea typeface="Poppins"/>
                          <a:cs typeface="Poppins"/>
                          <a:sym typeface="Poppins"/>
                        </a:rPr>
                        <a:t>a</a:t>
                      </a:r>
                      <a:r>
                        <a:rPr lang="en-GB"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GB" sz="1500" u="none" strike="noStrike" cap="none">
                          <a:solidFill>
                            <a:schemeClr val="dk1"/>
                          </a:solidFill>
                          <a:latin typeface="Poppins"/>
                          <a:ea typeface="Poppins"/>
                          <a:cs typeface="Poppins"/>
                          <a:sym typeface="Poppins"/>
                        </a:rPr>
                        <a:t>a</a:t>
                      </a:r>
                      <a:r>
                        <a:rPr lang="en-GB"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chemeClr val="lt1"/>
                          </a:solidFill>
                          <a:latin typeface="Jost"/>
                          <a:ea typeface="Jost"/>
                          <a:cs typeface="Jost"/>
                          <a:sym typeface="Jost"/>
                        </a:rPr>
                        <a:t>u-e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9005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GB"/>
              <a:t>Learn and practise split digraph </a:t>
            </a:r>
            <a:r>
              <a:rPr lang="en-GB">
                <a:solidFill>
                  <a:srgbClr val="8DC63F"/>
                </a:solidFill>
              </a:rPr>
              <a:t>u-e</a:t>
            </a:r>
            <a:r>
              <a:rPr lang="en-GB"/>
              <a:t> (</a:t>
            </a:r>
            <a:r>
              <a:rPr lang="en-GB">
                <a:solidFill>
                  <a:srgbClr val="8DC63F"/>
                </a:solidFill>
              </a:rPr>
              <a:t>/oo/</a:t>
            </a:r>
            <a:r>
              <a:rPr lang="en-GB"/>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GB"/>
              <a:t>Recall all GPCs learned so far using flashcards.</a:t>
            </a:r>
            <a:endParaRPr/>
          </a:p>
          <a:p>
            <a:pPr marL="457200" lvl="0" indent="-330200" algn="l" rtl="0">
              <a:lnSpc>
                <a:spcPct val="100000"/>
              </a:lnSpc>
              <a:spcBef>
                <a:spcPts val="0"/>
              </a:spcBef>
              <a:spcAft>
                <a:spcPts val="0"/>
              </a:spcAft>
              <a:buSzPts val="1600"/>
              <a:buChar char="•"/>
            </a:pPr>
            <a:r>
              <a:rPr lang="en-GB"/>
              <a:t>Recall Phase 3 </a:t>
            </a:r>
            <a:r>
              <a:rPr lang="en-GB">
                <a:solidFill>
                  <a:srgbClr val="000000"/>
                </a:solidFill>
              </a:rPr>
              <a:t>Common Exception Words</a:t>
            </a:r>
            <a:r>
              <a:rPr lang="en-GB">
                <a:solidFill>
                  <a:srgbClr val="2356AF"/>
                </a:solidFill>
              </a:rPr>
              <a:t> push they me we be he she my by looked you are there here were all sure</a:t>
            </a:r>
            <a:r>
              <a:rPr lang="en-GB"/>
              <a:t>.</a:t>
            </a:r>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66639"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506251" y="378134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3631260" y="37879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4909369" y="378794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1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1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2">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3">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4">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5">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6">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7">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9">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20">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21">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2">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3">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24">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25">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6">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27">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c298da1f27_0_417"/>
          <p:cNvPicPr preferRelativeResize="0"/>
          <p:nvPr/>
        </p:nvPicPr>
        <p:blipFill rotWithShape="1">
          <a:blip r:embed="rId28">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9">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2c298da1f27_0_417"/>
          <p:cNvPicPr preferRelativeResize="0"/>
          <p:nvPr/>
        </p:nvPicPr>
        <p:blipFill rotWithShape="1">
          <a:blip r:embed="rId30">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31">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2">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3">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4">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2c298da1f27_0_417"/>
          <p:cNvPicPr preferRelativeResize="0"/>
          <p:nvPr/>
        </p:nvPicPr>
        <p:blipFill rotWithShape="1">
          <a:blip r:embed="rId35">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c298da1f27_0_417"/>
          <p:cNvPicPr preferRelativeResize="0"/>
          <p:nvPr/>
        </p:nvPicPr>
        <p:blipFill rotWithShape="1">
          <a:blip r:embed="rId36">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7">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8">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9">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40">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Review Phase 2 Common Exception Words </a:t>
            </a:r>
            <a:br>
              <a:rPr lang="en-GB"/>
            </a:br>
            <a:r>
              <a:rPr lang="en-GB">
                <a:solidFill>
                  <a:srgbClr val="2356AF"/>
                </a:solidFill>
              </a:rPr>
              <a:t>as I is no go to into the put his has of pull full</a:t>
            </a:r>
            <a:r>
              <a:rPr lang="en-GB"/>
              <a:t>.</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Review Phase 3 Common Exception Words </a:t>
            </a:r>
            <a:r>
              <a:rPr lang="en-GB">
                <a:solidFill>
                  <a:srgbClr val="2356AF"/>
                </a:solidFill>
              </a:rPr>
              <a:t>push they me we be he she my by looked you are there here were all sure</a:t>
            </a:r>
            <a:r>
              <a:rPr lang="en-GB"/>
              <a:t>.</a:t>
            </a:r>
            <a:endParaRPr/>
          </a:p>
        </p:txBody>
      </p:sp>
      <p:grpSp>
        <p:nvGrpSpPr>
          <p:cNvPr id="833" name="Google Shape;833;g2c298d33e0c_0_6"/>
          <p:cNvGrpSpPr/>
          <p:nvPr/>
        </p:nvGrpSpPr>
        <p:grpSpPr>
          <a:xfrm>
            <a:off x="866900" y="2079100"/>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Review Phase 4 Common Exception Words </a:t>
            </a:r>
            <a:r>
              <a:rPr lang="en-GB">
                <a:solidFill>
                  <a:srgbClr val="2356AF"/>
                </a:solidFill>
              </a:rPr>
              <a:t>said like out have some come what was so old do little one</a:t>
            </a:r>
            <a:r>
              <a:rPr lang="en-GB"/>
              <a:t>.</a:t>
            </a:r>
            <a:endParaRPr/>
          </a:p>
        </p:txBody>
      </p:sp>
      <p:grpSp>
        <p:nvGrpSpPr>
          <p:cNvPr id="868" name="Google Shape;868;g2c298da1f27_0_455"/>
          <p:cNvGrpSpPr/>
          <p:nvPr/>
        </p:nvGrpSpPr>
        <p:grpSpPr>
          <a:xfrm>
            <a:off x="868300" y="2129450"/>
            <a:ext cx="7281864" cy="2684601"/>
            <a:chOff x="868300" y="2053250"/>
            <a:chExt cx="7281864" cy="2684601"/>
          </a:xfrm>
        </p:grpSpPr>
        <p:pic>
          <p:nvPicPr>
            <p:cNvPr id="869" name="Google Shape;86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Review Phase 5 Common Exception Words </a:t>
            </a:r>
            <a:r>
              <a:rPr lang="en-GB">
                <a:solidFill>
                  <a:srgbClr val="2356AF"/>
                </a:solidFill>
              </a:rPr>
              <a:t>today house mouse hour because Mr Mrs Ms where should could would move</a:t>
            </a:r>
            <a:r>
              <a:rPr lang="en-GB"/>
              <a:t>.</a:t>
            </a:r>
            <a:endParaRPr/>
          </a:p>
        </p:txBody>
      </p:sp>
      <p:pic>
        <p:nvPicPr>
          <p:cNvPr id="888" name="Google Shape;88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889" name="Google Shape;88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JN691</a:t>
            </a:r>
            <a:endParaRPr dirty="0"/>
          </a:p>
        </p:txBody>
      </p:sp>
      <p:sp>
        <p:nvSpPr>
          <p:cNvPr id="907" name="Google Shape;90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Hear Phonemes</a:t>
            </a:r>
            <a:endParaRPr/>
          </a:p>
        </p:txBody>
      </p:sp>
      <p:pic>
        <p:nvPicPr>
          <p:cNvPr id="908" name="Google Shape;90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9" name="Google Shape;90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JN691</a:t>
            </a:r>
            <a:endParaRPr dirty="0"/>
          </a:p>
        </p:txBody>
      </p:sp>
      <p:sp>
        <p:nvSpPr>
          <p:cNvPr id="916" name="Google Shape;91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Hear Phonemes</a:t>
            </a:r>
            <a:endParaRPr/>
          </a:p>
        </p:txBody>
      </p:sp>
      <p:pic>
        <p:nvPicPr>
          <p:cNvPr id="917" name="Google Shape;91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8" name="Google Shape;91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JN686</a:t>
            </a:r>
            <a:endParaRPr dirty="0"/>
          </a:p>
        </p:txBody>
      </p:sp>
      <p:sp>
        <p:nvSpPr>
          <p:cNvPr id="925" name="Google Shape;92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GB"/>
              <a:t>Teach Grapheme Caption</a:t>
            </a:r>
            <a:endParaRPr/>
          </a:p>
        </p:txBody>
      </p:sp>
      <p:pic>
        <p:nvPicPr>
          <p:cNvPr id="926" name="Google Shape;92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27" name="Google Shape;92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JN686</a:t>
            </a:r>
            <a:endParaRPr dirty="0"/>
          </a:p>
        </p:txBody>
      </p:sp>
      <p:sp>
        <p:nvSpPr>
          <p:cNvPr id="934" name="Google Shape;93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GB"/>
              <a:t>Teach Lowercase Formation</a:t>
            </a:r>
            <a:endParaRPr/>
          </a:p>
        </p:txBody>
      </p:sp>
      <p:pic>
        <p:nvPicPr>
          <p:cNvPr id="935" name="Google Shape;935;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36" name="Google Shape;93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Explain Decoding</a:t>
            </a:r>
            <a:endParaRPr/>
          </a:p>
        </p:txBody>
      </p:sp>
      <p:pic>
        <p:nvPicPr>
          <p:cNvPr id="943" name="Google Shape;94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GB"/>
              <a:t>USING SOUND BUTTONS</a:t>
            </a:r>
            <a:endParaRPr/>
          </a:p>
        </p:txBody>
      </p:sp>
      <p:sp>
        <p:nvSpPr>
          <p:cNvPr id="950" name="Google Shape;95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GB"/>
              <a:t>Model Blending Phonemes</a:t>
            </a:r>
            <a:endParaRPr/>
          </a:p>
        </p:txBody>
      </p:sp>
      <p:sp>
        <p:nvSpPr>
          <p:cNvPr id="951" name="Google Shape;95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c4fb7f6616_1_0"/>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39959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4780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9" name="Google Shape;96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0" name="Google Shape;970;g2c4fb7f6616_1_0"/>
          <p:cNvSpPr txBox="1">
            <a:spLocks noGrp="1"/>
          </p:cNvSpPr>
          <p:nvPr>
            <p:ph type="subTitle" idx="4294967295"/>
          </p:nvPr>
        </p:nvSpPr>
        <p:spPr>
          <a:xfrm>
            <a:off x="4211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1" name="Google Shape;971;g2c4fb7f6616_1_0"/>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2" name="Google Shape;972;g2c4fb7f6616_1_0"/>
          <p:cNvSpPr txBox="1">
            <a:spLocks noGrp="1"/>
          </p:cNvSpPr>
          <p:nvPr>
            <p:ph type="subTitle" idx="4294967295"/>
          </p:nvPr>
        </p:nvSpPr>
        <p:spPr>
          <a:xfrm>
            <a:off x="3426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973" name="Google Shape;97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5" name="Google Shape;975;g2c4fb7f6616_1_0"/>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76" name="Google Shape;976;g2c4fb7f6616_1_0"/>
          <p:cNvGrpSpPr/>
          <p:nvPr/>
        </p:nvGrpSpPr>
        <p:grpSpPr>
          <a:xfrm>
            <a:off x="4122450" y="1164625"/>
            <a:ext cx="1760125" cy="933225"/>
            <a:chOff x="4122450" y="1164625"/>
            <a:chExt cx="1760125" cy="933225"/>
          </a:xfrm>
        </p:grpSpPr>
        <p:sp>
          <p:nvSpPr>
            <p:cNvPr id="977" name="Google Shape;977;g2c4fb7f6616_1_0"/>
            <p:cNvSpPr/>
            <p:nvPr/>
          </p:nvSpPr>
          <p:spPr>
            <a:xfrm rot="-5400000">
              <a:off x="3762750"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4122450" y="1164625"/>
              <a:ext cx="17601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rot="5400000">
              <a:off x="5383825"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fe1f8dacb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GB"/>
              <a:t>USING SOUND BUTTONS</a:t>
            </a:r>
            <a:endParaRPr/>
          </a:p>
        </p:txBody>
      </p:sp>
      <p:sp>
        <p:nvSpPr>
          <p:cNvPr id="986" name="Google Shape;986;g2cfe1f8dacb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GB"/>
              <a:t>Model Blending Phonemes</a:t>
            </a:r>
            <a:endParaRPr/>
          </a:p>
        </p:txBody>
      </p:sp>
      <p:sp>
        <p:nvSpPr>
          <p:cNvPr id="987" name="Google Shape;987;g2cfe1f8dacb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cfe1f8dacb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fe1f8dacb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cfe1f8dacb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fe1f8dacb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fe1f8dacb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3" name="Google Shape;993;g2cfe1f8dacb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4" name="Google Shape;994;g2cfe1f8dacb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5" name="Google Shape;995;g2cfe1f8dacb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6" name="Google Shape;996;g2cfe1f8dacb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7" name="Google Shape;997;g2cfe1f8dacb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8" name="Google Shape;998;g2cfe1f8dacb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9" name="Google Shape;999;g2cfe1f8dacb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0" name="Google Shape;1000;g2cfe1f8dacb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fe1f8dacb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cfe1f8dacb_0_12"/>
          <p:cNvSpPr/>
          <p:nvPr/>
        </p:nvSpPr>
        <p:spPr>
          <a:xfrm>
            <a:off x="3401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cfe1f8dacb_0_12"/>
          <p:cNvSpPr/>
          <p:nvPr/>
        </p:nvSpPr>
        <p:spPr>
          <a:xfrm>
            <a:off x="42626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cfe1f8dacb_0_12"/>
          <p:cNvSpPr/>
          <p:nvPr/>
        </p:nvSpPr>
        <p:spPr>
          <a:xfrm>
            <a:off x="5199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5" name="Google Shape;1005;g2cfe1f8dacb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6" name="Google Shape;1006;g2cfe1f8dacb_0_12"/>
          <p:cNvSpPr txBox="1">
            <a:spLocks noGrp="1"/>
          </p:cNvSpPr>
          <p:nvPr>
            <p:ph type="subTitle" idx="4294967295"/>
          </p:nvPr>
        </p:nvSpPr>
        <p:spPr>
          <a:xfrm>
            <a:off x="4630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7" name="Google Shape;1007;g2cfe1f8dacb_0_12"/>
          <p:cNvSpPr txBox="1">
            <a:spLocks noGrp="1"/>
          </p:cNvSpPr>
          <p:nvPr>
            <p:ph type="subTitle" idx="4294967295"/>
          </p:nvPr>
        </p:nvSpPr>
        <p:spPr>
          <a:xfrm>
            <a:off x="2831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08" name="Google Shape;1008;g2cfe1f8dacb_0_12"/>
          <p:cNvSpPr txBox="1">
            <a:spLocks noGrp="1"/>
          </p:cNvSpPr>
          <p:nvPr>
            <p:ph type="subTitle" idx="4294967295"/>
          </p:nvPr>
        </p:nvSpPr>
        <p:spPr>
          <a:xfrm>
            <a:off x="3693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1009" name="Google Shape;1009;g2cfe1f8dacb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fe1f8dacb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11" name="Google Shape;1011;g2cfe1f8dacb_0_12"/>
          <p:cNvSpPr txBox="1">
            <a:spLocks noGrp="1"/>
          </p:cNvSpPr>
          <p:nvPr>
            <p:ph type="subTitle" idx="4294967295"/>
          </p:nvPr>
        </p:nvSpPr>
        <p:spPr>
          <a:xfrm>
            <a:off x="5620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12" name="Google Shape;1012;g2cfe1f8dacb_0_12"/>
          <p:cNvGrpSpPr/>
          <p:nvPr/>
        </p:nvGrpSpPr>
        <p:grpSpPr>
          <a:xfrm>
            <a:off x="4389150" y="1164625"/>
            <a:ext cx="2064925" cy="933225"/>
            <a:chOff x="4389150" y="1164625"/>
            <a:chExt cx="2064925" cy="933225"/>
          </a:xfrm>
        </p:grpSpPr>
        <p:sp>
          <p:nvSpPr>
            <p:cNvPr id="1013" name="Google Shape;1013;g2cfe1f8dacb_0_12"/>
            <p:cNvSpPr/>
            <p:nvPr/>
          </p:nvSpPr>
          <p:spPr>
            <a:xfrm rot="-5400000">
              <a:off x="4029450"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fe1f8dacb_0_12"/>
            <p:cNvSpPr/>
            <p:nvPr/>
          </p:nvSpPr>
          <p:spPr>
            <a:xfrm>
              <a:off x="4389150" y="1164625"/>
              <a:ext cx="2064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fe1f8dacb_0_12"/>
            <p:cNvSpPr/>
            <p:nvPr/>
          </p:nvSpPr>
          <p:spPr>
            <a:xfrm rot="5400000">
              <a:off x="5955325"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16" name="Google Shape;1016;g2cfe1f8dacb_0_12"/>
          <p:cNvSpPr/>
          <p:nvPr/>
        </p:nvSpPr>
        <p:spPr>
          <a:xfrm>
            <a:off x="2563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fe1f8dacb_0_12"/>
          <p:cNvSpPr txBox="1">
            <a:spLocks noGrp="1"/>
          </p:cNvSpPr>
          <p:nvPr>
            <p:ph type="subTitle" idx="4294967295"/>
          </p:nvPr>
        </p:nvSpPr>
        <p:spPr>
          <a:xfrm>
            <a:off x="1993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cfe1f8dacb_0_46"/>
          <p:cNvSpPr txBox="1">
            <a:spLocks noGrp="1"/>
          </p:cNvSpPr>
          <p:nvPr>
            <p:ph type="subTitle" idx="4294967295"/>
          </p:nvPr>
        </p:nvSpPr>
        <p:spPr>
          <a:xfrm>
            <a:off x="5239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1024" name="Google Shape;1024;g2cfe1f8dacb_0_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GB"/>
              <a:t>USING SOUND BUTTONS</a:t>
            </a:r>
            <a:endParaRPr/>
          </a:p>
        </p:txBody>
      </p:sp>
      <p:sp>
        <p:nvSpPr>
          <p:cNvPr id="1025" name="Google Shape;1025;g2cfe1f8dacb_0_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GB"/>
              <a:t>Model Blending Phonemes</a:t>
            </a:r>
            <a:endParaRPr/>
          </a:p>
        </p:txBody>
      </p:sp>
      <p:sp>
        <p:nvSpPr>
          <p:cNvPr id="1026" name="Google Shape;1026;g2cfe1f8dacb_0_4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fe1f8dacb_0_4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fe1f8dacb_0_4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fe1f8dacb_0_4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fe1f8dacb_0_4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fe1f8dacb_0_4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2" name="Google Shape;1032;g2cfe1f8dacb_0_4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3" name="Google Shape;1033;g2cfe1f8dacb_0_4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4" name="Google Shape;1034;g2cfe1f8dacb_0_4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5" name="Google Shape;1035;g2cfe1f8dacb_0_4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6" name="Google Shape;1036;g2cfe1f8dacb_0_4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7" name="Google Shape;1037;g2cfe1f8dacb_0_4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8" name="Google Shape;1038;g2cfe1f8dacb_0_4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9" name="Google Shape;1039;g2cfe1f8dacb_0_4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cfe1f8dacb_0_4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cfe1f8dacb_0_46"/>
          <p:cNvSpPr/>
          <p:nvPr/>
        </p:nvSpPr>
        <p:spPr>
          <a:xfrm>
            <a:off x="2944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cfe1f8dacb_0_46"/>
          <p:cNvSpPr/>
          <p:nvPr/>
        </p:nvSpPr>
        <p:spPr>
          <a:xfrm>
            <a:off x="38054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fe1f8dacb_0_46"/>
          <p:cNvSpPr/>
          <p:nvPr/>
        </p:nvSpPr>
        <p:spPr>
          <a:xfrm>
            <a:off x="4818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4" name="Google Shape;1044;g2cfe1f8dacb_0_4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5" name="Google Shape;1045;g2cfe1f8dacb_0_46"/>
          <p:cNvSpPr txBox="1">
            <a:spLocks noGrp="1"/>
          </p:cNvSpPr>
          <p:nvPr>
            <p:ph type="subTitle" idx="4294967295"/>
          </p:nvPr>
        </p:nvSpPr>
        <p:spPr>
          <a:xfrm>
            <a:off x="4249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46" name="Google Shape;1046;g2cfe1f8dacb_0_46"/>
          <p:cNvSpPr txBox="1">
            <a:spLocks noGrp="1"/>
          </p:cNvSpPr>
          <p:nvPr>
            <p:ph type="subTitle" idx="4294967295"/>
          </p:nvPr>
        </p:nvSpPr>
        <p:spPr>
          <a:xfrm>
            <a:off x="2374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47" name="Google Shape;1047;g2cfe1f8dacb_0_46"/>
          <p:cNvSpPr txBox="1">
            <a:spLocks noGrp="1"/>
          </p:cNvSpPr>
          <p:nvPr>
            <p:ph type="subTitle" idx="4294967295"/>
          </p:nvPr>
        </p:nvSpPr>
        <p:spPr>
          <a:xfrm>
            <a:off x="3235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GB" sz="15000" b="0" i="0" u="none" strike="noStrike" cap="none">
                <a:solidFill>
                  <a:srgbClr val="F7941D"/>
                </a:solidFill>
                <a:latin typeface="Jost"/>
                <a:ea typeface="Jost"/>
                <a:cs typeface="Jost"/>
                <a:sym typeface="Jost"/>
              </a:rPr>
              <a:t>u</a:t>
            </a:r>
            <a:endParaRPr sz="15000" b="0" i="0" u="none" strike="noStrike" cap="none">
              <a:solidFill>
                <a:srgbClr val="F7941D"/>
              </a:solidFill>
              <a:latin typeface="Jost"/>
              <a:ea typeface="Jost"/>
              <a:cs typeface="Jost"/>
              <a:sym typeface="Jost"/>
            </a:endParaRPr>
          </a:p>
        </p:txBody>
      </p:sp>
      <p:sp>
        <p:nvSpPr>
          <p:cNvPr id="1048" name="Google Shape;1048;g2cfe1f8dacb_0_4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cfe1f8dacb_0_4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nvGrpSpPr>
          <p:cNvPr id="1050" name="Google Shape;1050;g2cfe1f8dacb_0_46"/>
          <p:cNvGrpSpPr/>
          <p:nvPr/>
        </p:nvGrpSpPr>
        <p:grpSpPr>
          <a:xfrm>
            <a:off x="3931950" y="1164625"/>
            <a:ext cx="2141125" cy="933225"/>
            <a:chOff x="3931950" y="1164625"/>
            <a:chExt cx="2141125" cy="933225"/>
          </a:xfrm>
        </p:grpSpPr>
        <p:sp>
          <p:nvSpPr>
            <p:cNvPr id="1051" name="Google Shape;1051;g2cfe1f8dacb_0_46"/>
            <p:cNvSpPr/>
            <p:nvPr/>
          </p:nvSpPr>
          <p:spPr>
            <a:xfrm rot="-5400000">
              <a:off x="3572250"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cfe1f8dacb_0_46"/>
            <p:cNvSpPr/>
            <p:nvPr/>
          </p:nvSpPr>
          <p:spPr>
            <a:xfrm>
              <a:off x="3931950" y="1164625"/>
              <a:ext cx="21411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3" name="Google Shape;1053;g2cfe1f8dacb_0_46"/>
            <p:cNvSpPr/>
            <p:nvPr/>
          </p:nvSpPr>
          <p:spPr>
            <a:xfrm rot="5400000">
              <a:off x="5574325"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Explain Encoding</a:t>
            </a:r>
            <a:endParaRPr/>
          </a:p>
        </p:txBody>
      </p:sp>
      <p:pic>
        <p:nvPicPr>
          <p:cNvPr id="1060" name="Google Shape;106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JN689</a:t>
            </a:r>
            <a:endParaRPr dirty="0"/>
          </a:p>
        </p:txBody>
      </p:sp>
      <p:sp>
        <p:nvSpPr>
          <p:cNvPr id="1067" name="Google Shape;106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Build a Decodable Word</a:t>
            </a:r>
            <a:endParaRPr/>
          </a:p>
        </p:txBody>
      </p:sp>
      <p:pic>
        <p:nvPicPr>
          <p:cNvPr id="1068" name="Google Shape;1068;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9" name="Google Shape;106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JN689</a:t>
            </a:r>
            <a:endParaRPr dirty="0"/>
          </a:p>
        </p:txBody>
      </p:sp>
      <p:sp>
        <p:nvSpPr>
          <p:cNvPr id="1076" name="Google Shape;107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Build a Decodable Word</a:t>
            </a:r>
            <a:endParaRPr/>
          </a:p>
        </p:txBody>
      </p:sp>
      <p:pic>
        <p:nvPicPr>
          <p:cNvPr id="1077" name="Google Shape;1077;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78" name="Google Shape;107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JN692</a:t>
            </a:r>
            <a:endParaRPr dirty="0"/>
          </a:p>
        </p:txBody>
      </p:sp>
      <p:sp>
        <p:nvSpPr>
          <p:cNvPr id="1085" name="Google Shape;108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Practise with Alien Words</a:t>
            </a:r>
            <a:endParaRPr/>
          </a:p>
        </p:txBody>
      </p:sp>
      <p:pic>
        <p:nvPicPr>
          <p:cNvPr id="1086" name="Google Shape;108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7" name="Google Shape;108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JN692</a:t>
            </a:r>
            <a:endParaRPr dirty="0"/>
          </a:p>
        </p:txBody>
      </p:sp>
      <p:sp>
        <p:nvSpPr>
          <p:cNvPr id="1094" name="Google Shape;109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Practise with Alien Words</a:t>
            </a:r>
            <a:endParaRPr/>
          </a:p>
        </p:txBody>
      </p:sp>
      <p:pic>
        <p:nvPicPr>
          <p:cNvPr id="1095" name="Google Shape;109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6" name="Google Shape;109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GB"/>
              <a:t>USING MAGNETIC LETTERS AND A WHITEBOARD</a:t>
            </a:r>
            <a:endParaRPr/>
          </a:p>
        </p:txBody>
      </p:sp>
      <p:sp>
        <p:nvSpPr>
          <p:cNvPr id="1103" name="Google Shape;110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GB"/>
              <a:t>Practise Building Words</a:t>
            </a:r>
            <a:endParaRPr/>
          </a:p>
        </p:txBody>
      </p:sp>
      <p:grpSp>
        <p:nvGrpSpPr>
          <p:cNvPr id="1104" name="Google Shape;1104;g1f3daf8a844_0_64"/>
          <p:cNvGrpSpPr/>
          <p:nvPr/>
        </p:nvGrpSpPr>
        <p:grpSpPr>
          <a:xfrm>
            <a:off x="3024000" y="209875"/>
            <a:ext cx="3096000" cy="454800"/>
            <a:chOff x="3024000" y="209875"/>
            <a:chExt cx="3096000" cy="454800"/>
          </a:xfrm>
        </p:grpSpPr>
        <p:sp>
          <p:nvSpPr>
            <p:cNvPr id="1105" name="Google Shape;110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6" name="Google Shape;110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a:solidFill>
                    <a:srgbClr val="D8D8D8"/>
                  </a:solidFill>
                  <a:latin typeface="Poppins Medium"/>
                  <a:ea typeface="Poppins Medium"/>
                  <a:cs typeface="Poppins Medium"/>
                  <a:sym typeface="Poppins Medium"/>
                </a:rPr>
                <a:t>PRACTISE</a:t>
              </a:r>
              <a:r>
                <a:rPr lang="en-GB"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7" name="Google Shape;110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8" name="Google Shape;110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9" name="Google Shape;110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0" name="Google Shape;111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1" name="Google Shape;111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2" name="Google Shape;1112;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4012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2860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5165800" y="2160375"/>
            <a:ext cx="1118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EF8F21"/>
                </a:solidFill>
                <a:latin typeface="Jost"/>
                <a:ea typeface="Jost"/>
                <a:cs typeface="Jost"/>
                <a:sym typeface="Jost"/>
              </a:rPr>
              <a:t>u-e</a:t>
            </a:r>
            <a:endParaRPr sz="5500" b="0" i="0" u="none" strike="noStrike" cap="none">
              <a:solidFill>
                <a:srgbClr val="EF8F21"/>
              </a:solidFill>
              <a:latin typeface="Jost"/>
              <a:ea typeface="Jost"/>
              <a:cs typeface="Jost"/>
              <a:sym typeface="Jost"/>
            </a:endParaRPr>
          </a:p>
        </p:txBody>
      </p:sp>
      <p:cxnSp>
        <p:nvCxnSpPr>
          <p:cNvPr id="1121" name="Google Shape;112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2cfe1f8dacb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GB"/>
              <a:t>USING MAGNETIC LETTERS AND A WHITEBOARD</a:t>
            </a:r>
            <a:endParaRPr/>
          </a:p>
        </p:txBody>
      </p:sp>
      <p:sp>
        <p:nvSpPr>
          <p:cNvPr id="1128" name="Google Shape;1128;g2cfe1f8dacb_0_8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GB"/>
              <a:t>Practise Building Words</a:t>
            </a:r>
            <a:endParaRPr/>
          </a:p>
        </p:txBody>
      </p:sp>
      <p:grpSp>
        <p:nvGrpSpPr>
          <p:cNvPr id="1129" name="Google Shape;1129;g2cfe1f8dacb_0_83"/>
          <p:cNvGrpSpPr/>
          <p:nvPr/>
        </p:nvGrpSpPr>
        <p:grpSpPr>
          <a:xfrm>
            <a:off x="3024000" y="209875"/>
            <a:ext cx="3096000" cy="454800"/>
            <a:chOff x="3024000" y="209875"/>
            <a:chExt cx="3096000" cy="454800"/>
          </a:xfrm>
        </p:grpSpPr>
        <p:sp>
          <p:nvSpPr>
            <p:cNvPr id="1130" name="Google Shape;1130;g2cfe1f8dacb_0_8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1" name="Google Shape;1131;g2cfe1f8dacb_0_8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a:solidFill>
                    <a:srgbClr val="D8D8D8"/>
                  </a:solidFill>
                  <a:latin typeface="Poppins Medium"/>
                  <a:ea typeface="Poppins Medium"/>
                  <a:cs typeface="Poppins Medium"/>
                  <a:sym typeface="Poppins Medium"/>
                </a:rPr>
                <a:t>PRACTISE</a:t>
              </a:r>
              <a:r>
                <a:rPr lang="en-GB"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2" name="Google Shape;1132;g2cfe1f8dacb_0_8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3" name="Google Shape;1133;g2cfe1f8dacb_0_8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4" name="Google Shape;1134;g2cfe1f8dacb_0_8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5" name="Google Shape;1135;g2cfe1f8dacb_0_8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6" name="Google Shape;1136;g2cfe1f8dacb_0_8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7" name="Google Shape;1137;g2cfe1f8dacb_0_8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8" name="Google Shape;1138;g2cfe1f8dacb_0_83"/>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GB" sz="1800" b="0" i="0" u="none" strike="noStrike" cap="none">
                <a:solidFill>
                  <a:srgbClr val="B7B7B7"/>
                </a:solidFill>
                <a:latin typeface="Jost"/>
                <a:ea typeface="Jost"/>
                <a:cs typeface="Jost"/>
                <a:sym typeface="Jost"/>
              </a:rPr>
              <a:t>flute brute prune rude rule</a:t>
            </a:r>
            <a:endParaRPr sz="1800" b="0" i="0" u="none" strike="noStrike" cap="none">
              <a:solidFill>
                <a:srgbClr val="B7B7B7"/>
              </a:solidFill>
              <a:latin typeface="Jost"/>
              <a:ea typeface="Jost"/>
              <a:cs typeface="Jost"/>
              <a:sym typeface="Jost"/>
            </a:endParaRPr>
          </a:p>
        </p:txBody>
      </p:sp>
      <p:sp>
        <p:nvSpPr>
          <p:cNvPr id="1139" name="Google Shape;1139;g2cfe1f8dacb_0_8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0" name="Google Shape;1140;g2cfe1f8dacb_0_8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1" name="Google Shape;1141;g2cfe1f8dacb_0_8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2" name="Google Shape;1142;g2cfe1f8dacb_0_8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3" name="Google Shape;1143;g2cfe1f8dacb_0_8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144" name="Google Shape;1144;g2cfe1f8dacb_0_8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5" name="Google Shape;1145;g2cfe1f8dacb_0_8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6" name="Google Shape;1146;g2cfe1f8dacb_0_83"/>
          <p:cNvSpPr txBox="1"/>
          <p:nvPr/>
        </p:nvSpPr>
        <p:spPr>
          <a:xfrm>
            <a:off x="4012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7" name="Google Shape;1147;g2cfe1f8dacb_0_83"/>
          <p:cNvSpPr txBox="1"/>
          <p:nvPr/>
        </p:nvSpPr>
        <p:spPr>
          <a:xfrm>
            <a:off x="2860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8" name="Google Shape;1148;g2cfe1f8dacb_0_83"/>
          <p:cNvSpPr txBox="1"/>
          <p:nvPr/>
        </p:nvSpPr>
        <p:spPr>
          <a:xfrm>
            <a:off x="5165800" y="2160375"/>
            <a:ext cx="1118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GB" sz="5500" b="0" i="0" u="none" strike="noStrike" cap="none">
                <a:solidFill>
                  <a:srgbClr val="EF8F21"/>
                </a:solidFill>
                <a:latin typeface="Jost"/>
                <a:ea typeface="Jost"/>
                <a:cs typeface="Jost"/>
                <a:sym typeface="Jost"/>
              </a:rPr>
              <a:t>u-e</a:t>
            </a:r>
            <a:endParaRPr sz="5500" b="0" i="0" u="none" strike="noStrike" cap="none">
              <a:solidFill>
                <a:srgbClr val="EF8F21"/>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Words>
  <Application>Microsoft Office PowerPoint</Application>
  <PresentationFormat>On-screen Show (4:3)</PresentationFormat>
  <Paragraphs>159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Poppins SemiBold</vt:lpstr>
      <vt:lpstr>Nunito Black</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2026-05-20T07:04:10Z</dcterms:modified>
</cp:coreProperties>
</file>