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fLQf9AverGV+OtIvF9oen2YE8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9DAD09-B5C6-478C-BB27-5BC8976386C7}">
  <a:tblStyle styleId="{6A9DAD09-B5C6-478C-BB27-5BC8976386C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06acc074f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06acc074f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06acc074f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d06acc074f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d06acc074f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d06acc074f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d06acc074f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d06acc074f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d06acc074f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d06acc074f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d06acc074f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d06acc074f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d06acc074f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d06acc074f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d06acc074f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Lesson 24</a:t>
            </a:r>
            <a:endParaRPr sz="1750" b="0" i="0" u="none" strike="noStrike" cap="none">
              <a:solidFill>
                <a:srgbClr val="8DC63F"/>
              </a:solidFill>
              <a:latin typeface="Poppins Medium"/>
              <a:ea typeface="Poppins Medium"/>
              <a:cs typeface="Poppins Medium"/>
              <a:sym typeface="Poppins Medium"/>
            </a:endParaRPr>
          </a:p>
        </p:txBody>
      </p:sp>
      <p:sp>
        <p:nvSpPr>
          <p:cNvPr id="108" name="Google Shape;108;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Phase 4 - Blends</a:t>
            </a:r>
            <a:endParaRPr sz="1750" b="0" i="0" u="none" strike="noStrike" cap="none">
              <a:solidFill>
                <a:srgbClr val="FFFFFF"/>
              </a:solidFill>
              <a:latin typeface="Poppins SemiBold"/>
              <a:ea typeface="Poppins SemiBold"/>
              <a:cs typeface="Poppins SemiBold"/>
              <a:sym typeface="Poppins SemiBold"/>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p:cNvSpPr/>
          <p:nvPr/>
        </p:nvSpPr>
        <p:spPr>
          <a:xfrm rot="-5400000" flipH="1">
            <a:off x="-938345" y="2398577"/>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CVCC CCVC CCVCC (long v.)</a:t>
            </a:r>
            <a:endParaRPr sz="1750" b="0" i="0" u="none" strike="noStrike" cap="none">
              <a:solidFill>
                <a:srgbClr val="FFFFFF"/>
              </a:solidFill>
              <a:latin typeface="Poppins SemiBold"/>
              <a:ea typeface="Poppins SemiBold"/>
              <a:cs typeface="Poppins SemiBold"/>
              <a:sym typeface="Poppins SemiBold"/>
            </a:endParaRPr>
          </a:p>
        </p:txBody>
      </p:sp>
      <p:sp>
        <p:nvSpPr>
          <p:cNvPr id="125" name="Google Shape;125;g26b641b03cd_0_33"/>
          <p:cNvSpPr txBox="1"/>
          <p:nvPr/>
        </p:nvSpPr>
        <p:spPr>
          <a:xfrm rot="-5400000">
            <a:off x="-1852558" y="5996518"/>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Week 5 - Thursday</a:t>
            </a:r>
            <a:endParaRPr sz="1750" b="0" i="0" u="none" strike="noStrike" cap="none">
              <a:solidFill>
                <a:srgbClr val="8DC63F"/>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7.pn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2800"/>
              <a:t>CVCC CCVC CCVCC (long vowel)</a:t>
            </a:r>
            <a:endParaRPr sz="28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24</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{6A9DAD09-B5C6-478C-BB27-5BC8976386C7}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CCVC CCVCC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(long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words containing adjacent consonants.</a:t>
            </a:r>
            <a:endParaRPr/>
          </a:p>
        </p:txBody>
      </p:sp>
      <p:sp>
        <p:nvSpPr>
          <p:cNvPr id="729" name="Google Shape;72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0" name="Google Shape;73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1" name="Google Shape;731;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3">
            <a:alphaModFix/>
          </a:blip>
          <a:srcRect l="69" r="69"/>
          <a:stretch/>
        </p:blipFill>
        <p:spPr>
          <a:xfrm>
            <a:off x="1155831" y="4169988"/>
            <a:ext cx="813600" cy="977433"/>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5">
            <a:alphaModFix/>
          </a:blip>
          <a:srcRect t="89" b="99"/>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a:hlinkClick r:id="rId6" action="ppaction://hlinksldjump"/>
          </p:cNvPr>
          <p:cNvSpPr/>
          <p:nvPr/>
        </p:nvSpPr>
        <p:spPr>
          <a:xfrm>
            <a:off x="2236987"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7" action="ppaction://hlinksldjump"/>
          </p:cNvPr>
          <p:cNvSpPr/>
          <p:nvPr/>
        </p:nvSpPr>
        <p:spPr>
          <a:xfrm>
            <a:off x="948531"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3348021" y="379157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9" name="Google Shape;78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8300" y="212945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6b94af6077_0_0"/>
          <p:cNvSpPr txBox="1">
            <a:spLocks noGrp="1"/>
          </p:cNvSpPr>
          <p:nvPr>
            <p:ph type="title"/>
          </p:nvPr>
        </p:nvSpPr>
        <p:spPr>
          <a:xfrm>
            <a:off x="592550" y="582900"/>
            <a:ext cx="79590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a:t>
            </a:r>
            <a:r>
              <a:rPr lang="en-US">
                <a:solidFill>
                  <a:schemeClr val="dk1"/>
                </a:solidFill>
              </a:rPr>
              <a:t>.</a:t>
            </a:r>
            <a:endParaRPr/>
          </a:p>
        </p:txBody>
      </p:sp>
      <p:pic>
        <p:nvPicPr>
          <p:cNvPr id="870" name="Google Shape;870;g26b94af6077_0_0"/>
          <p:cNvPicPr preferRelativeResize="0"/>
          <p:nvPr/>
        </p:nvPicPr>
        <p:blipFill rotWithShape="1">
          <a:blip r:embed="rId3">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4">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5">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6b94af6077_0_0"/>
          <p:cNvPicPr preferRelativeResize="0"/>
          <p:nvPr/>
        </p:nvPicPr>
        <p:blipFill rotWithShape="1">
          <a:blip r:embed="rId6">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6b94af6077_0_0"/>
          <p:cNvPicPr preferRelativeResize="0"/>
          <p:nvPr/>
        </p:nvPicPr>
        <p:blipFill rotWithShape="1">
          <a:blip r:embed="rId7">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6b94af6077_0_0"/>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6b94af6077_0_0"/>
          <p:cNvPicPr preferRelativeResize="0"/>
          <p:nvPr/>
        </p:nvPicPr>
        <p:blipFill rotWithShape="1">
          <a:blip r:embed="rId12">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6" name="Google Shape;886;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7" name="Google Shape;887;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4" name="Google Shape;89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5" name="Google Shape;89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2" name="Google Shape;902;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3" name="Google Shape;903;g2c4feb0fda9_1_0"/>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eb0fda9_1_0"/>
          <p:cNvSpPr/>
          <p:nvPr/>
        </p:nvSpPr>
        <p:spPr>
          <a:xfrm>
            <a:off x="6304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5" name="Google Shape;905;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6" name="Google Shape;906;g2c4feb0fda9_1_0"/>
          <p:cNvSpPr txBox="1">
            <a:spLocks noGrp="1"/>
          </p:cNvSpPr>
          <p:nvPr>
            <p:ph type="subTitle" idx="4294967295"/>
          </p:nvPr>
        </p:nvSpPr>
        <p:spPr>
          <a:xfrm>
            <a:off x="5735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07" name="Google Shape;907;g2c4feb0fda9_1_0"/>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08" name="Google Shape;908;g2c4feb0fda9_1_0"/>
          <p:cNvSpPr txBox="1">
            <a:spLocks noGrp="1"/>
          </p:cNvSpPr>
          <p:nvPr>
            <p:ph type="subTitle" idx="4294967295"/>
          </p:nvPr>
        </p:nvSpPr>
        <p:spPr>
          <a:xfrm>
            <a:off x="3502500" y="1308025"/>
            <a:ext cx="281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igh</a:t>
            </a:r>
            <a:endParaRPr sz="15000" b="0" i="0" u="none" strike="noStrike" cap="none">
              <a:solidFill>
                <a:srgbClr val="00904C"/>
              </a:solidFill>
              <a:latin typeface="Jost"/>
              <a:ea typeface="Jost"/>
              <a:cs typeface="Jost"/>
              <a:sym typeface="Jost"/>
            </a:endParaRPr>
          </a:p>
        </p:txBody>
      </p:sp>
      <p:sp>
        <p:nvSpPr>
          <p:cNvPr id="909" name="Google Shape;909;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6" name="Google Shape;926;g2c4feb0fda9_1_0"/>
          <p:cNvSpPr/>
          <p:nvPr/>
        </p:nvSpPr>
        <p:spPr>
          <a:xfrm>
            <a:off x="2449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eb0fda9_1_0"/>
          <p:cNvSpPr txBox="1">
            <a:spLocks noGrp="1"/>
          </p:cNvSpPr>
          <p:nvPr>
            <p:ph type="subTitle" idx="4294967295"/>
          </p:nvPr>
        </p:nvSpPr>
        <p:spPr>
          <a:xfrm>
            <a:off x="1879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28" name="Google Shape;928;g2c4feb0fda9_1_0"/>
          <p:cNvSpPr/>
          <p:nvPr/>
        </p:nvSpPr>
        <p:spPr>
          <a:xfrm>
            <a:off x="3816150" y="4011900"/>
            <a:ext cx="2192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06acc074f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d06acc074f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d06acc074f_0_11"/>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d06acc074f_0_11"/>
          <p:cNvSpPr/>
          <p:nvPr/>
        </p:nvSpPr>
        <p:spPr>
          <a:xfrm>
            <a:off x="6457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8" name="Google Shape;938;g2d06acc074f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9" name="Google Shape;939;g2d06acc074f_0_11"/>
          <p:cNvSpPr txBox="1">
            <a:spLocks noGrp="1"/>
          </p:cNvSpPr>
          <p:nvPr>
            <p:ph type="subTitle" idx="4294967295"/>
          </p:nvPr>
        </p:nvSpPr>
        <p:spPr>
          <a:xfrm>
            <a:off x="5887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40" name="Google Shape;940;g2d06acc074f_0_11"/>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41" name="Google Shape;941;g2d06acc074f_0_11"/>
          <p:cNvSpPr txBox="1">
            <a:spLocks noGrp="1"/>
          </p:cNvSpPr>
          <p:nvPr>
            <p:ph type="subTitle" idx="4294967295"/>
          </p:nvPr>
        </p:nvSpPr>
        <p:spPr>
          <a:xfrm>
            <a:off x="3654900" y="1308025"/>
            <a:ext cx="281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igh</a:t>
            </a:r>
            <a:endParaRPr sz="15000" b="0" i="0" u="none" strike="noStrike" cap="none">
              <a:solidFill>
                <a:srgbClr val="00904C"/>
              </a:solidFill>
              <a:latin typeface="Jost"/>
              <a:ea typeface="Jost"/>
              <a:cs typeface="Jost"/>
              <a:sym typeface="Jost"/>
            </a:endParaRPr>
          </a:p>
        </p:txBody>
      </p:sp>
      <p:sp>
        <p:nvSpPr>
          <p:cNvPr id="942" name="Google Shape;942;g2d06acc074f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6acc074f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6acc074f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6acc074f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d06acc074f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d06acc074f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8" name="Google Shape;948;g2d06acc074f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9" name="Google Shape;949;g2d06acc074f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0" name="Google Shape;950;g2d06acc074f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1" name="Google Shape;951;g2d06acc074f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2" name="Google Shape;952;g2d06acc074f_0_1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3" name="Google Shape;953;g2d06acc074f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4" name="Google Shape;954;g2d06acc074f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5" name="Google Shape;955;g2d06acc074f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d06acc074f_0_1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d06acc074f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d06acc074f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9" name="Google Shape;959;g2d06acc074f_0_11"/>
          <p:cNvSpPr/>
          <p:nvPr/>
        </p:nvSpPr>
        <p:spPr>
          <a:xfrm>
            <a:off x="2296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d06acc074f_0_11"/>
          <p:cNvSpPr txBox="1">
            <a:spLocks noGrp="1"/>
          </p:cNvSpPr>
          <p:nvPr>
            <p:ph type="subTitle" idx="4294967295"/>
          </p:nvPr>
        </p:nvSpPr>
        <p:spPr>
          <a:xfrm>
            <a:off x="1727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61" name="Google Shape;961;g2d06acc074f_0_11"/>
          <p:cNvSpPr/>
          <p:nvPr/>
        </p:nvSpPr>
        <p:spPr>
          <a:xfrm>
            <a:off x="3968550" y="4011900"/>
            <a:ext cx="2192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d06acc074f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8" name="Google Shape;968;g2d06acc074f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9" name="Google Shape;969;g2d06acc074f_0_43"/>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d06acc074f_0_43"/>
          <p:cNvSpPr/>
          <p:nvPr/>
        </p:nvSpPr>
        <p:spPr>
          <a:xfrm>
            <a:off x="6304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1" name="Google Shape;971;g2d06acc074f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2" name="Google Shape;972;g2d06acc074f_0_43"/>
          <p:cNvSpPr txBox="1">
            <a:spLocks noGrp="1"/>
          </p:cNvSpPr>
          <p:nvPr>
            <p:ph type="subTitle" idx="4294967295"/>
          </p:nvPr>
        </p:nvSpPr>
        <p:spPr>
          <a:xfrm>
            <a:off x="5735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73" name="Google Shape;973;g2d06acc074f_0_43"/>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4" name="Google Shape;974;g2d06acc074f_0_43"/>
          <p:cNvSpPr txBox="1">
            <a:spLocks noGrp="1"/>
          </p:cNvSpPr>
          <p:nvPr>
            <p:ph type="subTitle" idx="4294967295"/>
          </p:nvPr>
        </p:nvSpPr>
        <p:spPr>
          <a:xfrm>
            <a:off x="3502500" y="1308025"/>
            <a:ext cx="281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75" name="Google Shape;975;g2d06acc074f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06acc074f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06acc074f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06acc074f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06acc074f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d06acc074f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1" name="Google Shape;981;g2d06acc074f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2" name="Google Shape;982;g2d06acc074f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3" name="Google Shape;983;g2d06acc074f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4" name="Google Shape;984;g2d06acc074f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5" name="Google Shape;985;g2d06acc074f_0_4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6" name="Google Shape;986;g2d06acc074f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7" name="Google Shape;987;g2d06acc074f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8" name="Google Shape;988;g2d06acc074f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d06acc074f_0_4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06acc074f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6acc074f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2" name="Google Shape;992;g2d06acc074f_0_43"/>
          <p:cNvSpPr/>
          <p:nvPr/>
        </p:nvSpPr>
        <p:spPr>
          <a:xfrm>
            <a:off x="2449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d06acc074f_0_43"/>
          <p:cNvSpPr txBox="1">
            <a:spLocks noGrp="1"/>
          </p:cNvSpPr>
          <p:nvPr>
            <p:ph type="subTitle" idx="4294967295"/>
          </p:nvPr>
        </p:nvSpPr>
        <p:spPr>
          <a:xfrm>
            <a:off x="1879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94" name="Google Shape;994;g2d06acc074f_0_43"/>
          <p:cNvSpPr/>
          <p:nvPr/>
        </p:nvSpPr>
        <p:spPr>
          <a:xfrm>
            <a:off x="4057350" y="4011900"/>
            <a:ext cx="170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1" name="Google Shape;100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2" name="Google Shape;100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9" name="Google Shape;100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0" name="Google Shape;1010;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1" name="Google Shape;101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8" name="Google Shape;101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9" name="Google Shape;1019;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0" name="Google Shape;102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7" name="Google Shape;102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8" name="Google Shape;1028;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9" name="Google Shape;102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6" name="Google Shape;103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7" name="Google Shape;1037;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8" name="Google Shape;103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5" name="Google Shape;104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6" name="Google Shape;1046;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7" name="Google Shape;104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4" name="Google Shape;105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5" name="Google Shape;1055;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6" name="Google Shape;105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d06acc074f_0_75"/>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3" name="Google Shape;1063;g2d06acc074f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4" name="Google Shape;1064;g2d06acc074f_0_75"/>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5" name="Google Shape;1065;g2d06acc074f_0_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d06acc074f_0_83"/>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2" name="Google Shape;1072;g2d06acc074f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3" name="Google Shape;1073;g2d06acc074f_0_8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4" name="Google Shape;1074;g2d06acc074f_0_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1" name="Google Shape;108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2" name="Google Shape;1082;g1f3daf8a844_0_64"/>
          <p:cNvGrpSpPr/>
          <p:nvPr/>
        </p:nvGrpSpPr>
        <p:grpSpPr>
          <a:xfrm>
            <a:off x="3024000" y="209875"/>
            <a:ext cx="3096000" cy="454800"/>
            <a:chOff x="3024000" y="209875"/>
            <a:chExt cx="3096000" cy="454800"/>
          </a:xfrm>
        </p:grpSpPr>
        <p:sp>
          <p:nvSpPr>
            <p:cNvPr id="1083" name="Google Shape;108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4" name="Google Shape;108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5" name="Google Shape;108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6" name="Google Shape;108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8" name="Google Shape;108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9" name="Google Shape;108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0" name="Google Shape;109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oi</a:t>
            </a:r>
            <a:endParaRPr sz="5500" b="0" i="0" u="none" strike="noStrike" cap="none">
              <a:solidFill>
                <a:srgbClr val="00904C"/>
              </a:solidFill>
              <a:latin typeface="Jost"/>
              <a:ea typeface="Jost"/>
              <a:cs typeface="Jost"/>
              <a:sym typeface="Jost"/>
            </a:endParaRPr>
          </a:p>
        </p:txBody>
      </p:sp>
      <p:sp>
        <p:nvSpPr>
          <p:cNvPr id="1094" name="Google Shape;109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096" name="Google Shape;1096;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97" name="Google Shape;1097;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98" name="Google Shape;1098;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cxnSp>
        <p:nvCxnSpPr>
          <p:cNvPr id="1101" name="Google Shape;110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d06acc074f_0_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8" name="Google Shape;1108;g2d06acc074f_0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9" name="Google Shape;1109;g2d06acc074f_0_92"/>
          <p:cNvGrpSpPr/>
          <p:nvPr/>
        </p:nvGrpSpPr>
        <p:grpSpPr>
          <a:xfrm>
            <a:off x="3024000" y="209875"/>
            <a:ext cx="3096000" cy="454800"/>
            <a:chOff x="3024000" y="209875"/>
            <a:chExt cx="3096000" cy="454800"/>
          </a:xfrm>
        </p:grpSpPr>
        <p:sp>
          <p:nvSpPr>
            <p:cNvPr id="1110" name="Google Shape;1110;g2d06acc074f_0_9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2d06acc074f_0_9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2" name="Google Shape;1112;g2d06acc074f_0_9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3" name="Google Shape;1113;g2d06acc074f_0_9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spoil spoon sport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rt</a:t>
            </a:r>
            <a:endParaRPr sz="1800" b="0" i="0" u="none" strike="noStrike" cap="none">
              <a:solidFill>
                <a:srgbClr val="B7B7B7"/>
              </a:solidFill>
              <a:latin typeface="Jost"/>
              <a:ea typeface="Jost"/>
              <a:cs typeface="Jost"/>
              <a:sym typeface="Jost"/>
            </a:endParaRPr>
          </a:p>
        </p:txBody>
      </p:sp>
      <p:cxnSp>
        <p:nvCxnSpPr>
          <p:cNvPr id="1114" name="Google Shape;1114;g2d06acc074f_0_9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5" name="Google Shape;1115;g2d06acc074f_0_9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d06acc074f_0_9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7" name="Google Shape;1117;g2d06acc074f_0_9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8" name="Google Shape;1118;g2d06acc074f_0_9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9" name="Google Shape;1119;g2d06acc074f_0_9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0" name="Google Shape;1120;g2d06acc074f_0_9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1" name="Google Shape;1121;g2d06acc074f_0_9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2" name="Google Shape;1122;g2d06acc074f_0_9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oi</a:t>
            </a:r>
            <a:endParaRPr sz="5500" b="0" i="0" u="none" strike="noStrike" cap="none">
              <a:solidFill>
                <a:srgbClr val="00904C"/>
              </a:solidFill>
              <a:latin typeface="Jost"/>
              <a:ea typeface="Jost"/>
              <a:cs typeface="Jost"/>
              <a:sym typeface="Jost"/>
            </a:endParaRPr>
          </a:p>
        </p:txBody>
      </p:sp>
      <p:sp>
        <p:nvSpPr>
          <p:cNvPr id="1123" name="Google Shape;1123;g2d06acc074f_0_9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24" name="Google Shape;1124;g2d06acc074f_0_9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5" name="Google Shape;1125;g2d06acc074f_0_9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26" name="Google Shape;1126;g2d06acc074f_0_92"/>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27" name="Google Shape;1127;g2d06acc074f_0_92"/>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8" name="Google Shape;1128;g2d06acc074f_0_9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9" name="Google Shape;1129;g2d06acc074f_0_92"/>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130" name="Google Shape;1130;g2d06acc074f_0_92"/>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488</Words>
  <Application>Microsoft Office PowerPoint</Application>
  <PresentationFormat>On-screen Show (4:3)</PresentationFormat>
  <Paragraphs>153</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Poppins</vt:lpstr>
      <vt:lpstr>Poppins Medium</vt:lpstr>
      <vt:lpstr>Arial</vt:lpstr>
      <vt:lpstr>Nunito Black</vt:lpstr>
      <vt:lpstr>Poppins SemiBold</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2026-05-20T01:49:54Z</dcterms:modified>
</cp:coreProperties>
</file>