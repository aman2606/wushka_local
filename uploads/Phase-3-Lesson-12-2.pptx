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embeddedFontLst>
    <p:embeddedFont>
      <p:font typeface="Jost" panose="020B0604020202020204" charset="0"/>
      <p:regular r:id="rId13"/>
      <p:bold r:id="rId14"/>
      <p:italic r:id="rId15"/>
      <p:boldItalic r:id="rId16"/>
    </p:embeddedFont>
    <p:embeddedFont>
      <p:font typeface="Lexend Light" panose="020B0604020202020204" charset="0"/>
      <p:regular r:id="rId17"/>
      <p:bold r:id="rId18"/>
    </p:embeddedFont>
    <p:embeddedFont>
      <p:font typeface="Mulish" panose="020B0604020202020204" charset="0"/>
      <p:regular r:id="rId19"/>
      <p:bold r:id="rId20"/>
      <p:italic r:id="rId21"/>
      <p:boldItalic r:id="rId22"/>
    </p:embeddedFont>
    <p:embeddedFont>
      <p:font typeface="Nunito Black" pitchFamily="2" charset="0"/>
      <p:bold r:id="rId23"/>
      <p:boldItalic r:id="rId24"/>
    </p:embeddedFont>
    <p:embeddedFont>
      <p:font typeface="Poppins" panose="00000500000000000000" pitchFamily="2" charset="0"/>
      <p:regular r:id="rId25"/>
      <p:bold r:id="rId26"/>
      <p:italic r:id="rId27"/>
      <p:boldItalic r:id="rId28"/>
    </p:embeddedFont>
    <p:embeddedFont>
      <p:font typeface="Poppins Medium" panose="00000600000000000000" pitchFamily="2" charset="0"/>
      <p:regular r:id="rId29"/>
      <p:bold r:id="rId30"/>
      <p:italic r:id="rId31"/>
      <p:boldItalic r:id="rId32"/>
    </p:embeddedFont>
    <p:embeddedFont>
      <p:font typeface="Poppins SemiBold" panose="000007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ijYreEUeIVcAzD79ZucO2qx0pP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E29CC5-7C75-40BC-BC73-8CE983691B2E}">
  <a:tblStyle styleId="{F0E29CC5-7C75-40BC-BC73-8CE983691B2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font" Target="fonts/font22.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font" Target="fonts/font24.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font" Target="fonts/font23.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4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6" name="Google Shape;73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7" name="Google Shape;73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c6753ba851_0_1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c6753ba851_0_1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2c6753ba851_0_1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2c67a7e463f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g2c67a7e463f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8" name="Google Shape;768;g2c67a7e463f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c67a7e463f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c67a7e463f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c67a7e463f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Upper &amp; Lower Case</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3 -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12</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3 - Phonics</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teaching.com.au/"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3.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fontScale="85000" lnSpcReduction="20000"/>
          </a:bodyPr>
          <a:lstStyle/>
          <a:p>
            <a:pPr marL="0" lvl="0" indent="0" algn="l" rtl="0">
              <a:lnSpc>
                <a:spcPct val="115000"/>
              </a:lnSpc>
              <a:spcBef>
                <a:spcPts val="0"/>
              </a:spcBef>
              <a:spcAft>
                <a:spcPts val="0"/>
              </a:spcAft>
              <a:buClr>
                <a:srgbClr val="262626"/>
              </a:buClr>
              <a:buSzPct val="108477"/>
              <a:buNone/>
            </a:pPr>
            <a:r>
              <a:rPr lang="en-US" sz="3316"/>
              <a:t>Alphabet - Upper &amp; Lower Case</a:t>
            </a:r>
            <a:endParaRPr sz="3316"/>
          </a:p>
        </p:txBody>
      </p:sp>
      <p:sp>
        <p:nvSpPr>
          <p:cNvPr id="683" name="Google Shape;683;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12</a:t>
            </a:r>
            <a:endParaRPr/>
          </a:p>
        </p:txBody>
      </p:sp>
      <p:graphicFrame>
        <p:nvGraphicFramePr>
          <p:cNvPr id="684" name="Google Shape;684;p1"/>
          <p:cNvGraphicFramePr/>
          <p:nvPr/>
        </p:nvGraphicFramePr>
        <p:xfrm>
          <a:off x="4844200" y="1891197"/>
          <a:ext cx="3784950" cy="1678950"/>
        </p:xfrm>
        <a:graphic>
          <a:graphicData uri="http://schemas.openxmlformats.org/drawingml/2006/table">
            <a:tbl>
              <a:tblPr firstRow="1" bandRow="1">
                <a:noFill/>
                <a:tableStyleId>{F0E29CC5-7C75-40BC-BC73-8CE983691B2E}</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5" name="Google Shape;68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686" name="Google Shape;686;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pic>
        <p:nvPicPr>
          <p:cNvPr id="687" name="Google Shape;687;p1"/>
          <p:cNvPicPr preferRelativeResize="0"/>
          <p:nvPr/>
        </p:nvPicPr>
        <p:blipFill rotWithShape="1">
          <a:blip r:embed="rId3">
            <a:alphaModFix/>
          </a:blip>
          <a:srcRect l="59" r="49"/>
          <a:stretch/>
        </p:blipFill>
        <p:spPr>
          <a:xfrm>
            <a:off x="3508750" y="3883400"/>
            <a:ext cx="5159900" cy="1732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the alphabet (uppercase and lowercase).</a:t>
            </a:r>
            <a:endParaRPr/>
          </a:p>
        </p:txBody>
      </p:sp>
      <p:sp>
        <p:nvSpPr>
          <p:cNvPr id="694" name="Google Shape;694;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1000"/>
              </a:spcBef>
              <a:spcAft>
                <a:spcPts val="0"/>
              </a:spcAft>
              <a:buSzPts val="1600"/>
              <a:buChar char="•"/>
            </a:pPr>
            <a:r>
              <a:rPr lang="en-US"/>
              <a:t>Recall all GPCs learned so far.</a:t>
            </a:r>
            <a:endParaRPr/>
          </a:p>
          <a:p>
            <a:pPr marL="457200" lvl="0" indent="-330200" algn="l" rtl="0">
              <a:lnSpc>
                <a:spcPct val="115000"/>
              </a:lnSpc>
              <a:spcBef>
                <a:spcPts val="0"/>
              </a:spcBef>
              <a:spcAft>
                <a:spcPts val="0"/>
              </a:spcAft>
              <a:buSzPts val="1600"/>
              <a:buChar char="•"/>
            </a:pPr>
            <a:r>
              <a:rPr lang="en-US"/>
              <a:t>Review Alphabet song.</a:t>
            </a:r>
            <a:endParaRPr/>
          </a:p>
        </p:txBody>
      </p:sp>
      <p:sp>
        <p:nvSpPr>
          <p:cNvPr id="695" name="Google Shape;695;g2bee4f4af4b_0_204"/>
          <p:cNvSpPr txBox="1">
            <a:spLocks noGrp="1"/>
          </p:cNvSpPr>
          <p:nvPr>
            <p:ph type="body" idx="3"/>
          </p:nvPr>
        </p:nvSpPr>
        <p:spPr>
          <a:xfrm>
            <a:off x="856325" y="3761525"/>
            <a:ext cx="7292400" cy="785700"/>
          </a:xfrm>
          <a:prstGeom prst="rect">
            <a:avLst/>
          </a:prstGeom>
          <a:noFill/>
          <a:ln>
            <a:noFill/>
          </a:ln>
        </p:spPr>
        <p:txBody>
          <a:bodyPr spcFirstLastPara="1" wrap="square" lIns="0" tIns="45700" rIns="91425" bIns="45700" anchor="t" anchorCtr="0">
            <a:noAutofit/>
          </a:bodyPr>
          <a:lstStyle/>
          <a:p>
            <a:pPr marL="0" lvl="0" indent="0" algn="l" rtl="0">
              <a:lnSpc>
                <a:spcPct val="115000"/>
              </a:lnSpc>
              <a:spcBef>
                <a:spcPts val="1000"/>
              </a:spcBef>
              <a:spcAft>
                <a:spcPts val="0"/>
              </a:spcAft>
              <a:buSzPts val="1600"/>
              <a:buNone/>
            </a:pPr>
            <a:r>
              <a:rPr lang="en-US" sz="1200" dirty="0"/>
              <a:t>A large display that has the letters of the alphabet on it. This could be an Alphabet Arc, poster, magnetic letters on a whiteboard etc. Visit </a:t>
            </a:r>
            <a:r>
              <a:rPr lang="en-US" sz="1200" u="sng" dirty="0">
                <a:solidFill>
                  <a:schemeClr val="hlink"/>
                </a:solidFill>
                <a:hlinkClick r:id="rId3"/>
              </a:rPr>
              <a:t>www.teaching.com.au</a:t>
            </a:r>
            <a:r>
              <a:rPr lang="en-US" sz="1200" u="sng" dirty="0">
                <a:solidFill>
                  <a:schemeClr val="hlink"/>
                </a:solidFill>
              </a:rPr>
              <a:t> </a:t>
            </a:r>
            <a:r>
              <a:rPr lang="en-US" sz="1200" dirty="0"/>
              <a:t>to shop teaching resources.</a:t>
            </a:r>
            <a:endParaRPr sz="1200" dirty="0"/>
          </a:p>
        </p:txBody>
      </p:sp>
      <p:sp>
        <p:nvSpPr>
          <p:cNvPr id="696" name="Google Shape;696;g2bee4f4af4b_0_204"/>
          <p:cNvSpPr txBox="1">
            <a:spLocks noGrp="1"/>
          </p:cNvSpPr>
          <p:nvPr>
            <p:ph type="body" idx="3"/>
          </p:nvPr>
        </p:nvSpPr>
        <p:spPr>
          <a:xfrm>
            <a:off x="1313525" y="5644996"/>
            <a:ext cx="1359300" cy="4335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SzPts val="1600"/>
              <a:buNone/>
            </a:pPr>
            <a:endParaRPr sz="900" dirty="0"/>
          </a:p>
        </p:txBody>
      </p:sp>
      <p:sp>
        <p:nvSpPr>
          <p:cNvPr id="697" name="Google Shape;697;g2bee4f4af4b_0_204"/>
          <p:cNvSpPr txBox="1">
            <a:spLocks noGrp="1"/>
          </p:cNvSpPr>
          <p:nvPr>
            <p:ph type="body" idx="3"/>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SzPts val="1600"/>
              <a:buNone/>
            </a:pPr>
            <a:br>
              <a:rPr lang="en-US" sz="900" dirty="0"/>
            </a:br>
            <a:endParaRPr sz="900" dirty="0"/>
          </a:p>
        </p:txBody>
      </p:sp>
      <p:sp>
        <p:nvSpPr>
          <p:cNvPr id="698" name="Google Shape;698;g2bee4f4af4b_0_204"/>
          <p:cNvSpPr txBox="1">
            <a:spLocks noGrp="1"/>
          </p:cNvSpPr>
          <p:nvPr>
            <p:ph type="body" idx="3"/>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SzPts val="1600"/>
              <a:buNone/>
            </a:pPr>
            <a:br>
              <a:rPr lang="en-US" sz="900" dirty="0"/>
            </a:br>
            <a:endParaRPr sz="900" dirty="0"/>
          </a:p>
        </p:txBody>
      </p:sp>
      <p:sp>
        <p:nvSpPr>
          <p:cNvPr id="699" name="Google Shape;699;g2bee4f4af4b_0_204"/>
          <p:cNvSpPr txBox="1">
            <a:spLocks noGrp="1"/>
          </p:cNvSpPr>
          <p:nvPr>
            <p:ph type="body" idx="3"/>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SzPts val="1600"/>
              <a:buNone/>
            </a:pPr>
            <a:br>
              <a:rPr lang="en-US" sz="900" dirty="0"/>
            </a:br>
            <a:endParaRPr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0" name="Google Shape;710;g26b641b03cd_0_165"/>
          <p:cNvGrpSpPr/>
          <p:nvPr/>
        </p:nvGrpSpPr>
        <p:grpSpPr>
          <a:xfrm>
            <a:off x="930400" y="2129444"/>
            <a:ext cx="7283200" cy="3724851"/>
            <a:chOff x="930400" y="2129444"/>
            <a:chExt cx="7283200" cy="3724851"/>
          </a:xfrm>
        </p:grpSpPr>
        <p:pic>
          <p:nvPicPr>
            <p:cNvPr id="711" name="Google Shape;71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0" name="Google Shape;740;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4"/>
              </a:srgbClr>
            </a:outerShdw>
          </a:effectLst>
        </p:spPr>
      </p:pic>
      <p:pic>
        <p:nvPicPr>
          <p:cNvPr id="741" name="Google Shape;741;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4"/>
              </a:srgbClr>
            </a:outerShdw>
          </a:effectLst>
        </p:spPr>
      </p:pic>
      <p:pic>
        <p:nvPicPr>
          <p:cNvPr id="742" name="Google Shape;742;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4"/>
              </a:srgbClr>
            </a:outerShdw>
          </a:effectLst>
        </p:spPr>
      </p:pic>
      <p:pic>
        <p:nvPicPr>
          <p:cNvPr id="743" name="Google Shape;743;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4"/>
              </a:srgbClr>
            </a:outerShdw>
          </a:effectLst>
        </p:spPr>
      </p:pic>
      <p:pic>
        <p:nvPicPr>
          <p:cNvPr id="744" name="Google Shape;744;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4"/>
              </a:srgbClr>
            </a:outerShdw>
          </a:effectLst>
        </p:spPr>
      </p:pic>
      <p:pic>
        <p:nvPicPr>
          <p:cNvPr id="745" name="Google Shape;745;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4"/>
              </a:srgbClr>
            </a:outerShdw>
          </a:effectLst>
        </p:spPr>
      </p:pic>
      <p:pic>
        <p:nvPicPr>
          <p:cNvPr id="746" name="Google Shape;746;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c6753ba851_0_18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53" name="Google Shape;753;g2c6753ba851_0_18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54" name="Google Shape;754;g2c6753ba851_0_18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1" name="Google Shape;76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762" name="Google Shape;76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FRONT</a:t>
            </a:r>
            <a:endParaRPr/>
          </a:p>
        </p:txBody>
      </p:sp>
      <p:pic>
        <p:nvPicPr>
          <p:cNvPr id="763" name="Google Shape;763;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64" name="Google Shape;764;g2c186218c5a_0_17"/>
          <p:cNvSpPr txBox="1">
            <a:spLocks noGrp="1"/>
          </p:cNvSpPr>
          <p:nvPr>
            <p:ph type="title"/>
          </p:nvPr>
        </p:nvSpPr>
        <p:spPr>
          <a:xfrm>
            <a:off x="1360463" y="95225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2200" i="1">
                <a:solidFill>
                  <a:srgbClr val="000000"/>
                </a:solidFill>
                <a:latin typeface="Poppins"/>
                <a:ea typeface="Poppins"/>
                <a:cs typeface="Poppins"/>
                <a:sym typeface="Poppins"/>
              </a:rPr>
              <a:t>This letter is called ‘</a:t>
            </a:r>
            <a:r>
              <a:rPr lang="en-US" sz="2200" i="1">
                <a:solidFill>
                  <a:srgbClr val="ED1C24"/>
                </a:solidFill>
                <a:latin typeface="Poppins"/>
                <a:ea typeface="Poppins"/>
                <a:cs typeface="Poppins"/>
                <a:sym typeface="Poppins"/>
              </a:rPr>
              <a:t>a</a:t>
            </a:r>
            <a:r>
              <a:rPr lang="en-US" sz="2200" i="1">
                <a:solidFill>
                  <a:srgbClr val="000000"/>
                </a:solidFill>
                <a:latin typeface="Poppins"/>
                <a:ea typeface="Poppins"/>
                <a:cs typeface="Poppins"/>
                <a:sym typeface="Poppins"/>
              </a:rPr>
              <a:t>’ and makes an /ă/ sound; "a, a, a apple”</a:t>
            </a:r>
            <a:endParaRPr sz="2200" i="1">
              <a:solidFill>
                <a:srgbClr val="00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g2c67a7e463f_0_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1" name="Google Shape;771;g2c67a7e463f_0_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772" name="Google Shape;772;g2c67a7e463f_0_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FRONT</a:t>
            </a:r>
            <a:endParaRPr/>
          </a:p>
        </p:txBody>
      </p:sp>
      <p:pic>
        <p:nvPicPr>
          <p:cNvPr id="773" name="Google Shape;773;g2c67a7e463f_0_4"/>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74" name="Google Shape;774;g2c67a7e463f_0_4"/>
          <p:cNvSpPr txBox="1">
            <a:spLocks noGrp="1"/>
          </p:cNvSpPr>
          <p:nvPr>
            <p:ph type="title"/>
          </p:nvPr>
        </p:nvSpPr>
        <p:spPr>
          <a:xfrm>
            <a:off x="1360463" y="95225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2200" i="1">
                <a:solidFill>
                  <a:srgbClr val="000000"/>
                </a:solidFill>
                <a:latin typeface="Poppins"/>
                <a:ea typeface="Poppins"/>
                <a:cs typeface="Poppins"/>
                <a:sym typeface="Poppins"/>
              </a:rPr>
              <a:t>This letter is called ‘</a:t>
            </a:r>
            <a:r>
              <a:rPr lang="en-US" sz="2200" i="1">
                <a:solidFill>
                  <a:srgbClr val="2356AF"/>
                </a:solidFill>
                <a:latin typeface="Poppins"/>
                <a:ea typeface="Poppins"/>
                <a:cs typeface="Poppins"/>
                <a:sym typeface="Poppins"/>
              </a:rPr>
              <a:t>b</a:t>
            </a:r>
            <a:r>
              <a:rPr lang="en-US" sz="2200" i="1">
                <a:solidFill>
                  <a:srgbClr val="000000"/>
                </a:solidFill>
                <a:latin typeface="Poppins"/>
                <a:ea typeface="Poppins"/>
                <a:cs typeface="Poppins"/>
                <a:sym typeface="Poppins"/>
              </a:rPr>
              <a:t>’ and makes an /b/ sound; "b, b, b ball”</a:t>
            </a:r>
            <a:endParaRPr sz="2200" i="1">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c67a7e463f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1" name="Google Shape;781;g2c67a7e463f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782" name="Google Shape;782;g2c67a7e463f_0_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FRONT</a:t>
            </a:r>
            <a:endParaRPr/>
          </a:p>
        </p:txBody>
      </p:sp>
      <p:pic>
        <p:nvPicPr>
          <p:cNvPr id="783" name="Google Shape;783;g2c67a7e463f_0_13"/>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4" name="Google Shape;784;g2c67a7e463f_0_13"/>
          <p:cNvSpPr txBox="1">
            <a:spLocks noGrp="1"/>
          </p:cNvSpPr>
          <p:nvPr>
            <p:ph type="title"/>
          </p:nvPr>
        </p:nvSpPr>
        <p:spPr>
          <a:xfrm>
            <a:off x="1360463" y="95225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2200" i="1">
                <a:solidFill>
                  <a:srgbClr val="000000"/>
                </a:solidFill>
                <a:latin typeface="Poppins"/>
                <a:ea typeface="Poppins"/>
                <a:cs typeface="Poppins"/>
                <a:sym typeface="Poppins"/>
              </a:rPr>
              <a:t>This letter is called ‘</a:t>
            </a:r>
            <a:r>
              <a:rPr lang="en-US" sz="2200" i="1">
                <a:solidFill>
                  <a:srgbClr val="2356AF"/>
                </a:solidFill>
                <a:latin typeface="Poppins"/>
                <a:ea typeface="Poppins"/>
                <a:cs typeface="Poppins"/>
                <a:sym typeface="Poppins"/>
              </a:rPr>
              <a:t>c</a:t>
            </a:r>
            <a:r>
              <a:rPr lang="en-US" sz="2200" i="1">
                <a:solidFill>
                  <a:srgbClr val="000000"/>
                </a:solidFill>
                <a:latin typeface="Poppins"/>
                <a:ea typeface="Poppins"/>
                <a:cs typeface="Poppins"/>
                <a:sym typeface="Poppins"/>
              </a:rPr>
              <a:t>’ and makes an /k/ sound; "c, c, c cat”</a:t>
            </a:r>
            <a:endParaRPr sz="2200" i="1">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791" name="Google Shape;79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792" name="Google Shape;792;g1f3daf8a844_0_64"/>
          <p:cNvGrpSpPr/>
          <p:nvPr/>
        </p:nvGrpSpPr>
        <p:grpSpPr>
          <a:xfrm>
            <a:off x="3024000" y="209875"/>
            <a:ext cx="3096000" cy="454800"/>
            <a:chOff x="3024000" y="209875"/>
            <a:chExt cx="3096000" cy="454800"/>
          </a:xfrm>
        </p:grpSpPr>
        <p:sp>
          <p:nvSpPr>
            <p:cNvPr id="793" name="Google Shape;79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4" name="Google Shape;79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795" name="Google Shape;79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796" name="Google Shape;796;g1f3daf8a844_0_64"/>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797" name="Google Shape;797;g1f3daf8a844_0_6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798" name="Google Shape;798;g1f3daf8a844_0_64"/>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uppercase letters and lowercase letters, mix them up and invite the children to match them up.</a:t>
            </a:r>
            <a:endParaRPr/>
          </a:p>
        </p:txBody>
      </p:sp>
      <p:pic>
        <p:nvPicPr>
          <p:cNvPr id="805" name="Google Shape;805;g2c186218c5a_0_118"/>
          <p:cNvPicPr preferRelativeResize="0"/>
          <p:nvPr/>
        </p:nvPicPr>
        <p:blipFill rotWithShape="1">
          <a:blip r:embed="rId3">
            <a:alphaModFix/>
          </a:blip>
          <a:srcRect/>
          <a:stretch/>
        </p:blipFill>
        <p:spPr>
          <a:xfrm>
            <a:off x="756400" y="2092050"/>
            <a:ext cx="3440800" cy="1926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378</Words>
  <Application>Microsoft Office PowerPoint</Application>
  <PresentationFormat>On-screen Show (4:3)</PresentationFormat>
  <Paragraphs>70</Paragraphs>
  <Slides>10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Calibri</vt:lpstr>
      <vt:lpstr>Lexend Light</vt:lpstr>
      <vt:lpstr>Nunito Black</vt:lpstr>
      <vt:lpstr>Jost</vt:lpstr>
      <vt:lpstr>Mulish</vt:lpstr>
      <vt:lpstr>Arial</vt:lpstr>
      <vt:lpstr>Poppins Medium</vt:lpstr>
      <vt:lpstr>Poppins SemiBold</vt:lpstr>
      <vt:lpstr>Poppins</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Hear Phonemes</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2026-04-28T04:36:57Z</dcterms:modified>
</cp:coreProperties>
</file>